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5" r:id="rId10"/>
    <p:sldId id="266" r:id="rId11"/>
    <p:sldId id="267" r:id="rId12"/>
    <p:sldId id="264"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79" d="100"/>
          <a:sy n="79" d="100"/>
        </p:scale>
        <p:origin x="-348" y="-30"/>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6096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609600"/>
          </a:xfrm>
          <a:prstGeom prst="rect">
            <a:avLst/>
          </a:prstGeom>
        </p:spPr>
        <p:txBody>
          <a:bodyPr vert="horz" lIns="91440" tIns="45720" rIns="91440" bIns="45720" rtlCol="0"/>
          <a:lstStyle>
            <a:lvl1pPr algn="r">
              <a:defRPr sz="1200"/>
            </a:lvl1pPr>
          </a:lstStyle>
          <a:p>
            <a:fld id="{EA878614-761D-4FF1-9369-AB64735DEF7F}" type="datetimeFigureOut">
              <a:rPr lang="en-US" smtClean="0"/>
              <a:t>4/19/2026</a:t>
            </a:fld>
            <a:endParaRPr lang="en-US"/>
          </a:p>
        </p:txBody>
      </p:sp>
      <p:sp>
        <p:nvSpPr>
          <p:cNvPr id="4" name="Slide Image Placeholder 3"/>
          <p:cNvSpPr>
            <a:spLocks noGrp="1" noRot="1" noChangeAspect="1"/>
          </p:cNvSpPr>
          <p:nvPr>
            <p:ph type="sldImg" idx="2"/>
          </p:nvPr>
        </p:nvSpPr>
        <p:spPr>
          <a:xfrm>
            <a:off x="-635000" y="914400"/>
            <a:ext cx="8128000" cy="4572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5791200"/>
            <a:ext cx="5486400" cy="54864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11580813"/>
            <a:ext cx="2971800" cy="6096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11580813"/>
            <a:ext cx="2971800" cy="609600"/>
          </a:xfrm>
          <a:prstGeom prst="rect">
            <a:avLst/>
          </a:prstGeom>
        </p:spPr>
        <p:txBody>
          <a:bodyPr vert="horz" lIns="91440" tIns="45720" rIns="91440" bIns="45720" rtlCol="0" anchor="b"/>
          <a:lstStyle>
            <a:lvl1pPr algn="r">
              <a:defRPr sz="1200"/>
            </a:lvl1pPr>
          </a:lstStyle>
          <a:p>
            <a:fld id="{A5846017-6728-480A-BB3D-E139740B705B}" type="slidenum">
              <a:rPr lang="en-US" smtClean="0"/>
              <a:t>‹#›</a:t>
            </a:fld>
            <a:endParaRPr lang="en-US"/>
          </a:p>
        </p:txBody>
      </p:sp>
    </p:spTree>
    <p:extLst>
      <p:ext uri="{BB962C8B-B14F-4D97-AF65-F5344CB8AC3E}">
        <p14:creationId xmlns:p14="http://schemas.microsoft.com/office/powerpoint/2010/main" val="28988408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0E27"/>
        </a:solidFill>
        <a:effectLst/>
      </p:bgPr>
    </p:bg>
    <p:spTree>
      <p:nvGrpSpPr>
        <p:cNvPr id="1" name=""/>
        <p:cNvGrpSpPr/>
        <p:nvPr/>
      </p:nvGrpSpPr>
      <p:grpSpPr>
        <a:xfrm>
          <a:off x="0" y="0"/>
          <a:ext cx="0" cy="0"/>
          <a:chOff x="0" y="0"/>
          <a:chExt cx="0" cy="0"/>
        </a:xfrm>
      </p:grpSpPr>
      <p:sp>
        <p:nvSpPr>
          <p:cNvPr id="2" name="Shape 0"/>
          <p:cNvSpPr/>
          <p:nvPr/>
        </p:nvSpPr>
        <p:spPr>
          <a:xfrm>
            <a:off x="-1828800" y="-1828800"/>
            <a:ext cx="5486400" cy="5486400"/>
          </a:xfrm>
          <a:prstGeom prst="ellipse">
            <a:avLst/>
          </a:prstGeom>
          <a:solidFill>
            <a:srgbClr val="E91E63">
              <a:alpha val="20000"/>
            </a:srgbClr>
          </a:solidFill>
          <a:ln w="12700">
            <a:solidFill>
              <a:srgbClr val="E91E63">
                <a:alpha val="0"/>
              </a:srgbClr>
            </a:solidFill>
            <a:prstDash val="solid"/>
          </a:ln>
        </p:spPr>
      </p:sp>
      <p:sp>
        <p:nvSpPr>
          <p:cNvPr id="3" name="Shape 1"/>
          <p:cNvSpPr/>
          <p:nvPr/>
        </p:nvSpPr>
        <p:spPr>
          <a:xfrm>
            <a:off x="8229600" y="3657600"/>
            <a:ext cx="6400800" cy="6400800"/>
          </a:xfrm>
          <a:prstGeom prst="ellipse">
            <a:avLst/>
          </a:prstGeom>
          <a:solidFill>
            <a:srgbClr val="00D9FF">
              <a:alpha val="12000"/>
            </a:srgbClr>
          </a:solidFill>
          <a:ln w="12700">
            <a:solidFill>
              <a:srgbClr val="00D9FF">
                <a:alpha val="0"/>
              </a:srgbClr>
            </a:solidFill>
            <a:prstDash val="solid"/>
          </a:ln>
        </p:spPr>
      </p:sp>
      <p:sp>
        <p:nvSpPr>
          <p:cNvPr id="4" name="Shape 2"/>
          <p:cNvSpPr/>
          <p:nvPr/>
        </p:nvSpPr>
        <p:spPr>
          <a:xfrm>
            <a:off x="0" y="0"/>
            <a:ext cx="228600" cy="6858000"/>
          </a:xfrm>
          <a:prstGeom prst="rect">
            <a:avLst/>
          </a:prstGeom>
          <a:solidFill>
            <a:srgbClr val="E91E63"/>
          </a:solidFill>
          <a:ln w="12700">
            <a:solidFill>
              <a:srgbClr val="E91E63"/>
            </a:solidFill>
            <a:prstDash val="solid"/>
          </a:ln>
        </p:spPr>
      </p:sp>
      <p:sp>
        <p:nvSpPr>
          <p:cNvPr id="5" name="Text 3"/>
          <p:cNvSpPr/>
          <p:nvPr/>
        </p:nvSpPr>
        <p:spPr>
          <a:xfrm>
            <a:off x="731520" y="914400"/>
            <a:ext cx="7315200" cy="365760"/>
          </a:xfrm>
          <a:prstGeom prst="rect">
            <a:avLst/>
          </a:prstGeom>
          <a:noFill/>
          <a:ln/>
        </p:spPr>
        <p:txBody>
          <a:bodyPr wrap="square" rtlCol="0" anchor="ctr"/>
          <a:lstStyle/>
          <a:p>
            <a:pPr marL="0" indent="0">
              <a:buNone/>
            </a:pPr>
            <a:r>
              <a:rPr lang="en-US" sz="1200" b="1" kern="0" spc="800" dirty="0">
                <a:solidFill>
                  <a:srgbClr val="F0A500"/>
                </a:solidFill>
                <a:latin typeface="Calibri" pitchFamily="34" charset="0"/>
                <a:ea typeface="Calibri" pitchFamily="34" charset="-122"/>
                <a:cs typeface="Calibri" pitchFamily="34" charset="-120"/>
              </a:rPr>
              <a:t>ENNOVE ANALYTICS</a:t>
            </a:r>
            <a:endParaRPr lang="en-US" sz="1200" dirty="0"/>
          </a:p>
        </p:txBody>
      </p:sp>
      <p:sp>
        <p:nvSpPr>
          <p:cNvPr id="6" name="Text 4"/>
          <p:cNvSpPr/>
          <p:nvPr/>
        </p:nvSpPr>
        <p:spPr>
          <a:xfrm>
            <a:off x="731520" y="1554480"/>
            <a:ext cx="10058400" cy="1097280"/>
          </a:xfrm>
          <a:prstGeom prst="rect">
            <a:avLst/>
          </a:prstGeom>
          <a:noFill/>
          <a:ln/>
        </p:spPr>
        <p:txBody>
          <a:bodyPr wrap="square" rtlCol="0" anchor="ctr"/>
          <a:lstStyle/>
          <a:p>
            <a:pPr marL="0" indent="0">
              <a:buNone/>
            </a:pPr>
            <a:r>
              <a:rPr lang="en-US" sz="8400" b="1" dirty="0">
                <a:solidFill>
                  <a:srgbClr val="FFFFFF"/>
                </a:solidFill>
                <a:latin typeface="Georgia" pitchFamily="34" charset="0"/>
                <a:ea typeface="Georgia" pitchFamily="34" charset="-122"/>
                <a:cs typeface="Georgia" pitchFamily="34" charset="-120"/>
              </a:rPr>
              <a:t>Bright TV</a:t>
            </a:r>
            <a:endParaRPr lang="en-US" sz="8400" dirty="0"/>
          </a:p>
        </p:txBody>
      </p:sp>
      <p:sp>
        <p:nvSpPr>
          <p:cNvPr id="7" name="Text 5"/>
          <p:cNvSpPr/>
          <p:nvPr/>
        </p:nvSpPr>
        <p:spPr>
          <a:xfrm>
            <a:off x="731520" y="2606040"/>
            <a:ext cx="10058400" cy="822960"/>
          </a:xfrm>
          <a:prstGeom prst="rect">
            <a:avLst/>
          </a:prstGeom>
          <a:noFill/>
          <a:ln/>
        </p:spPr>
        <p:txBody>
          <a:bodyPr wrap="square" rtlCol="0" anchor="ctr"/>
          <a:lstStyle/>
          <a:p>
            <a:pPr marL="0" indent="0">
              <a:buNone/>
            </a:pPr>
            <a:r>
              <a:rPr lang="en-US" sz="4400" i="1" dirty="0">
                <a:solidFill>
                  <a:srgbClr val="C8CDE8"/>
                </a:solidFill>
                <a:latin typeface="Georgia" pitchFamily="34" charset="0"/>
                <a:ea typeface="Georgia" pitchFamily="34" charset="-122"/>
                <a:cs typeface="Georgia" pitchFamily="34" charset="-120"/>
              </a:rPr>
              <a:t>Viewership Project</a:t>
            </a:r>
            <a:endParaRPr lang="en-US" sz="4400" dirty="0"/>
          </a:p>
        </p:txBody>
      </p:sp>
      <p:sp>
        <p:nvSpPr>
          <p:cNvPr id="8" name="Shape 6"/>
          <p:cNvSpPr/>
          <p:nvPr/>
        </p:nvSpPr>
        <p:spPr>
          <a:xfrm>
            <a:off x="731520" y="3657600"/>
            <a:ext cx="1097280" cy="45720"/>
          </a:xfrm>
          <a:prstGeom prst="rect">
            <a:avLst/>
          </a:prstGeom>
          <a:solidFill>
            <a:srgbClr val="E91E63"/>
          </a:solidFill>
          <a:ln w="12700">
            <a:solidFill>
              <a:srgbClr val="E91E63"/>
            </a:solidFill>
            <a:prstDash val="solid"/>
          </a:ln>
        </p:spPr>
      </p:sp>
      <p:sp>
        <p:nvSpPr>
          <p:cNvPr id="9" name="Text 7"/>
          <p:cNvSpPr/>
          <p:nvPr/>
        </p:nvSpPr>
        <p:spPr>
          <a:xfrm>
            <a:off x="731520" y="3840480"/>
            <a:ext cx="8229600" cy="914400"/>
          </a:xfrm>
          <a:prstGeom prst="rect">
            <a:avLst/>
          </a:prstGeom>
          <a:noFill/>
          <a:ln/>
        </p:spPr>
        <p:txBody>
          <a:bodyPr wrap="square" rtlCol="0" anchor="ctr"/>
          <a:lstStyle/>
          <a:p>
            <a:pPr marL="0" indent="0">
              <a:buNone/>
            </a:pPr>
            <a:r>
              <a:rPr lang="en-US" sz="1600" i="1" dirty="0">
                <a:solidFill>
                  <a:srgbClr val="C8CDE8"/>
                </a:solidFill>
                <a:latin typeface="Calibri" pitchFamily="34" charset="0"/>
                <a:ea typeface="Calibri" pitchFamily="34" charset="-122"/>
                <a:cs typeface="Calibri" pitchFamily="34" charset="-120"/>
              </a:rPr>
              <a:t>Exploring entertainment, insights &amp; experience —</a:t>
            </a:r>
            <a:endParaRPr lang="en-US" sz="1600" dirty="0"/>
          </a:p>
          <a:p>
            <a:pPr marL="0" indent="0">
              <a:buNone/>
            </a:pPr>
            <a:r>
              <a:rPr lang="en-US" sz="1600" i="1" dirty="0">
                <a:solidFill>
                  <a:srgbClr val="C8CDE8"/>
                </a:solidFill>
                <a:latin typeface="Calibri" pitchFamily="34" charset="0"/>
                <a:ea typeface="Calibri" pitchFamily="34" charset="-122"/>
                <a:cs typeface="Calibri" pitchFamily="34" charset="-120"/>
              </a:rPr>
              <a:t>growing the subscriber base through data.</a:t>
            </a:r>
            <a:endParaRPr lang="en-US" sz="1600" dirty="0"/>
          </a:p>
        </p:txBody>
      </p:sp>
      <p:sp>
        <p:nvSpPr>
          <p:cNvPr id="10" name="Shape 8"/>
          <p:cNvSpPr/>
          <p:nvPr/>
        </p:nvSpPr>
        <p:spPr>
          <a:xfrm>
            <a:off x="731520" y="5212080"/>
            <a:ext cx="5029200" cy="1005840"/>
          </a:xfrm>
          <a:prstGeom prst="roundRect">
            <a:avLst>
              <a:gd name="adj" fmla="val 7273"/>
            </a:avLst>
          </a:prstGeom>
          <a:solidFill>
            <a:srgbClr val="111738"/>
          </a:solidFill>
          <a:ln w="12700">
            <a:solidFill>
              <a:srgbClr val="2A3160"/>
            </a:solidFill>
            <a:prstDash val="solid"/>
          </a:ln>
        </p:spPr>
      </p:sp>
      <p:sp>
        <p:nvSpPr>
          <p:cNvPr id="11" name="Text 9"/>
          <p:cNvSpPr/>
          <p:nvPr/>
        </p:nvSpPr>
        <p:spPr>
          <a:xfrm>
            <a:off x="914400" y="5303520"/>
            <a:ext cx="3657600" cy="274320"/>
          </a:xfrm>
          <a:prstGeom prst="rect">
            <a:avLst/>
          </a:prstGeom>
          <a:noFill/>
          <a:ln/>
        </p:spPr>
        <p:txBody>
          <a:bodyPr wrap="square" rtlCol="0" anchor="ctr"/>
          <a:lstStyle/>
          <a:p>
            <a:pPr marL="0" indent="0">
              <a:buNone/>
            </a:pPr>
            <a:r>
              <a:rPr lang="en-US" sz="900" b="1" kern="0" spc="400" dirty="0">
                <a:solidFill>
                  <a:srgbClr val="F0A500"/>
                </a:solidFill>
                <a:latin typeface="Calibri" pitchFamily="34" charset="0"/>
                <a:ea typeface="Calibri" pitchFamily="34" charset="-122"/>
                <a:cs typeface="Calibri" pitchFamily="34" charset="-120"/>
              </a:rPr>
              <a:t>PRESENTED BY</a:t>
            </a:r>
            <a:endParaRPr lang="en-US" sz="900" dirty="0"/>
          </a:p>
        </p:txBody>
      </p:sp>
      <p:sp>
        <p:nvSpPr>
          <p:cNvPr id="12" name="Text 10"/>
          <p:cNvSpPr/>
          <p:nvPr/>
        </p:nvSpPr>
        <p:spPr>
          <a:xfrm>
            <a:off x="914400" y="5532120"/>
            <a:ext cx="4572000" cy="365760"/>
          </a:xfrm>
          <a:prstGeom prst="rect">
            <a:avLst/>
          </a:prstGeom>
          <a:noFill/>
          <a:ln/>
        </p:spPr>
        <p:txBody>
          <a:bodyPr wrap="square" rtlCol="0" anchor="ctr"/>
          <a:lstStyle/>
          <a:p>
            <a:pPr marL="0" indent="0">
              <a:buNone/>
            </a:pPr>
            <a:r>
              <a:rPr lang="en-US" sz="2200" b="1" dirty="0">
                <a:solidFill>
                  <a:srgbClr val="FFFFFF"/>
                </a:solidFill>
                <a:latin typeface="Georgia" pitchFamily="34" charset="0"/>
                <a:ea typeface="Georgia" pitchFamily="34" charset="-122"/>
                <a:cs typeface="Georgia" pitchFamily="34" charset="-120"/>
              </a:rPr>
              <a:t>Innocent Mphahlele</a:t>
            </a:r>
            <a:endParaRPr lang="en-US" sz="2200" dirty="0"/>
          </a:p>
        </p:txBody>
      </p:sp>
      <p:sp>
        <p:nvSpPr>
          <p:cNvPr id="13" name="Text 11"/>
          <p:cNvSpPr/>
          <p:nvPr/>
        </p:nvSpPr>
        <p:spPr>
          <a:xfrm>
            <a:off x="914400" y="5897880"/>
            <a:ext cx="4572000" cy="274320"/>
          </a:xfrm>
          <a:prstGeom prst="rect">
            <a:avLst/>
          </a:prstGeom>
          <a:noFill/>
          <a:ln/>
        </p:spPr>
        <p:txBody>
          <a:bodyPr wrap="square" rtlCol="0" anchor="ctr"/>
          <a:lstStyle/>
          <a:p>
            <a:pPr marL="0" indent="0">
              <a:buNone/>
            </a:pPr>
            <a:r>
              <a:rPr lang="en-US" sz="1100" dirty="0">
                <a:solidFill>
                  <a:srgbClr val="8089B5"/>
                </a:solidFill>
                <a:latin typeface="Calibri" pitchFamily="34" charset="0"/>
                <a:ea typeface="Calibri" pitchFamily="34" charset="-122"/>
                <a:cs typeface="Calibri" pitchFamily="34" charset="-120"/>
              </a:rPr>
              <a:t>Data Analyst  ·  Ennove Analytics</a:t>
            </a:r>
            <a:endParaRPr lang="en-US" sz="1100"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0E27"/>
        </a:solidFill>
        <a:effectLst/>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E91E63"/>
          </a:solidFill>
          <a:ln w="12700">
            <a:solidFill>
              <a:srgbClr val="E91E63"/>
            </a:solidFill>
            <a:prstDash val="solid"/>
          </a:ln>
        </p:spPr>
      </p:sp>
      <p:sp>
        <p:nvSpPr>
          <p:cNvPr id="3" name="Text 1"/>
          <p:cNvSpPr/>
          <p:nvPr/>
        </p:nvSpPr>
        <p:spPr>
          <a:xfrm>
            <a:off x="457200" y="256032"/>
            <a:ext cx="7315200" cy="274320"/>
          </a:xfrm>
          <a:prstGeom prst="rect">
            <a:avLst/>
          </a:prstGeom>
          <a:noFill/>
          <a:ln/>
        </p:spPr>
        <p:txBody>
          <a:bodyPr wrap="square" rtlCol="0" anchor="ctr"/>
          <a:lstStyle/>
          <a:p>
            <a:pPr marL="0" indent="0">
              <a:buNone/>
            </a:pPr>
            <a:r>
              <a:rPr lang="en-US" sz="900" b="1" kern="0" spc="400" dirty="0">
                <a:solidFill>
                  <a:srgbClr val="8089B5"/>
                </a:solidFill>
                <a:latin typeface="Calibri" pitchFamily="34" charset="0"/>
                <a:ea typeface="Calibri" pitchFamily="34" charset="-122"/>
                <a:cs typeface="Calibri" pitchFamily="34" charset="-120"/>
              </a:rPr>
              <a:t>BRIGHT TV  ·  VIEWERSHIP PROJECT</a:t>
            </a:r>
            <a:endParaRPr lang="en-US" sz="900" dirty="0"/>
          </a:p>
        </p:txBody>
      </p:sp>
      <p:sp>
        <p:nvSpPr>
          <p:cNvPr id="4" name="Text 2"/>
          <p:cNvSpPr/>
          <p:nvPr/>
        </p:nvSpPr>
        <p:spPr>
          <a:xfrm>
            <a:off x="10515600" y="256032"/>
            <a:ext cx="1280160" cy="274320"/>
          </a:xfrm>
          <a:prstGeom prst="rect">
            <a:avLst/>
          </a:prstGeom>
          <a:noFill/>
          <a:ln/>
        </p:spPr>
        <p:txBody>
          <a:bodyPr wrap="square" rtlCol="0" anchor="ctr"/>
          <a:lstStyle/>
          <a:p>
            <a:pPr marL="0" indent="0" algn="r">
              <a:buNone/>
            </a:pPr>
            <a:r>
              <a:rPr lang="en-US" sz="900" kern="0" spc="200" dirty="0">
                <a:solidFill>
                  <a:srgbClr val="8089B5"/>
                </a:solidFill>
                <a:latin typeface="Calibri" pitchFamily="34" charset="0"/>
                <a:ea typeface="Calibri" pitchFamily="34" charset="-122"/>
                <a:cs typeface="Calibri" pitchFamily="34" charset="-120"/>
              </a:rPr>
              <a:t>02 / 09</a:t>
            </a:r>
            <a:endParaRPr lang="en-US" sz="900" dirty="0"/>
          </a:p>
        </p:txBody>
      </p:sp>
      <p:sp>
        <p:nvSpPr>
          <p:cNvPr id="5" name="Text 3"/>
          <p:cNvSpPr/>
          <p:nvPr/>
        </p:nvSpPr>
        <p:spPr>
          <a:xfrm>
            <a:off x="457200" y="6537960"/>
            <a:ext cx="7315200" cy="228600"/>
          </a:xfrm>
          <a:prstGeom prst="rect">
            <a:avLst/>
          </a:prstGeom>
          <a:noFill/>
          <a:ln/>
        </p:spPr>
        <p:txBody>
          <a:bodyPr wrap="square" rtlCol="0" anchor="ctr"/>
          <a:lstStyle/>
          <a:p>
            <a:pPr marL="0" indent="0">
              <a:buNone/>
            </a:pPr>
            <a:r>
              <a:rPr lang="en-US" sz="800" dirty="0">
                <a:solidFill>
                  <a:srgbClr val="8089B5"/>
                </a:solidFill>
                <a:latin typeface="Calibri" pitchFamily="34" charset="0"/>
                <a:ea typeface="Calibri" pitchFamily="34" charset="-122"/>
                <a:cs typeface="Calibri" pitchFamily="34" charset="-120"/>
              </a:rPr>
              <a:t>Ennove Analytics  ·  Innocent Mphahlele</a:t>
            </a:r>
            <a:endParaRPr lang="en-US" sz="800" dirty="0"/>
          </a:p>
        </p:txBody>
      </p:sp>
      <p:sp>
        <p:nvSpPr>
          <p:cNvPr id="6" name="Text 4"/>
          <p:cNvSpPr/>
          <p:nvPr/>
        </p:nvSpPr>
        <p:spPr>
          <a:xfrm>
            <a:off x="457200" y="594360"/>
            <a:ext cx="11247120" cy="640080"/>
          </a:xfrm>
          <a:prstGeom prst="rect">
            <a:avLst/>
          </a:prstGeom>
          <a:noFill/>
          <a:ln/>
        </p:spPr>
        <p:txBody>
          <a:bodyPr wrap="square" rtlCol="0" anchor="ctr"/>
          <a:lstStyle/>
          <a:p>
            <a:pPr marL="0" indent="0">
              <a:buNone/>
            </a:pPr>
            <a:r>
              <a:rPr lang="en-US" sz="3200" b="1" dirty="0">
                <a:solidFill>
                  <a:srgbClr val="FFFFFF"/>
                </a:solidFill>
                <a:latin typeface="Georgia" pitchFamily="34" charset="0"/>
                <a:ea typeface="Georgia" pitchFamily="34" charset="-122"/>
                <a:cs typeface="Georgia" pitchFamily="34" charset="-120"/>
              </a:rPr>
              <a:t>Agenda</a:t>
            </a:r>
            <a:endParaRPr lang="en-US" sz="3200" dirty="0"/>
          </a:p>
        </p:txBody>
      </p:sp>
      <p:sp>
        <p:nvSpPr>
          <p:cNvPr id="7" name="Text 5"/>
          <p:cNvSpPr/>
          <p:nvPr/>
        </p:nvSpPr>
        <p:spPr>
          <a:xfrm>
            <a:off x="457200" y="1188720"/>
            <a:ext cx="11247120" cy="320040"/>
          </a:xfrm>
          <a:prstGeom prst="rect">
            <a:avLst/>
          </a:prstGeom>
          <a:noFill/>
          <a:ln/>
        </p:spPr>
        <p:txBody>
          <a:bodyPr wrap="square" rtlCol="0" anchor="ctr"/>
          <a:lstStyle/>
          <a:p>
            <a:pPr marL="0" indent="0">
              <a:buNone/>
            </a:pPr>
            <a:r>
              <a:rPr lang="en-US" sz="1300" i="1" dirty="0">
                <a:solidFill>
                  <a:srgbClr val="8089B5"/>
                </a:solidFill>
                <a:latin typeface="Calibri" pitchFamily="34" charset="0"/>
                <a:ea typeface="Calibri" pitchFamily="34" charset="-122"/>
                <a:cs typeface="Calibri" pitchFamily="34" charset="-120"/>
              </a:rPr>
              <a:t>What we'll cover in the next 15 minutes</a:t>
            </a:r>
            <a:endParaRPr lang="en-US" sz="1300" dirty="0"/>
          </a:p>
        </p:txBody>
      </p:sp>
      <p:sp>
        <p:nvSpPr>
          <p:cNvPr id="8" name="Shape 6"/>
          <p:cNvSpPr/>
          <p:nvPr/>
        </p:nvSpPr>
        <p:spPr>
          <a:xfrm>
            <a:off x="457200" y="1627632"/>
            <a:ext cx="109728" cy="109728"/>
          </a:xfrm>
          <a:prstGeom prst="ellipse">
            <a:avLst/>
          </a:prstGeom>
          <a:solidFill>
            <a:srgbClr val="E91E63"/>
          </a:solidFill>
          <a:ln w="12700">
            <a:solidFill>
              <a:srgbClr val="E91E63"/>
            </a:solidFill>
            <a:prstDash val="solid"/>
          </a:ln>
        </p:spPr>
      </p:sp>
      <p:sp>
        <p:nvSpPr>
          <p:cNvPr id="9" name="Shape 7"/>
          <p:cNvSpPr/>
          <p:nvPr/>
        </p:nvSpPr>
        <p:spPr>
          <a:xfrm>
            <a:off x="640080" y="1673352"/>
            <a:ext cx="548640" cy="18288"/>
          </a:xfrm>
          <a:prstGeom prst="rect">
            <a:avLst/>
          </a:prstGeom>
          <a:solidFill>
            <a:srgbClr val="E91E63"/>
          </a:solidFill>
          <a:ln w="12700">
            <a:solidFill>
              <a:srgbClr val="E91E63"/>
            </a:solidFill>
            <a:prstDash val="solid"/>
          </a:ln>
        </p:spPr>
      </p:sp>
      <p:sp>
        <p:nvSpPr>
          <p:cNvPr id="10" name="Shape 8"/>
          <p:cNvSpPr/>
          <p:nvPr/>
        </p:nvSpPr>
        <p:spPr>
          <a:xfrm>
            <a:off x="457200" y="2011680"/>
            <a:ext cx="5486400" cy="502920"/>
          </a:xfrm>
          <a:prstGeom prst="roundRect">
            <a:avLst>
              <a:gd name="adj" fmla="val 10909"/>
            </a:avLst>
          </a:prstGeom>
          <a:solidFill>
            <a:srgbClr val="111738"/>
          </a:solidFill>
          <a:ln w="12700">
            <a:solidFill>
              <a:srgbClr val="2A3160"/>
            </a:solidFill>
            <a:prstDash val="solid"/>
          </a:ln>
        </p:spPr>
      </p:sp>
      <p:sp>
        <p:nvSpPr>
          <p:cNvPr id="11" name="Text 9"/>
          <p:cNvSpPr/>
          <p:nvPr/>
        </p:nvSpPr>
        <p:spPr>
          <a:xfrm>
            <a:off x="594360" y="2057400"/>
            <a:ext cx="548640" cy="411480"/>
          </a:xfrm>
          <a:prstGeom prst="rect">
            <a:avLst/>
          </a:prstGeom>
          <a:noFill/>
          <a:ln/>
        </p:spPr>
        <p:txBody>
          <a:bodyPr wrap="square" rtlCol="0" anchor="ctr"/>
          <a:lstStyle/>
          <a:p>
            <a:pPr marL="0" indent="0">
              <a:buNone/>
            </a:pPr>
            <a:r>
              <a:rPr lang="en-US" sz="2200" b="1" dirty="0">
                <a:solidFill>
                  <a:srgbClr val="E91E63"/>
                </a:solidFill>
                <a:latin typeface="Georgia" pitchFamily="34" charset="0"/>
                <a:ea typeface="Georgia" pitchFamily="34" charset="-122"/>
                <a:cs typeface="Georgia" pitchFamily="34" charset="-120"/>
              </a:rPr>
              <a:t>01</a:t>
            </a:r>
            <a:endParaRPr lang="en-US" sz="2200" dirty="0"/>
          </a:p>
        </p:txBody>
      </p:sp>
      <p:sp>
        <p:nvSpPr>
          <p:cNvPr id="12" name="Text 10"/>
          <p:cNvSpPr/>
          <p:nvPr/>
        </p:nvSpPr>
        <p:spPr>
          <a:xfrm>
            <a:off x="1234440" y="2039112"/>
            <a:ext cx="2194560" cy="27432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Introduction</a:t>
            </a:r>
            <a:endParaRPr lang="en-US" sz="1300" dirty="0"/>
          </a:p>
        </p:txBody>
      </p:sp>
      <p:sp>
        <p:nvSpPr>
          <p:cNvPr id="13" name="Text 11"/>
          <p:cNvSpPr/>
          <p:nvPr/>
        </p:nvSpPr>
        <p:spPr>
          <a:xfrm>
            <a:off x="1234440" y="2258568"/>
            <a:ext cx="4572000" cy="228600"/>
          </a:xfrm>
          <a:prstGeom prst="rect">
            <a:avLst/>
          </a:prstGeom>
          <a:noFill/>
          <a:ln/>
        </p:spPr>
        <p:txBody>
          <a:bodyPr wrap="square" rtlCol="0" anchor="ctr"/>
          <a:lstStyle/>
          <a:p>
            <a:pPr marL="0" indent="0">
              <a:buNone/>
            </a:pPr>
            <a:r>
              <a:rPr lang="en-US" sz="1000" dirty="0">
                <a:solidFill>
                  <a:srgbClr val="8089B5"/>
                </a:solidFill>
                <a:latin typeface="Calibri" pitchFamily="34" charset="0"/>
                <a:ea typeface="Calibri" pitchFamily="34" charset="-122"/>
                <a:cs typeface="Calibri" pitchFamily="34" charset="-120"/>
              </a:rPr>
              <a:t>CEO brief &amp; business question</a:t>
            </a:r>
            <a:endParaRPr lang="en-US" sz="1000" dirty="0"/>
          </a:p>
        </p:txBody>
      </p:sp>
      <p:sp>
        <p:nvSpPr>
          <p:cNvPr id="14" name="Shape 12"/>
          <p:cNvSpPr/>
          <p:nvPr/>
        </p:nvSpPr>
        <p:spPr>
          <a:xfrm>
            <a:off x="6217920" y="2011680"/>
            <a:ext cx="5486400" cy="502920"/>
          </a:xfrm>
          <a:prstGeom prst="roundRect">
            <a:avLst>
              <a:gd name="adj" fmla="val 10909"/>
            </a:avLst>
          </a:prstGeom>
          <a:solidFill>
            <a:srgbClr val="111738"/>
          </a:solidFill>
          <a:ln w="12700">
            <a:solidFill>
              <a:srgbClr val="2A3160"/>
            </a:solidFill>
            <a:prstDash val="solid"/>
          </a:ln>
        </p:spPr>
      </p:sp>
      <p:sp>
        <p:nvSpPr>
          <p:cNvPr id="15" name="Text 13"/>
          <p:cNvSpPr/>
          <p:nvPr/>
        </p:nvSpPr>
        <p:spPr>
          <a:xfrm>
            <a:off x="6355080" y="2057400"/>
            <a:ext cx="548640" cy="411480"/>
          </a:xfrm>
          <a:prstGeom prst="rect">
            <a:avLst/>
          </a:prstGeom>
          <a:noFill/>
          <a:ln/>
        </p:spPr>
        <p:txBody>
          <a:bodyPr wrap="square" rtlCol="0" anchor="ctr"/>
          <a:lstStyle/>
          <a:p>
            <a:pPr marL="0" indent="0">
              <a:buNone/>
            </a:pPr>
            <a:r>
              <a:rPr lang="en-US" sz="2200" b="1" dirty="0">
                <a:solidFill>
                  <a:srgbClr val="E91E63"/>
                </a:solidFill>
                <a:latin typeface="Georgia" pitchFamily="34" charset="0"/>
                <a:ea typeface="Georgia" pitchFamily="34" charset="-122"/>
                <a:cs typeface="Georgia" pitchFamily="34" charset="-120"/>
              </a:rPr>
              <a:t>02</a:t>
            </a:r>
            <a:endParaRPr lang="en-US" sz="2200" dirty="0"/>
          </a:p>
        </p:txBody>
      </p:sp>
      <p:sp>
        <p:nvSpPr>
          <p:cNvPr id="16" name="Text 14"/>
          <p:cNvSpPr/>
          <p:nvPr/>
        </p:nvSpPr>
        <p:spPr>
          <a:xfrm>
            <a:off x="6995160" y="2039112"/>
            <a:ext cx="2194560" cy="27432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Objectives</a:t>
            </a:r>
            <a:endParaRPr lang="en-US" sz="1300" dirty="0"/>
          </a:p>
        </p:txBody>
      </p:sp>
      <p:sp>
        <p:nvSpPr>
          <p:cNvPr id="17" name="Text 15"/>
          <p:cNvSpPr/>
          <p:nvPr/>
        </p:nvSpPr>
        <p:spPr>
          <a:xfrm>
            <a:off x="6995160" y="2258568"/>
            <a:ext cx="4572000" cy="228600"/>
          </a:xfrm>
          <a:prstGeom prst="rect">
            <a:avLst/>
          </a:prstGeom>
          <a:noFill/>
          <a:ln/>
        </p:spPr>
        <p:txBody>
          <a:bodyPr wrap="square" rtlCol="0" anchor="ctr"/>
          <a:lstStyle/>
          <a:p>
            <a:pPr marL="0" indent="0">
              <a:buNone/>
            </a:pPr>
            <a:r>
              <a:rPr lang="en-US" sz="1000" dirty="0">
                <a:solidFill>
                  <a:srgbClr val="8089B5"/>
                </a:solidFill>
                <a:latin typeface="Calibri" pitchFamily="34" charset="0"/>
                <a:ea typeface="Calibri" pitchFamily="34" charset="-122"/>
                <a:cs typeface="Calibri" pitchFamily="34" charset="-120"/>
              </a:rPr>
              <a:t>What insights we set out to deliver</a:t>
            </a:r>
            <a:endParaRPr lang="en-US" sz="1000" dirty="0"/>
          </a:p>
        </p:txBody>
      </p:sp>
      <p:sp>
        <p:nvSpPr>
          <p:cNvPr id="18" name="Shape 16"/>
          <p:cNvSpPr/>
          <p:nvPr/>
        </p:nvSpPr>
        <p:spPr>
          <a:xfrm>
            <a:off x="457200" y="2743200"/>
            <a:ext cx="5486400" cy="502920"/>
          </a:xfrm>
          <a:prstGeom prst="roundRect">
            <a:avLst>
              <a:gd name="adj" fmla="val 10909"/>
            </a:avLst>
          </a:prstGeom>
          <a:solidFill>
            <a:srgbClr val="111738"/>
          </a:solidFill>
          <a:ln w="12700">
            <a:solidFill>
              <a:srgbClr val="2A3160"/>
            </a:solidFill>
            <a:prstDash val="solid"/>
          </a:ln>
        </p:spPr>
      </p:sp>
      <p:sp>
        <p:nvSpPr>
          <p:cNvPr id="19" name="Text 17"/>
          <p:cNvSpPr/>
          <p:nvPr/>
        </p:nvSpPr>
        <p:spPr>
          <a:xfrm>
            <a:off x="594360" y="2788920"/>
            <a:ext cx="548640" cy="411480"/>
          </a:xfrm>
          <a:prstGeom prst="rect">
            <a:avLst/>
          </a:prstGeom>
          <a:noFill/>
          <a:ln/>
        </p:spPr>
        <p:txBody>
          <a:bodyPr wrap="square" rtlCol="0" anchor="ctr"/>
          <a:lstStyle/>
          <a:p>
            <a:pPr marL="0" indent="0">
              <a:buNone/>
            </a:pPr>
            <a:r>
              <a:rPr lang="en-US" sz="2200" b="1" dirty="0">
                <a:solidFill>
                  <a:srgbClr val="E91E63"/>
                </a:solidFill>
                <a:latin typeface="Georgia" pitchFamily="34" charset="0"/>
                <a:ea typeface="Georgia" pitchFamily="34" charset="-122"/>
                <a:cs typeface="Georgia" pitchFamily="34" charset="-120"/>
              </a:rPr>
              <a:t>03</a:t>
            </a:r>
            <a:endParaRPr lang="en-US" sz="2200" dirty="0"/>
          </a:p>
        </p:txBody>
      </p:sp>
      <p:sp>
        <p:nvSpPr>
          <p:cNvPr id="20" name="Text 18"/>
          <p:cNvSpPr/>
          <p:nvPr/>
        </p:nvSpPr>
        <p:spPr>
          <a:xfrm>
            <a:off x="1234440" y="2770632"/>
            <a:ext cx="2194560" cy="27432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Project Architecture</a:t>
            </a:r>
            <a:endParaRPr lang="en-US" sz="1300" dirty="0"/>
          </a:p>
        </p:txBody>
      </p:sp>
      <p:sp>
        <p:nvSpPr>
          <p:cNvPr id="21" name="Text 19"/>
          <p:cNvSpPr/>
          <p:nvPr/>
        </p:nvSpPr>
        <p:spPr>
          <a:xfrm>
            <a:off x="1234440" y="2990088"/>
            <a:ext cx="4572000" cy="228600"/>
          </a:xfrm>
          <a:prstGeom prst="rect">
            <a:avLst/>
          </a:prstGeom>
          <a:noFill/>
          <a:ln/>
        </p:spPr>
        <p:txBody>
          <a:bodyPr wrap="square" rtlCol="0" anchor="ctr"/>
          <a:lstStyle/>
          <a:p>
            <a:pPr marL="0" indent="0">
              <a:buNone/>
            </a:pPr>
            <a:r>
              <a:rPr lang="en-US" sz="1000" dirty="0">
                <a:solidFill>
                  <a:srgbClr val="8089B5"/>
                </a:solidFill>
                <a:latin typeface="Calibri" pitchFamily="34" charset="0"/>
                <a:ea typeface="Calibri" pitchFamily="34" charset="-122"/>
                <a:cs typeface="Calibri" pitchFamily="34" charset="-120"/>
              </a:rPr>
              <a:t>Tooling &amp; workflow</a:t>
            </a:r>
            <a:endParaRPr lang="en-US" sz="1000" dirty="0"/>
          </a:p>
        </p:txBody>
      </p:sp>
      <p:sp>
        <p:nvSpPr>
          <p:cNvPr id="22" name="Shape 20"/>
          <p:cNvSpPr/>
          <p:nvPr/>
        </p:nvSpPr>
        <p:spPr>
          <a:xfrm>
            <a:off x="6217920" y="2743200"/>
            <a:ext cx="5486400" cy="502920"/>
          </a:xfrm>
          <a:prstGeom prst="roundRect">
            <a:avLst>
              <a:gd name="adj" fmla="val 10909"/>
            </a:avLst>
          </a:prstGeom>
          <a:solidFill>
            <a:srgbClr val="111738"/>
          </a:solidFill>
          <a:ln w="12700">
            <a:solidFill>
              <a:srgbClr val="2A3160"/>
            </a:solidFill>
            <a:prstDash val="solid"/>
          </a:ln>
        </p:spPr>
      </p:sp>
      <p:sp>
        <p:nvSpPr>
          <p:cNvPr id="23" name="Text 21"/>
          <p:cNvSpPr/>
          <p:nvPr/>
        </p:nvSpPr>
        <p:spPr>
          <a:xfrm>
            <a:off x="6355080" y="2788920"/>
            <a:ext cx="548640" cy="411480"/>
          </a:xfrm>
          <a:prstGeom prst="rect">
            <a:avLst/>
          </a:prstGeom>
          <a:noFill/>
          <a:ln/>
        </p:spPr>
        <p:txBody>
          <a:bodyPr wrap="square" rtlCol="0" anchor="ctr"/>
          <a:lstStyle/>
          <a:p>
            <a:pPr marL="0" indent="0">
              <a:buNone/>
            </a:pPr>
            <a:r>
              <a:rPr lang="en-US" sz="2200" b="1" dirty="0">
                <a:solidFill>
                  <a:srgbClr val="E91E63"/>
                </a:solidFill>
                <a:latin typeface="Georgia" pitchFamily="34" charset="0"/>
                <a:ea typeface="Georgia" pitchFamily="34" charset="-122"/>
                <a:cs typeface="Georgia" pitchFamily="34" charset="-120"/>
              </a:rPr>
              <a:t>04</a:t>
            </a:r>
            <a:endParaRPr lang="en-US" sz="2200" dirty="0"/>
          </a:p>
        </p:txBody>
      </p:sp>
      <p:sp>
        <p:nvSpPr>
          <p:cNvPr id="24" name="Text 22"/>
          <p:cNvSpPr/>
          <p:nvPr/>
        </p:nvSpPr>
        <p:spPr>
          <a:xfrm>
            <a:off x="6995160" y="2770632"/>
            <a:ext cx="2194560" cy="27432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Process &amp; Timeline</a:t>
            </a:r>
            <a:endParaRPr lang="en-US" sz="1300" dirty="0"/>
          </a:p>
        </p:txBody>
      </p:sp>
      <p:sp>
        <p:nvSpPr>
          <p:cNvPr id="25" name="Text 23"/>
          <p:cNvSpPr/>
          <p:nvPr/>
        </p:nvSpPr>
        <p:spPr>
          <a:xfrm>
            <a:off x="6995160" y="2990088"/>
            <a:ext cx="4572000" cy="228600"/>
          </a:xfrm>
          <a:prstGeom prst="rect">
            <a:avLst/>
          </a:prstGeom>
          <a:noFill/>
          <a:ln/>
        </p:spPr>
        <p:txBody>
          <a:bodyPr wrap="square" rtlCol="0" anchor="ctr"/>
          <a:lstStyle/>
          <a:p>
            <a:pPr marL="0" indent="0">
              <a:buNone/>
            </a:pPr>
            <a:r>
              <a:rPr lang="en-US" sz="1000" dirty="0">
                <a:solidFill>
                  <a:srgbClr val="8089B5"/>
                </a:solidFill>
                <a:latin typeface="Calibri" pitchFamily="34" charset="0"/>
                <a:ea typeface="Calibri" pitchFamily="34" charset="-122"/>
                <a:cs typeface="Calibri" pitchFamily="34" charset="-120"/>
              </a:rPr>
              <a:t>Process map and Gantt plan</a:t>
            </a:r>
            <a:endParaRPr lang="en-US" sz="1000" dirty="0"/>
          </a:p>
        </p:txBody>
      </p:sp>
      <p:sp>
        <p:nvSpPr>
          <p:cNvPr id="26" name="Shape 24"/>
          <p:cNvSpPr/>
          <p:nvPr/>
        </p:nvSpPr>
        <p:spPr>
          <a:xfrm>
            <a:off x="457200" y="3474720"/>
            <a:ext cx="5486400" cy="502920"/>
          </a:xfrm>
          <a:prstGeom prst="roundRect">
            <a:avLst>
              <a:gd name="adj" fmla="val 10909"/>
            </a:avLst>
          </a:prstGeom>
          <a:solidFill>
            <a:srgbClr val="111738"/>
          </a:solidFill>
          <a:ln w="12700">
            <a:solidFill>
              <a:srgbClr val="2A3160"/>
            </a:solidFill>
            <a:prstDash val="solid"/>
          </a:ln>
        </p:spPr>
      </p:sp>
      <p:sp>
        <p:nvSpPr>
          <p:cNvPr id="27" name="Text 25"/>
          <p:cNvSpPr/>
          <p:nvPr/>
        </p:nvSpPr>
        <p:spPr>
          <a:xfrm>
            <a:off x="594360" y="3520440"/>
            <a:ext cx="548640" cy="411480"/>
          </a:xfrm>
          <a:prstGeom prst="rect">
            <a:avLst/>
          </a:prstGeom>
          <a:noFill/>
          <a:ln/>
        </p:spPr>
        <p:txBody>
          <a:bodyPr wrap="square" rtlCol="0" anchor="ctr"/>
          <a:lstStyle/>
          <a:p>
            <a:pPr marL="0" indent="0">
              <a:buNone/>
            </a:pPr>
            <a:r>
              <a:rPr lang="en-US" sz="2200" b="1" dirty="0">
                <a:solidFill>
                  <a:srgbClr val="E91E63"/>
                </a:solidFill>
                <a:latin typeface="Georgia" pitchFamily="34" charset="0"/>
                <a:ea typeface="Georgia" pitchFamily="34" charset="-122"/>
                <a:cs typeface="Georgia" pitchFamily="34" charset="-120"/>
              </a:rPr>
              <a:t>05</a:t>
            </a:r>
            <a:endParaRPr lang="en-US" sz="2200" dirty="0"/>
          </a:p>
        </p:txBody>
      </p:sp>
      <p:sp>
        <p:nvSpPr>
          <p:cNvPr id="28" name="Text 26"/>
          <p:cNvSpPr/>
          <p:nvPr/>
        </p:nvSpPr>
        <p:spPr>
          <a:xfrm>
            <a:off x="1234440" y="3502152"/>
            <a:ext cx="2194560" cy="27432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Data Pipeline</a:t>
            </a:r>
            <a:endParaRPr lang="en-US" sz="1300" dirty="0"/>
          </a:p>
        </p:txBody>
      </p:sp>
      <p:sp>
        <p:nvSpPr>
          <p:cNvPr id="29" name="Text 27"/>
          <p:cNvSpPr/>
          <p:nvPr/>
        </p:nvSpPr>
        <p:spPr>
          <a:xfrm>
            <a:off x="1234440" y="3721608"/>
            <a:ext cx="4572000" cy="228600"/>
          </a:xfrm>
          <a:prstGeom prst="rect">
            <a:avLst/>
          </a:prstGeom>
          <a:noFill/>
          <a:ln/>
        </p:spPr>
        <p:txBody>
          <a:bodyPr wrap="square" rtlCol="0" anchor="ctr"/>
          <a:lstStyle/>
          <a:p>
            <a:pPr marL="0" indent="0">
              <a:buNone/>
            </a:pPr>
            <a:r>
              <a:rPr lang="en-US" sz="1000" dirty="0">
                <a:solidFill>
                  <a:srgbClr val="8089B5"/>
                </a:solidFill>
                <a:latin typeface="Calibri" pitchFamily="34" charset="0"/>
                <a:ea typeface="Calibri" pitchFamily="34" charset="-122"/>
                <a:cs typeface="Calibri" pitchFamily="34" charset="-120"/>
              </a:rPr>
              <a:t>Databricks ingestion &amp; SQL prep</a:t>
            </a:r>
            <a:endParaRPr lang="en-US" sz="1000" dirty="0"/>
          </a:p>
        </p:txBody>
      </p:sp>
      <p:sp>
        <p:nvSpPr>
          <p:cNvPr id="30" name="Shape 28"/>
          <p:cNvSpPr/>
          <p:nvPr/>
        </p:nvSpPr>
        <p:spPr>
          <a:xfrm>
            <a:off x="6217920" y="3474720"/>
            <a:ext cx="5486400" cy="502920"/>
          </a:xfrm>
          <a:prstGeom prst="roundRect">
            <a:avLst>
              <a:gd name="adj" fmla="val 10909"/>
            </a:avLst>
          </a:prstGeom>
          <a:solidFill>
            <a:srgbClr val="111738"/>
          </a:solidFill>
          <a:ln w="12700">
            <a:solidFill>
              <a:srgbClr val="2A3160"/>
            </a:solidFill>
            <a:prstDash val="solid"/>
          </a:ln>
        </p:spPr>
      </p:sp>
      <p:sp>
        <p:nvSpPr>
          <p:cNvPr id="31" name="Text 29"/>
          <p:cNvSpPr/>
          <p:nvPr/>
        </p:nvSpPr>
        <p:spPr>
          <a:xfrm>
            <a:off x="6355080" y="3520440"/>
            <a:ext cx="548640" cy="411480"/>
          </a:xfrm>
          <a:prstGeom prst="rect">
            <a:avLst/>
          </a:prstGeom>
          <a:noFill/>
          <a:ln/>
        </p:spPr>
        <p:txBody>
          <a:bodyPr wrap="square" rtlCol="0" anchor="ctr"/>
          <a:lstStyle/>
          <a:p>
            <a:pPr marL="0" indent="0">
              <a:buNone/>
            </a:pPr>
            <a:r>
              <a:rPr lang="en-US" sz="2200" b="1" dirty="0">
                <a:solidFill>
                  <a:srgbClr val="E91E63"/>
                </a:solidFill>
                <a:latin typeface="Georgia" pitchFamily="34" charset="0"/>
                <a:ea typeface="Georgia" pitchFamily="34" charset="-122"/>
                <a:cs typeface="Georgia" pitchFamily="34" charset="-120"/>
              </a:rPr>
              <a:t>06</a:t>
            </a:r>
            <a:endParaRPr lang="en-US" sz="2200" dirty="0"/>
          </a:p>
        </p:txBody>
      </p:sp>
      <p:sp>
        <p:nvSpPr>
          <p:cNvPr id="32" name="Text 30"/>
          <p:cNvSpPr/>
          <p:nvPr/>
        </p:nvSpPr>
        <p:spPr>
          <a:xfrm>
            <a:off x="6995160" y="3502152"/>
            <a:ext cx="2194560" cy="27432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Key Insights</a:t>
            </a:r>
            <a:endParaRPr lang="en-US" sz="1300" dirty="0"/>
          </a:p>
        </p:txBody>
      </p:sp>
      <p:sp>
        <p:nvSpPr>
          <p:cNvPr id="33" name="Text 31"/>
          <p:cNvSpPr/>
          <p:nvPr/>
        </p:nvSpPr>
        <p:spPr>
          <a:xfrm>
            <a:off x="6995160" y="3721608"/>
            <a:ext cx="4572000" cy="228600"/>
          </a:xfrm>
          <a:prstGeom prst="rect">
            <a:avLst/>
          </a:prstGeom>
          <a:noFill/>
          <a:ln/>
        </p:spPr>
        <p:txBody>
          <a:bodyPr wrap="square" rtlCol="0" anchor="ctr"/>
          <a:lstStyle/>
          <a:p>
            <a:pPr marL="0" indent="0">
              <a:buNone/>
            </a:pPr>
            <a:r>
              <a:rPr lang="en-US" sz="1000" dirty="0">
                <a:solidFill>
                  <a:srgbClr val="8089B5"/>
                </a:solidFill>
                <a:latin typeface="Calibri" pitchFamily="34" charset="0"/>
                <a:ea typeface="Calibri" pitchFamily="34" charset="-122"/>
                <a:cs typeface="Calibri" pitchFamily="34" charset="-120"/>
              </a:rPr>
              <a:t>Demographics, geography, channels, time</a:t>
            </a:r>
            <a:endParaRPr lang="en-US" sz="1000" dirty="0"/>
          </a:p>
        </p:txBody>
      </p:sp>
      <p:sp>
        <p:nvSpPr>
          <p:cNvPr id="34" name="Shape 32"/>
          <p:cNvSpPr/>
          <p:nvPr/>
        </p:nvSpPr>
        <p:spPr>
          <a:xfrm>
            <a:off x="457200" y="4206240"/>
            <a:ext cx="5486400" cy="502920"/>
          </a:xfrm>
          <a:prstGeom prst="roundRect">
            <a:avLst>
              <a:gd name="adj" fmla="val 10909"/>
            </a:avLst>
          </a:prstGeom>
          <a:solidFill>
            <a:srgbClr val="111738"/>
          </a:solidFill>
          <a:ln w="12700">
            <a:solidFill>
              <a:srgbClr val="2A3160"/>
            </a:solidFill>
            <a:prstDash val="solid"/>
          </a:ln>
        </p:spPr>
      </p:sp>
      <p:sp>
        <p:nvSpPr>
          <p:cNvPr id="35" name="Text 33"/>
          <p:cNvSpPr/>
          <p:nvPr/>
        </p:nvSpPr>
        <p:spPr>
          <a:xfrm>
            <a:off x="594360" y="4251960"/>
            <a:ext cx="548640" cy="411480"/>
          </a:xfrm>
          <a:prstGeom prst="rect">
            <a:avLst/>
          </a:prstGeom>
          <a:noFill/>
          <a:ln/>
        </p:spPr>
        <p:txBody>
          <a:bodyPr wrap="square" rtlCol="0" anchor="ctr"/>
          <a:lstStyle/>
          <a:p>
            <a:pPr marL="0" indent="0">
              <a:buNone/>
            </a:pPr>
            <a:r>
              <a:rPr lang="en-US" sz="2200" b="1" dirty="0">
                <a:solidFill>
                  <a:srgbClr val="E91E63"/>
                </a:solidFill>
                <a:latin typeface="Georgia" pitchFamily="34" charset="0"/>
                <a:ea typeface="Georgia" pitchFamily="34" charset="-122"/>
                <a:cs typeface="Georgia" pitchFamily="34" charset="-120"/>
              </a:rPr>
              <a:t>07</a:t>
            </a:r>
            <a:endParaRPr lang="en-US" sz="2200" dirty="0"/>
          </a:p>
        </p:txBody>
      </p:sp>
      <p:sp>
        <p:nvSpPr>
          <p:cNvPr id="36" name="Text 34"/>
          <p:cNvSpPr/>
          <p:nvPr/>
        </p:nvSpPr>
        <p:spPr>
          <a:xfrm>
            <a:off x="1234440" y="4233672"/>
            <a:ext cx="2194560" cy="27432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Dashboard</a:t>
            </a:r>
            <a:endParaRPr lang="en-US" sz="1300" dirty="0"/>
          </a:p>
        </p:txBody>
      </p:sp>
      <p:sp>
        <p:nvSpPr>
          <p:cNvPr id="37" name="Text 35"/>
          <p:cNvSpPr/>
          <p:nvPr/>
        </p:nvSpPr>
        <p:spPr>
          <a:xfrm>
            <a:off x="1234440" y="4453128"/>
            <a:ext cx="4572000" cy="228600"/>
          </a:xfrm>
          <a:prstGeom prst="rect">
            <a:avLst/>
          </a:prstGeom>
          <a:noFill/>
          <a:ln/>
        </p:spPr>
        <p:txBody>
          <a:bodyPr wrap="square" rtlCol="0" anchor="ctr"/>
          <a:lstStyle/>
          <a:p>
            <a:pPr marL="0" indent="0">
              <a:buNone/>
            </a:pPr>
            <a:r>
              <a:rPr lang="en-US" sz="1000" dirty="0">
                <a:solidFill>
                  <a:srgbClr val="8089B5"/>
                </a:solidFill>
                <a:latin typeface="Calibri" pitchFamily="34" charset="0"/>
                <a:ea typeface="Calibri" pitchFamily="34" charset="-122"/>
                <a:cs typeface="Calibri" pitchFamily="34" charset="-120"/>
              </a:rPr>
              <a:t>Excel viewership dashboard</a:t>
            </a:r>
            <a:endParaRPr lang="en-US" sz="1000" dirty="0"/>
          </a:p>
        </p:txBody>
      </p:sp>
      <p:sp>
        <p:nvSpPr>
          <p:cNvPr id="38" name="Shape 36"/>
          <p:cNvSpPr/>
          <p:nvPr/>
        </p:nvSpPr>
        <p:spPr>
          <a:xfrm>
            <a:off x="6217920" y="4206240"/>
            <a:ext cx="5486400" cy="502920"/>
          </a:xfrm>
          <a:prstGeom prst="roundRect">
            <a:avLst>
              <a:gd name="adj" fmla="val 10909"/>
            </a:avLst>
          </a:prstGeom>
          <a:solidFill>
            <a:srgbClr val="111738"/>
          </a:solidFill>
          <a:ln w="12700">
            <a:solidFill>
              <a:srgbClr val="2A3160"/>
            </a:solidFill>
            <a:prstDash val="solid"/>
          </a:ln>
        </p:spPr>
      </p:sp>
      <p:sp>
        <p:nvSpPr>
          <p:cNvPr id="39" name="Text 37"/>
          <p:cNvSpPr/>
          <p:nvPr/>
        </p:nvSpPr>
        <p:spPr>
          <a:xfrm>
            <a:off x="6355080" y="4251960"/>
            <a:ext cx="548640" cy="411480"/>
          </a:xfrm>
          <a:prstGeom prst="rect">
            <a:avLst/>
          </a:prstGeom>
          <a:noFill/>
          <a:ln/>
        </p:spPr>
        <p:txBody>
          <a:bodyPr wrap="square" rtlCol="0" anchor="ctr"/>
          <a:lstStyle/>
          <a:p>
            <a:pPr marL="0" indent="0">
              <a:buNone/>
            </a:pPr>
            <a:r>
              <a:rPr lang="en-US" sz="2200" b="1" dirty="0">
                <a:solidFill>
                  <a:srgbClr val="E91E63"/>
                </a:solidFill>
                <a:latin typeface="Georgia" pitchFamily="34" charset="0"/>
                <a:ea typeface="Georgia" pitchFamily="34" charset="-122"/>
                <a:cs typeface="Georgia" pitchFamily="34" charset="-120"/>
              </a:rPr>
              <a:t>08</a:t>
            </a:r>
            <a:endParaRPr lang="en-US" sz="2200" dirty="0"/>
          </a:p>
        </p:txBody>
      </p:sp>
      <p:sp>
        <p:nvSpPr>
          <p:cNvPr id="40" name="Text 38"/>
          <p:cNvSpPr/>
          <p:nvPr/>
        </p:nvSpPr>
        <p:spPr>
          <a:xfrm>
            <a:off x="6995160" y="4233672"/>
            <a:ext cx="2194560" cy="27432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Recommendations</a:t>
            </a:r>
            <a:endParaRPr lang="en-US" sz="1300" dirty="0"/>
          </a:p>
        </p:txBody>
      </p:sp>
      <p:sp>
        <p:nvSpPr>
          <p:cNvPr id="41" name="Text 39"/>
          <p:cNvSpPr/>
          <p:nvPr/>
        </p:nvSpPr>
        <p:spPr>
          <a:xfrm>
            <a:off x="6995160" y="4453128"/>
            <a:ext cx="4572000" cy="228600"/>
          </a:xfrm>
          <a:prstGeom prst="rect">
            <a:avLst/>
          </a:prstGeom>
          <a:noFill/>
          <a:ln/>
        </p:spPr>
        <p:txBody>
          <a:bodyPr wrap="square" rtlCol="0" anchor="ctr"/>
          <a:lstStyle/>
          <a:p>
            <a:pPr marL="0" indent="0">
              <a:buNone/>
            </a:pPr>
            <a:r>
              <a:rPr lang="en-US" sz="1000" dirty="0">
                <a:solidFill>
                  <a:srgbClr val="8089B5"/>
                </a:solidFill>
                <a:latin typeface="Calibri" pitchFamily="34" charset="0"/>
                <a:ea typeface="Calibri" pitchFamily="34" charset="-122"/>
                <a:cs typeface="Calibri" pitchFamily="34" charset="-120"/>
              </a:rPr>
              <a:t>Initiatives to grow the base</a:t>
            </a:r>
            <a:endParaRPr lang="en-US" sz="1000"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0E27"/>
        </a:solidFill>
        <a:effectLst/>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E91E63"/>
          </a:solidFill>
          <a:ln w="12700">
            <a:solidFill>
              <a:srgbClr val="E91E63"/>
            </a:solidFill>
            <a:prstDash val="solid"/>
          </a:ln>
        </p:spPr>
      </p:sp>
      <p:sp>
        <p:nvSpPr>
          <p:cNvPr id="3" name="Text 1"/>
          <p:cNvSpPr/>
          <p:nvPr/>
        </p:nvSpPr>
        <p:spPr>
          <a:xfrm>
            <a:off x="457200" y="256032"/>
            <a:ext cx="7315200" cy="274320"/>
          </a:xfrm>
          <a:prstGeom prst="rect">
            <a:avLst/>
          </a:prstGeom>
          <a:noFill/>
          <a:ln/>
        </p:spPr>
        <p:txBody>
          <a:bodyPr wrap="square" rtlCol="0" anchor="ctr"/>
          <a:lstStyle/>
          <a:p>
            <a:pPr marL="0" indent="0">
              <a:buNone/>
            </a:pPr>
            <a:r>
              <a:rPr lang="en-US" sz="900" b="1" kern="0" spc="400" dirty="0">
                <a:solidFill>
                  <a:srgbClr val="8089B5"/>
                </a:solidFill>
                <a:latin typeface="Calibri" pitchFamily="34" charset="0"/>
                <a:ea typeface="Calibri" pitchFamily="34" charset="-122"/>
                <a:cs typeface="Calibri" pitchFamily="34" charset="-120"/>
              </a:rPr>
              <a:t>BRIGHT TV  ·  VIEWERSHIP PROJECT</a:t>
            </a:r>
            <a:endParaRPr lang="en-US" sz="900" dirty="0"/>
          </a:p>
        </p:txBody>
      </p:sp>
      <p:sp>
        <p:nvSpPr>
          <p:cNvPr id="4" name="Text 2"/>
          <p:cNvSpPr/>
          <p:nvPr/>
        </p:nvSpPr>
        <p:spPr>
          <a:xfrm>
            <a:off x="10515600" y="256032"/>
            <a:ext cx="1280160" cy="274320"/>
          </a:xfrm>
          <a:prstGeom prst="rect">
            <a:avLst/>
          </a:prstGeom>
          <a:noFill/>
          <a:ln/>
        </p:spPr>
        <p:txBody>
          <a:bodyPr wrap="square" rtlCol="0" anchor="ctr"/>
          <a:lstStyle/>
          <a:p>
            <a:pPr marL="0" indent="0" algn="r">
              <a:buNone/>
            </a:pPr>
            <a:r>
              <a:rPr lang="en-US" sz="900" kern="0" spc="200" dirty="0">
                <a:solidFill>
                  <a:srgbClr val="8089B5"/>
                </a:solidFill>
                <a:latin typeface="Calibri" pitchFamily="34" charset="0"/>
                <a:ea typeface="Calibri" pitchFamily="34" charset="-122"/>
                <a:cs typeface="Calibri" pitchFamily="34" charset="-120"/>
              </a:rPr>
              <a:t>03 / 09</a:t>
            </a:r>
            <a:endParaRPr lang="en-US" sz="900" dirty="0"/>
          </a:p>
        </p:txBody>
      </p:sp>
      <p:sp>
        <p:nvSpPr>
          <p:cNvPr id="5" name="Text 3"/>
          <p:cNvSpPr/>
          <p:nvPr/>
        </p:nvSpPr>
        <p:spPr>
          <a:xfrm>
            <a:off x="457200" y="6537960"/>
            <a:ext cx="7315200" cy="228600"/>
          </a:xfrm>
          <a:prstGeom prst="rect">
            <a:avLst/>
          </a:prstGeom>
          <a:noFill/>
          <a:ln/>
        </p:spPr>
        <p:txBody>
          <a:bodyPr wrap="square" rtlCol="0" anchor="ctr"/>
          <a:lstStyle/>
          <a:p>
            <a:pPr marL="0" indent="0">
              <a:buNone/>
            </a:pPr>
            <a:r>
              <a:rPr lang="en-US" sz="800" dirty="0">
                <a:solidFill>
                  <a:srgbClr val="8089B5"/>
                </a:solidFill>
                <a:latin typeface="Calibri" pitchFamily="34" charset="0"/>
                <a:ea typeface="Calibri" pitchFamily="34" charset="-122"/>
                <a:cs typeface="Calibri" pitchFamily="34" charset="-120"/>
              </a:rPr>
              <a:t>Ennove Analytics  ·  Innocent Mphahlele</a:t>
            </a:r>
            <a:endParaRPr lang="en-US" sz="800" dirty="0"/>
          </a:p>
        </p:txBody>
      </p:sp>
      <p:sp>
        <p:nvSpPr>
          <p:cNvPr id="6" name="Text 4"/>
          <p:cNvSpPr/>
          <p:nvPr/>
        </p:nvSpPr>
        <p:spPr>
          <a:xfrm>
            <a:off x="457200" y="594360"/>
            <a:ext cx="11247120" cy="640080"/>
          </a:xfrm>
          <a:prstGeom prst="rect">
            <a:avLst/>
          </a:prstGeom>
          <a:noFill/>
          <a:ln/>
        </p:spPr>
        <p:txBody>
          <a:bodyPr wrap="square" rtlCol="0" anchor="ctr"/>
          <a:lstStyle/>
          <a:p>
            <a:pPr marL="0" indent="0">
              <a:buNone/>
            </a:pPr>
            <a:r>
              <a:rPr lang="en-US" sz="3200" b="1" dirty="0">
                <a:solidFill>
                  <a:srgbClr val="FFFFFF"/>
                </a:solidFill>
                <a:latin typeface="Georgia" pitchFamily="34" charset="0"/>
                <a:ea typeface="Georgia" pitchFamily="34" charset="-122"/>
                <a:cs typeface="Georgia" pitchFamily="34" charset="-120"/>
              </a:rPr>
              <a:t>Introduction</a:t>
            </a:r>
            <a:endParaRPr lang="en-US" sz="3200" dirty="0"/>
          </a:p>
        </p:txBody>
      </p:sp>
      <p:sp>
        <p:nvSpPr>
          <p:cNvPr id="7" name="Text 5"/>
          <p:cNvSpPr/>
          <p:nvPr/>
        </p:nvSpPr>
        <p:spPr>
          <a:xfrm>
            <a:off x="457200" y="1188720"/>
            <a:ext cx="11247120" cy="320040"/>
          </a:xfrm>
          <a:prstGeom prst="rect">
            <a:avLst/>
          </a:prstGeom>
          <a:noFill/>
          <a:ln/>
        </p:spPr>
        <p:txBody>
          <a:bodyPr wrap="square" rtlCol="0" anchor="ctr"/>
          <a:lstStyle/>
          <a:p>
            <a:pPr marL="0" indent="0">
              <a:buNone/>
            </a:pPr>
            <a:r>
              <a:rPr lang="en-US" sz="1300" i="1" dirty="0">
                <a:solidFill>
                  <a:srgbClr val="8089B5"/>
                </a:solidFill>
                <a:latin typeface="Calibri" pitchFamily="34" charset="0"/>
                <a:ea typeface="Calibri" pitchFamily="34" charset="-122"/>
                <a:cs typeface="Calibri" pitchFamily="34" charset="-120"/>
              </a:rPr>
              <a:t>The CEO has a clear ask — and a clear deadline</a:t>
            </a:r>
            <a:endParaRPr lang="en-US" sz="1300" dirty="0"/>
          </a:p>
        </p:txBody>
      </p:sp>
      <p:sp>
        <p:nvSpPr>
          <p:cNvPr id="8" name="Shape 6"/>
          <p:cNvSpPr/>
          <p:nvPr/>
        </p:nvSpPr>
        <p:spPr>
          <a:xfrm>
            <a:off x="457200" y="1627632"/>
            <a:ext cx="109728" cy="109728"/>
          </a:xfrm>
          <a:prstGeom prst="ellipse">
            <a:avLst/>
          </a:prstGeom>
          <a:solidFill>
            <a:srgbClr val="E91E63"/>
          </a:solidFill>
          <a:ln w="12700">
            <a:solidFill>
              <a:srgbClr val="E91E63"/>
            </a:solidFill>
            <a:prstDash val="solid"/>
          </a:ln>
        </p:spPr>
      </p:sp>
      <p:sp>
        <p:nvSpPr>
          <p:cNvPr id="9" name="Shape 7"/>
          <p:cNvSpPr/>
          <p:nvPr/>
        </p:nvSpPr>
        <p:spPr>
          <a:xfrm>
            <a:off x="640080" y="1673352"/>
            <a:ext cx="548640" cy="18288"/>
          </a:xfrm>
          <a:prstGeom prst="rect">
            <a:avLst/>
          </a:prstGeom>
          <a:solidFill>
            <a:srgbClr val="E91E63"/>
          </a:solidFill>
          <a:ln w="12700">
            <a:solidFill>
              <a:srgbClr val="E91E63"/>
            </a:solidFill>
            <a:prstDash val="solid"/>
          </a:ln>
        </p:spPr>
      </p:sp>
      <p:sp>
        <p:nvSpPr>
          <p:cNvPr id="10" name="Shape 8"/>
          <p:cNvSpPr/>
          <p:nvPr/>
        </p:nvSpPr>
        <p:spPr>
          <a:xfrm>
            <a:off x="457200" y="1920240"/>
            <a:ext cx="5486400" cy="4206240"/>
          </a:xfrm>
          <a:prstGeom prst="roundRect">
            <a:avLst>
              <a:gd name="adj" fmla="val 2174"/>
            </a:avLst>
          </a:prstGeom>
          <a:solidFill>
            <a:srgbClr val="111738"/>
          </a:solidFill>
          <a:ln w="12700">
            <a:solidFill>
              <a:srgbClr val="2A3160"/>
            </a:solidFill>
            <a:prstDash val="solid"/>
          </a:ln>
        </p:spPr>
      </p:sp>
      <p:sp>
        <p:nvSpPr>
          <p:cNvPr id="11" name="Text 9"/>
          <p:cNvSpPr/>
          <p:nvPr/>
        </p:nvSpPr>
        <p:spPr>
          <a:xfrm>
            <a:off x="594360" y="1874520"/>
            <a:ext cx="914400" cy="914400"/>
          </a:xfrm>
          <a:prstGeom prst="rect">
            <a:avLst/>
          </a:prstGeom>
          <a:noFill/>
          <a:ln/>
        </p:spPr>
        <p:txBody>
          <a:bodyPr wrap="square" rtlCol="0" anchor="ctr"/>
          <a:lstStyle/>
          <a:p>
            <a:pPr marL="0" indent="0">
              <a:buNone/>
            </a:pPr>
            <a:r>
              <a:rPr lang="en-US" sz="8000" b="1" dirty="0">
                <a:solidFill>
                  <a:srgbClr val="E91E63"/>
                </a:solidFill>
                <a:latin typeface="Georgia" pitchFamily="34" charset="0"/>
                <a:ea typeface="Georgia" pitchFamily="34" charset="-122"/>
                <a:cs typeface="Georgia" pitchFamily="34" charset="-120"/>
              </a:rPr>
              <a:t>“</a:t>
            </a:r>
            <a:endParaRPr lang="en-US" sz="8000" dirty="0"/>
          </a:p>
        </p:txBody>
      </p:sp>
      <p:sp>
        <p:nvSpPr>
          <p:cNvPr id="12" name="Text 10"/>
          <p:cNvSpPr/>
          <p:nvPr/>
        </p:nvSpPr>
        <p:spPr>
          <a:xfrm>
            <a:off x="731520" y="2743200"/>
            <a:ext cx="4937760" cy="2286000"/>
          </a:xfrm>
          <a:prstGeom prst="rect">
            <a:avLst/>
          </a:prstGeom>
          <a:noFill/>
          <a:ln/>
        </p:spPr>
        <p:txBody>
          <a:bodyPr wrap="square" rtlCol="0" anchor="ctr"/>
          <a:lstStyle/>
          <a:p>
            <a:pPr marL="0" indent="0">
              <a:buNone/>
            </a:pPr>
            <a:r>
              <a:rPr lang="en-US" sz="1400" i="1" dirty="0">
                <a:solidFill>
                  <a:srgbClr val="C8CDE8"/>
                </a:solidFill>
                <a:latin typeface="Calibri" pitchFamily="34" charset="0"/>
                <a:ea typeface="Calibri" pitchFamily="34" charset="-122"/>
                <a:cs typeface="Calibri" pitchFamily="34" charset="-120"/>
              </a:rPr>
              <a:t>Bright TV's CEO wants to grow the subscription base this financial year. He has approached the analytics team to provide insights that will help CVM (Customer Value Management) hit the target.</a:t>
            </a:r>
            <a:endParaRPr lang="en-US" sz="1400" dirty="0"/>
          </a:p>
        </p:txBody>
      </p:sp>
      <p:sp>
        <p:nvSpPr>
          <p:cNvPr id="13" name="Text 11"/>
          <p:cNvSpPr/>
          <p:nvPr/>
        </p:nvSpPr>
        <p:spPr>
          <a:xfrm>
            <a:off x="731520" y="5577840"/>
            <a:ext cx="4937760" cy="274320"/>
          </a:xfrm>
          <a:prstGeom prst="rect">
            <a:avLst/>
          </a:prstGeom>
          <a:noFill/>
          <a:ln/>
        </p:spPr>
        <p:txBody>
          <a:bodyPr wrap="square" rtlCol="0" anchor="ctr"/>
          <a:lstStyle/>
          <a:p>
            <a:pPr marL="0" indent="0">
              <a:buNone/>
            </a:pPr>
            <a:r>
              <a:rPr lang="en-US" sz="1100" b="1" dirty="0">
                <a:solidFill>
                  <a:srgbClr val="F0A500"/>
                </a:solidFill>
                <a:latin typeface="Calibri" pitchFamily="34" charset="0"/>
                <a:ea typeface="Calibri" pitchFamily="34" charset="-122"/>
                <a:cs typeface="Calibri" pitchFamily="34" charset="-120"/>
              </a:rPr>
              <a:t>— CEO, Bright TV</a:t>
            </a:r>
            <a:endParaRPr lang="en-US" sz="1100" dirty="0"/>
          </a:p>
        </p:txBody>
      </p:sp>
      <p:sp>
        <p:nvSpPr>
          <p:cNvPr id="14" name="Text 12"/>
          <p:cNvSpPr/>
          <p:nvPr/>
        </p:nvSpPr>
        <p:spPr>
          <a:xfrm>
            <a:off x="6309360" y="1920240"/>
            <a:ext cx="5486400" cy="274320"/>
          </a:xfrm>
          <a:prstGeom prst="rect">
            <a:avLst/>
          </a:prstGeom>
          <a:noFill/>
          <a:ln/>
        </p:spPr>
        <p:txBody>
          <a:bodyPr wrap="square" rtlCol="0" anchor="ctr"/>
          <a:lstStyle/>
          <a:p>
            <a:pPr marL="0" indent="0">
              <a:buNone/>
            </a:pPr>
            <a:r>
              <a:rPr lang="en-US" sz="1000" b="1" kern="0" spc="400" dirty="0">
                <a:solidFill>
                  <a:srgbClr val="F0A500"/>
                </a:solidFill>
                <a:latin typeface="Calibri" pitchFamily="34" charset="0"/>
                <a:ea typeface="Calibri" pitchFamily="34" charset="-122"/>
                <a:cs typeface="Calibri" pitchFamily="34" charset="-120"/>
              </a:rPr>
              <a:t>INSIGHTS WE MUST DELIVER</a:t>
            </a:r>
            <a:endParaRPr lang="en-US" sz="1000" dirty="0"/>
          </a:p>
        </p:txBody>
      </p:sp>
      <p:sp>
        <p:nvSpPr>
          <p:cNvPr id="15" name="Shape 13"/>
          <p:cNvSpPr/>
          <p:nvPr/>
        </p:nvSpPr>
        <p:spPr>
          <a:xfrm>
            <a:off x="6309360" y="2286000"/>
            <a:ext cx="5486400" cy="868680"/>
          </a:xfrm>
          <a:prstGeom prst="roundRect">
            <a:avLst>
              <a:gd name="adj" fmla="val 6316"/>
            </a:avLst>
          </a:prstGeom>
          <a:solidFill>
            <a:srgbClr val="111738"/>
          </a:solidFill>
          <a:ln w="12700">
            <a:solidFill>
              <a:srgbClr val="2A3160"/>
            </a:solidFill>
            <a:prstDash val="solid"/>
          </a:ln>
        </p:spPr>
      </p:sp>
      <p:sp>
        <p:nvSpPr>
          <p:cNvPr id="16" name="Shape 14"/>
          <p:cNvSpPr/>
          <p:nvPr/>
        </p:nvSpPr>
        <p:spPr>
          <a:xfrm>
            <a:off x="6446520" y="2487168"/>
            <a:ext cx="457200" cy="457200"/>
          </a:xfrm>
          <a:prstGeom prst="ellipse">
            <a:avLst/>
          </a:prstGeom>
          <a:solidFill>
            <a:srgbClr val="E91E63"/>
          </a:solidFill>
          <a:ln w="12700">
            <a:solidFill>
              <a:srgbClr val="E91E63"/>
            </a:solidFill>
            <a:prstDash val="solid"/>
          </a:ln>
        </p:spPr>
      </p:sp>
      <p:sp>
        <p:nvSpPr>
          <p:cNvPr id="17" name="Text 15"/>
          <p:cNvSpPr/>
          <p:nvPr/>
        </p:nvSpPr>
        <p:spPr>
          <a:xfrm>
            <a:off x="6446520" y="2487168"/>
            <a:ext cx="457200" cy="457200"/>
          </a:xfrm>
          <a:prstGeom prst="rect">
            <a:avLst/>
          </a:prstGeom>
          <a:noFill/>
          <a:ln/>
        </p:spPr>
        <p:txBody>
          <a:bodyPr wrap="square" rtlCol="0" anchor="ctr"/>
          <a:lstStyle/>
          <a:p>
            <a:pPr marL="0" indent="0" algn="ctr">
              <a:buNone/>
            </a:pPr>
            <a:r>
              <a:rPr lang="en-US" sz="1400" b="1" dirty="0">
                <a:solidFill>
                  <a:srgbClr val="FFFFFF"/>
                </a:solidFill>
                <a:latin typeface="Georgia" pitchFamily="34" charset="0"/>
                <a:ea typeface="Georgia" pitchFamily="34" charset="-122"/>
                <a:cs typeface="Georgia" pitchFamily="34" charset="-120"/>
              </a:rPr>
              <a:t>01</a:t>
            </a:r>
            <a:endParaRPr lang="en-US" sz="1400" dirty="0"/>
          </a:p>
        </p:txBody>
      </p:sp>
      <p:sp>
        <p:nvSpPr>
          <p:cNvPr id="18" name="Text 16"/>
          <p:cNvSpPr/>
          <p:nvPr/>
        </p:nvSpPr>
        <p:spPr>
          <a:xfrm>
            <a:off x="7040880" y="2377440"/>
            <a:ext cx="4663440" cy="32004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User &amp; usage trends</a:t>
            </a:r>
            <a:endParaRPr lang="en-US" sz="1300" dirty="0"/>
          </a:p>
        </p:txBody>
      </p:sp>
      <p:sp>
        <p:nvSpPr>
          <p:cNvPr id="19" name="Text 17"/>
          <p:cNvSpPr/>
          <p:nvPr/>
        </p:nvSpPr>
        <p:spPr>
          <a:xfrm>
            <a:off x="7040880" y="2697480"/>
            <a:ext cx="4663440" cy="365760"/>
          </a:xfrm>
          <a:prstGeom prst="rect">
            <a:avLst/>
          </a:prstGeom>
          <a:noFill/>
          <a:ln/>
        </p:spPr>
        <p:txBody>
          <a:bodyPr wrap="square" rtlCol="0" anchor="ctr"/>
          <a:lstStyle/>
          <a:p>
            <a:pPr marL="0" indent="0">
              <a:buNone/>
            </a:pPr>
            <a:r>
              <a:rPr lang="en-US" sz="1100" dirty="0">
                <a:solidFill>
                  <a:srgbClr val="8089B5"/>
                </a:solidFill>
                <a:latin typeface="Calibri" pitchFamily="34" charset="0"/>
                <a:ea typeface="Calibri" pitchFamily="34" charset="-122"/>
                <a:cs typeface="Calibri" pitchFamily="34" charset="-120"/>
              </a:rPr>
              <a:t>Who watches, when, and how much.</a:t>
            </a:r>
            <a:endParaRPr lang="en-US" sz="1100" dirty="0"/>
          </a:p>
        </p:txBody>
      </p:sp>
      <p:sp>
        <p:nvSpPr>
          <p:cNvPr id="20" name="Shape 18"/>
          <p:cNvSpPr/>
          <p:nvPr/>
        </p:nvSpPr>
        <p:spPr>
          <a:xfrm>
            <a:off x="6309360" y="3246120"/>
            <a:ext cx="5486400" cy="868680"/>
          </a:xfrm>
          <a:prstGeom prst="roundRect">
            <a:avLst>
              <a:gd name="adj" fmla="val 6316"/>
            </a:avLst>
          </a:prstGeom>
          <a:solidFill>
            <a:srgbClr val="111738"/>
          </a:solidFill>
          <a:ln w="12700">
            <a:solidFill>
              <a:srgbClr val="2A3160"/>
            </a:solidFill>
            <a:prstDash val="solid"/>
          </a:ln>
        </p:spPr>
      </p:sp>
      <p:sp>
        <p:nvSpPr>
          <p:cNvPr id="21" name="Shape 19"/>
          <p:cNvSpPr/>
          <p:nvPr/>
        </p:nvSpPr>
        <p:spPr>
          <a:xfrm>
            <a:off x="6446520" y="3447288"/>
            <a:ext cx="457200" cy="457200"/>
          </a:xfrm>
          <a:prstGeom prst="ellipse">
            <a:avLst/>
          </a:prstGeom>
          <a:solidFill>
            <a:srgbClr val="E91E63"/>
          </a:solidFill>
          <a:ln w="12700">
            <a:solidFill>
              <a:srgbClr val="E91E63"/>
            </a:solidFill>
            <a:prstDash val="solid"/>
          </a:ln>
        </p:spPr>
      </p:sp>
      <p:sp>
        <p:nvSpPr>
          <p:cNvPr id="22" name="Text 20"/>
          <p:cNvSpPr/>
          <p:nvPr/>
        </p:nvSpPr>
        <p:spPr>
          <a:xfrm>
            <a:off x="6446520" y="3447288"/>
            <a:ext cx="457200" cy="457200"/>
          </a:xfrm>
          <a:prstGeom prst="rect">
            <a:avLst/>
          </a:prstGeom>
          <a:noFill/>
          <a:ln/>
        </p:spPr>
        <p:txBody>
          <a:bodyPr wrap="square" rtlCol="0" anchor="ctr"/>
          <a:lstStyle/>
          <a:p>
            <a:pPr marL="0" indent="0" algn="ctr">
              <a:buNone/>
            </a:pPr>
            <a:r>
              <a:rPr lang="en-US" sz="1400" b="1" dirty="0">
                <a:solidFill>
                  <a:srgbClr val="FFFFFF"/>
                </a:solidFill>
                <a:latin typeface="Georgia" pitchFamily="34" charset="0"/>
                <a:ea typeface="Georgia" pitchFamily="34" charset="-122"/>
                <a:cs typeface="Georgia" pitchFamily="34" charset="-120"/>
              </a:rPr>
              <a:t>02</a:t>
            </a:r>
            <a:endParaRPr lang="en-US" sz="1400" dirty="0"/>
          </a:p>
        </p:txBody>
      </p:sp>
      <p:sp>
        <p:nvSpPr>
          <p:cNvPr id="23" name="Text 21"/>
          <p:cNvSpPr/>
          <p:nvPr/>
        </p:nvSpPr>
        <p:spPr>
          <a:xfrm>
            <a:off x="7040880" y="3337560"/>
            <a:ext cx="4663440" cy="32004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Drivers of consumption</a:t>
            </a:r>
            <a:endParaRPr lang="en-US" sz="1300" dirty="0"/>
          </a:p>
        </p:txBody>
      </p:sp>
      <p:sp>
        <p:nvSpPr>
          <p:cNvPr id="24" name="Text 22"/>
          <p:cNvSpPr/>
          <p:nvPr/>
        </p:nvSpPr>
        <p:spPr>
          <a:xfrm>
            <a:off x="7040880" y="3657600"/>
            <a:ext cx="4663440" cy="365760"/>
          </a:xfrm>
          <a:prstGeom prst="rect">
            <a:avLst/>
          </a:prstGeom>
          <a:noFill/>
          <a:ln/>
        </p:spPr>
        <p:txBody>
          <a:bodyPr wrap="square" rtlCol="0" anchor="ctr"/>
          <a:lstStyle/>
          <a:p>
            <a:pPr marL="0" indent="0">
              <a:buNone/>
            </a:pPr>
            <a:r>
              <a:rPr lang="en-US" sz="1100" dirty="0">
                <a:solidFill>
                  <a:srgbClr val="8089B5"/>
                </a:solidFill>
                <a:latin typeface="Calibri" pitchFamily="34" charset="0"/>
                <a:ea typeface="Calibri" pitchFamily="34" charset="-122"/>
                <a:cs typeface="Calibri" pitchFamily="34" charset="-120"/>
              </a:rPr>
              <a:t>What factors influence viewing behaviour.</a:t>
            </a:r>
            <a:endParaRPr lang="en-US" sz="1100" dirty="0"/>
          </a:p>
        </p:txBody>
      </p:sp>
      <p:sp>
        <p:nvSpPr>
          <p:cNvPr id="25" name="Shape 23"/>
          <p:cNvSpPr/>
          <p:nvPr/>
        </p:nvSpPr>
        <p:spPr>
          <a:xfrm>
            <a:off x="6309360" y="4206240"/>
            <a:ext cx="5486400" cy="868680"/>
          </a:xfrm>
          <a:prstGeom prst="roundRect">
            <a:avLst>
              <a:gd name="adj" fmla="val 6316"/>
            </a:avLst>
          </a:prstGeom>
          <a:solidFill>
            <a:srgbClr val="111738"/>
          </a:solidFill>
          <a:ln w="12700">
            <a:solidFill>
              <a:srgbClr val="2A3160"/>
            </a:solidFill>
            <a:prstDash val="solid"/>
          </a:ln>
        </p:spPr>
      </p:sp>
      <p:sp>
        <p:nvSpPr>
          <p:cNvPr id="26" name="Shape 24"/>
          <p:cNvSpPr/>
          <p:nvPr/>
        </p:nvSpPr>
        <p:spPr>
          <a:xfrm>
            <a:off x="6446520" y="4407408"/>
            <a:ext cx="457200" cy="457200"/>
          </a:xfrm>
          <a:prstGeom prst="ellipse">
            <a:avLst/>
          </a:prstGeom>
          <a:solidFill>
            <a:srgbClr val="E91E63"/>
          </a:solidFill>
          <a:ln w="12700">
            <a:solidFill>
              <a:srgbClr val="E91E63"/>
            </a:solidFill>
            <a:prstDash val="solid"/>
          </a:ln>
        </p:spPr>
      </p:sp>
      <p:sp>
        <p:nvSpPr>
          <p:cNvPr id="27" name="Text 25"/>
          <p:cNvSpPr/>
          <p:nvPr/>
        </p:nvSpPr>
        <p:spPr>
          <a:xfrm>
            <a:off x="6446520" y="4407408"/>
            <a:ext cx="457200" cy="457200"/>
          </a:xfrm>
          <a:prstGeom prst="rect">
            <a:avLst/>
          </a:prstGeom>
          <a:noFill/>
          <a:ln/>
        </p:spPr>
        <p:txBody>
          <a:bodyPr wrap="square" rtlCol="0" anchor="ctr"/>
          <a:lstStyle/>
          <a:p>
            <a:pPr marL="0" indent="0" algn="ctr">
              <a:buNone/>
            </a:pPr>
            <a:r>
              <a:rPr lang="en-US" sz="1400" b="1" dirty="0">
                <a:solidFill>
                  <a:srgbClr val="FFFFFF"/>
                </a:solidFill>
                <a:latin typeface="Georgia" pitchFamily="34" charset="0"/>
                <a:ea typeface="Georgia" pitchFamily="34" charset="-122"/>
                <a:cs typeface="Georgia" pitchFamily="34" charset="-120"/>
              </a:rPr>
              <a:t>03</a:t>
            </a:r>
            <a:endParaRPr lang="en-US" sz="1400" dirty="0"/>
          </a:p>
        </p:txBody>
      </p:sp>
      <p:sp>
        <p:nvSpPr>
          <p:cNvPr id="28" name="Text 26"/>
          <p:cNvSpPr/>
          <p:nvPr/>
        </p:nvSpPr>
        <p:spPr>
          <a:xfrm>
            <a:off x="7040880" y="4297680"/>
            <a:ext cx="4663440" cy="32004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Content for low days</a:t>
            </a:r>
            <a:endParaRPr lang="en-US" sz="1300" dirty="0"/>
          </a:p>
        </p:txBody>
      </p:sp>
      <p:sp>
        <p:nvSpPr>
          <p:cNvPr id="29" name="Text 27"/>
          <p:cNvSpPr/>
          <p:nvPr/>
        </p:nvSpPr>
        <p:spPr>
          <a:xfrm>
            <a:off x="7040880" y="4617720"/>
            <a:ext cx="4663440" cy="365760"/>
          </a:xfrm>
          <a:prstGeom prst="rect">
            <a:avLst/>
          </a:prstGeom>
          <a:noFill/>
          <a:ln/>
        </p:spPr>
        <p:txBody>
          <a:bodyPr wrap="square" rtlCol="0" anchor="ctr"/>
          <a:lstStyle/>
          <a:p>
            <a:pPr marL="0" indent="0">
              <a:buNone/>
            </a:pPr>
            <a:r>
              <a:rPr lang="en-US" sz="1100" dirty="0">
                <a:solidFill>
                  <a:srgbClr val="8089B5"/>
                </a:solidFill>
                <a:latin typeface="Calibri" pitchFamily="34" charset="0"/>
                <a:ea typeface="Calibri" pitchFamily="34" charset="-122"/>
                <a:cs typeface="Calibri" pitchFamily="34" charset="-120"/>
              </a:rPr>
              <a:t>What to schedule on weak-demand days.</a:t>
            </a:r>
            <a:endParaRPr lang="en-US" sz="1100" dirty="0"/>
          </a:p>
        </p:txBody>
      </p:sp>
      <p:sp>
        <p:nvSpPr>
          <p:cNvPr id="30" name="Shape 28"/>
          <p:cNvSpPr/>
          <p:nvPr/>
        </p:nvSpPr>
        <p:spPr>
          <a:xfrm>
            <a:off x="6309360" y="5166360"/>
            <a:ext cx="5486400" cy="868680"/>
          </a:xfrm>
          <a:prstGeom prst="roundRect">
            <a:avLst>
              <a:gd name="adj" fmla="val 6316"/>
            </a:avLst>
          </a:prstGeom>
          <a:solidFill>
            <a:srgbClr val="111738"/>
          </a:solidFill>
          <a:ln w="12700">
            <a:solidFill>
              <a:srgbClr val="2A3160"/>
            </a:solidFill>
            <a:prstDash val="solid"/>
          </a:ln>
        </p:spPr>
      </p:sp>
      <p:sp>
        <p:nvSpPr>
          <p:cNvPr id="31" name="Shape 29"/>
          <p:cNvSpPr/>
          <p:nvPr/>
        </p:nvSpPr>
        <p:spPr>
          <a:xfrm>
            <a:off x="6446520" y="5367528"/>
            <a:ext cx="457200" cy="457200"/>
          </a:xfrm>
          <a:prstGeom prst="ellipse">
            <a:avLst/>
          </a:prstGeom>
          <a:solidFill>
            <a:srgbClr val="E91E63"/>
          </a:solidFill>
          <a:ln w="12700">
            <a:solidFill>
              <a:srgbClr val="E91E63"/>
            </a:solidFill>
            <a:prstDash val="solid"/>
          </a:ln>
        </p:spPr>
      </p:sp>
      <p:sp>
        <p:nvSpPr>
          <p:cNvPr id="32" name="Text 30"/>
          <p:cNvSpPr/>
          <p:nvPr/>
        </p:nvSpPr>
        <p:spPr>
          <a:xfrm>
            <a:off x="6446520" y="5367528"/>
            <a:ext cx="457200" cy="457200"/>
          </a:xfrm>
          <a:prstGeom prst="rect">
            <a:avLst/>
          </a:prstGeom>
          <a:noFill/>
          <a:ln/>
        </p:spPr>
        <p:txBody>
          <a:bodyPr wrap="square" rtlCol="0" anchor="ctr"/>
          <a:lstStyle/>
          <a:p>
            <a:pPr marL="0" indent="0" algn="ctr">
              <a:buNone/>
            </a:pPr>
            <a:r>
              <a:rPr lang="en-US" sz="1400" b="1" dirty="0">
                <a:solidFill>
                  <a:srgbClr val="FFFFFF"/>
                </a:solidFill>
                <a:latin typeface="Georgia" pitchFamily="34" charset="0"/>
                <a:ea typeface="Georgia" pitchFamily="34" charset="-122"/>
                <a:cs typeface="Georgia" pitchFamily="34" charset="-120"/>
              </a:rPr>
              <a:t>04</a:t>
            </a:r>
            <a:endParaRPr lang="en-US" sz="1400" dirty="0"/>
          </a:p>
        </p:txBody>
      </p:sp>
      <p:sp>
        <p:nvSpPr>
          <p:cNvPr id="33" name="Text 31"/>
          <p:cNvSpPr/>
          <p:nvPr/>
        </p:nvSpPr>
        <p:spPr>
          <a:xfrm>
            <a:off x="7040880" y="5257800"/>
            <a:ext cx="4663440" cy="32004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Growth initiatives</a:t>
            </a:r>
            <a:endParaRPr lang="en-US" sz="1300" dirty="0"/>
          </a:p>
        </p:txBody>
      </p:sp>
      <p:sp>
        <p:nvSpPr>
          <p:cNvPr id="34" name="Text 32"/>
          <p:cNvSpPr/>
          <p:nvPr/>
        </p:nvSpPr>
        <p:spPr>
          <a:xfrm>
            <a:off x="7040880" y="5577840"/>
            <a:ext cx="4663440" cy="365760"/>
          </a:xfrm>
          <a:prstGeom prst="rect">
            <a:avLst/>
          </a:prstGeom>
          <a:noFill/>
          <a:ln/>
        </p:spPr>
        <p:txBody>
          <a:bodyPr wrap="square" rtlCol="0" anchor="ctr"/>
          <a:lstStyle/>
          <a:p>
            <a:pPr marL="0" indent="0">
              <a:buNone/>
            </a:pPr>
            <a:r>
              <a:rPr lang="en-US" sz="1100" dirty="0">
                <a:solidFill>
                  <a:srgbClr val="8089B5"/>
                </a:solidFill>
                <a:latin typeface="Calibri" pitchFamily="34" charset="0"/>
                <a:ea typeface="Calibri" pitchFamily="34" charset="-122"/>
                <a:cs typeface="Calibri" pitchFamily="34" charset="-120"/>
              </a:rPr>
              <a:t>How to expand the active user base.</a:t>
            </a:r>
            <a:endParaRPr lang="en-US" sz="1100"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0E27"/>
        </a:solidFill>
        <a:effectLst/>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E91E63"/>
          </a:solidFill>
          <a:ln w="12700">
            <a:solidFill>
              <a:srgbClr val="E91E63"/>
            </a:solidFill>
            <a:prstDash val="solid"/>
          </a:ln>
        </p:spPr>
      </p:sp>
      <p:sp>
        <p:nvSpPr>
          <p:cNvPr id="3" name="Text 1"/>
          <p:cNvSpPr/>
          <p:nvPr/>
        </p:nvSpPr>
        <p:spPr>
          <a:xfrm>
            <a:off x="457200" y="256032"/>
            <a:ext cx="7315200" cy="274320"/>
          </a:xfrm>
          <a:prstGeom prst="rect">
            <a:avLst/>
          </a:prstGeom>
          <a:noFill/>
          <a:ln/>
        </p:spPr>
        <p:txBody>
          <a:bodyPr wrap="square" rtlCol="0" anchor="ctr"/>
          <a:lstStyle/>
          <a:p>
            <a:pPr marL="0" indent="0">
              <a:buNone/>
            </a:pPr>
            <a:r>
              <a:rPr lang="en-US" sz="900" b="1" kern="0" spc="400" dirty="0">
                <a:solidFill>
                  <a:srgbClr val="8089B5"/>
                </a:solidFill>
                <a:latin typeface="Calibri" pitchFamily="34" charset="0"/>
                <a:ea typeface="Calibri" pitchFamily="34" charset="-122"/>
                <a:cs typeface="Calibri" pitchFamily="34" charset="-120"/>
              </a:rPr>
              <a:t>BRIGHT TV  ·  VIEWERSHIP PROJECT</a:t>
            </a:r>
            <a:endParaRPr lang="en-US" sz="900" dirty="0"/>
          </a:p>
        </p:txBody>
      </p:sp>
      <p:sp>
        <p:nvSpPr>
          <p:cNvPr id="4" name="Text 2"/>
          <p:cNvSpPr/>
          <p:nvPr/>
        </p:nvSpPr>
        <p:spPr>
          <a:xfrm>
            <a:off x="10515600" y="256032"/>
            <a:ext cx="1280160" cy="274320"/>
          </a:xfrm>
          <a:prstGeom prst="rect">
            <a:avLst/>
          </a:prstGeom>
          <a:noFill/>
          <a:ln/>
        </p:spPr>
        <p:txBody>
          <a:bodyPr wrap="square" rtlCol="0" anchor="ctr"/>
          <a:lstStyle/>
          <a:p>
            <a:pPr marL="0" indent="0" algn="r">
              <a:buNone/>
            </a:pPr>
            <a:r>
              <a:rPr lang="en-US" sz="900" kern="0" spc="200" dirty="0">
                <a:solidFill>
                  <a:srgbClr val="8089B5"/>
                </a:solidFill>
                <a:latin typeface="Calibri" pitchFamily="34" charset="0"/>
                <a:ea typeface="Calibri" pitchFamily="34" charset="-122"/>
                <a:cs typeface="Calibri" pitchFamily="34" charset="-120"/>
              </a:rPr>
              <a:t>04 / 09</a:t>
            </a:r>
            <a:endParaRPr lang="en-US" sz="900" dirty="0"/>
          </a:p>
        </p:txBody>
      </p:sp>
      <p:sp>
        <p:nvSpPr>
          <p:cNvPr id="5" name="Text 3"/>
          <p:cNvSpPr/>
          <p:nvPr/>
        </p:nvSpPr>
        <p:spPr>
          <a:xfrm>
            <a:off x="457200" y="6537960"/>
            <a:ext cx="7315200" cy="228600"/>
          </a:xfrm>
          <a:prstGeom prst="rect">
            <a:avLst/>
          </a:prstGeom>
          <a:noFill/>
          <a:ln/>
        </p:spPr>
        <p:txBody>
          <a:bodyPr wrap="square" rtlCol="0" anchor="ctr"/>
          <a:lstStyle/>
          <a:p>
            <a:pPr marL="0" indent="0">
              <a:buNone/>
            </a:pPr>
            <a:r>
              <a:rPr lang="en-US" sz="800" dirty="0">
                <a:solidFill>
                  <a:srgbClr val="8089B5"/>
                </a:solidFill>
                <a:latin typeface="Calibri" pitchFamily="34" charset="0"/>
                <a:ea typeface="Calibri" pitchFamily="34" charset="-122"/>
                <a:cs typeface="Calibri" pitchFamily="34" charset="-120"/>
              </a:rPr>
              <a:t>Ennove Analytics  ·  Innocent Mphahlele</a:t>
            </a:r>
            <a:endParaRPr lang="en-US" sz="800" dirty="0"/>
          </a:p>
        </p:txBody>
      </p:sp>
      <p:sp>
        <p:nvSpPr>
          <p:cNvPr id="6" name="Text 4"/>
          <p:cNvSpPr/>
          <p:nvPr/>
        </p:nvSpPr>
        <p:spPr>
          <a:xfrm>
            <a:off x="457200" y="594360"/>
            <a:ext cx="11247120" cy="640080"/>
          </a:xfrm>
          <a:prstGeom prst="rect">
            <a:avLst/>
          </a:prstGeom>
          <a:noFill/>
          <a:ln/>
        </p:spPr>
        <p:txBody>
          <a:bodyPr wrap="square" rtlCol="0" anchor="ctr"/>
          <a:lstStyle/>
          <a:p>
            <a:pPr marL="0" indent="0">
              <a:buNone/>
            </a:pPr>
            <a:r>
              <a:rPr lang="en-US" sz="3200" b="1" dirty="0">
                <a:solidFill>
                  <a:srgbClr val="FFFFFF"/>
                </a:solidFill>
                <a:latin typeface="Georgia" pitchFamily="34" charset="0"/>
                <a:ea typeface="Georgia" pitchFamily="34" charset="-122"/>
                <a:cs typeface="Georgia" pitchFamily="34" charset="-120"/>
              </a:rPr>
              <a:t>Project Architecture</a:t>
            </a:r>
            <a:endParaRPr lang="en-US" sz="3200" dirty="0"/>
          </a:p>
        </p:txBody>
      </p:sp>
      <p:sp>
        <p:nvSpPr>
          <p:cNvPr id="7" name="Text 5"/>
          <p:cNvSpPr/>
          <p:nvPr/>
        </p:nvSpPr>
        <p:spPr>
          <a:xfrm>
            <a:off x="457200" y="1188720"/>
            <a:ext cx="11247120" cy="320040"/>
          </a:xfrm>
          <a:prstGeom prst="rect">
            <a:avLst/>
          </a:prstGeom>
          <a:noFill/>
          <a:ln/>
        </p:spPr>
        <p:txBody>
          <a:bodyPr wrap="square" rtlCol="0" anchor="ctr"/>
          <a:lstStyle/>
          <a:p>
            <a:pPr marL="0" indent="0">
              <a:buNone/>
            </a:pPr>
            <a:r>
              <a:rPr lang="en-US" sz="1300" i="1" dirty="0">
                <a:solidFill>
                  <a:srgbClr val="8089B5"/>
                </a:solidFill>
                <a:latin typeface="Calibri" pitchFamily="34" charset="0"/>
                <a:ea typeface="Calibri" pitchFamily="34" charset="-122"/>
                <a:cs typeface="Calibri" pitchFamily="34" charset="-120"/>
              </a:rPr>
              <a:t>From a CEO question to a tested, reproducible analytical pipeline</a:t>
            </a:r>
            <a:endParaRPr lang="en-US" sz="1300" dirty="0"/>
          </a:p>
        </p:txBody>
      </p:sp>
      <p:sp>
        <p:nvSpPr>
          <p:cNvPr id="8" name="Shape 6"/>
          <p:cNvSpPr/>
          <p:nvPr/>
        </p:nvSpPr>
        <p:spPr>
          <a:xfrm>
            <a:off x="457200" y="1627632"/>
            <a:ext cx="109728" cy="109728"/>
          </a:xfrm>
          <a:prstGeom prst="ellipse">
            <a:avLst/>
          </a:prstGeom>
          <a:solidFill>
            <a:srgbClr val="E91E63"/>
          </a:solidFill>
          <a:ln w="12700">
            <a:solidFill>
              <a:srgbClr val="E91E63"/>
            </a:solidFill>
            <a:prstDash val="solid"/>
          </a:ln>
        </p:spPr>
      </p:sp>
      <p:sp>
        <p:nvSpPr>
          <p:cNvPr id="9" name="Shape 7"/>
          <p:cNvSpPr/>
          <p:nvPr/>
        </p:nvSpPr>
        <p:spPr>
          <a:xfrm>
            <a:off x="640080" y="1673352"/>
            <a:ext cx="548640" cy="18288"/>
          </a:xfrm>
          <a:prstGeom prst="rect">
            <a:avLst/>
          </a:prstGeom>
          <a:solidFill>
            <a:srgbClr val="E91E63"/>
          </a:solidFill>
          <a:ln w="12700">
            <a:solidFill>
              <a:srgbClr val="E91E63"/>
            </a:solidFill>
            <a:prstDash val="solid"/>
          </a:ln>
        </p:spPr>
      </p:sp>
      <p:sp>
        <p:nvSpPr>
          <p:cNvPr id="10" name="Shape 8"/>
          <p:cNvSpPr/>
          <p:nvPr/>
        </p:nvSpPr>
        <p:spPr>
          <a:xfrm>
            <a:off x="457200" y="1920240"/>
            <a:ext cx="5669280" cy="1828800"/>
          </a:xfrm>
          <a:prstGeom prst="roundRect">
            <a:avLst>
              <a:gd name="adj" fmla="val 4000"/>
            </a:avLst>
          </a:prstGeom>
          <a:solidFill>
            <a:srgbClr val="111738"/>
          </a:solidFill>
          <a:ln w="12700">
            <a:solidFill>
              <a:srgbClr val="2A3160"/>
            </a:solidFill>
            <a:prstDash val="solid"/>
          </a:ln>
        </p:spPr>
      </p:sp>
      <p:sp>
        <p:nvSpPr>
          <p:cNvPr id="11" name="Text 9"/>
          <p:cNvSpPr/>
          <p:nvPr/>
        </p:nvSpPr>
        <p:spPr>
          <a:xfrm>
            <a:off x="640080" y="2011680"/>
            <a:ext cx="4572000" cy="274320"/>
          </a:xfrm>
          <a:prstGeom prst="rect">
            <a:avLst/>
          </a:prstGeom>
          <a:noFill/>
          <a:ln/>
        </p:spPr>
        <p:txBody>
          <a:bodyPr wrap="square" rtlCol="0" anchor="ctr"/>
          <a:lstStyle/>
          <a:p>
            <a:pPr marL="0" indent="0">
              <a:buNone/>
            </a:pPr>
            <a:r>
              <a:rPr lang="en-US" sz="1000" b="1" kern="0" spc="400" dirty="0">
                <a:solidFill>
                  <a:srgbClr val="E91E63"/>
                </a:solidFill>
                <a:latin typeface="Calibri" pitchFamily="34" charset="0"/>
                <a:ea typeface="Calibri" pitchFamily="34" charset="-122"/>
                <a:cs typeface="Calibri" pitchFamily="34" charset="-120"/>
              </a:rPr>
              <a:t>PROBLEM STATEMENT</a:t>
            </a:r>
            <a:endParaRPr lang="en-US" sz="1000" dirty="0"/>
          </a:p>
        </p:txBody>
      </p:sp>
      <p:sp>
        <p:nvSpPr>
          <p:cNvPr id="12" name="Text 10"/>
          <p:cNvSpPr/>
          <p:nvPr/>
        </p:nvSpPr>
        <p:spPr>
          <a:xfrm>
            <a:off x="640080" y="2331720"/>
            <a:ext cx="5303520" cy="1280160"/>
          </a:xfrm>
          <a:prstGeom prst="rect">
            <a:avLst/>
          </a:prstGeom>
          <a:noFill/>
          <a:ln/>
        </p:spPr>
        <p:txBody>
          <a:bodyPr wrap="square" rtlCol="0" anchor="ctr"/>
          <a:lstStyle/>
          <a:p>
            <a:pPr marL="0" indent="0">
              <a:buNone/>
            </a:pPr>
            <a:r>
              <a:rPr lang="en-US" sz="1300" dirty="0">
                <a:solidFill>
                  <a:srgbClr val="C8CDE8"/>
                </a:solidFill>
                <a:latin typeface="Calibri" pitchFamily="34" charset="0"/>
                <a:ea typeface="Calibri" pitchFamily="34" charset="-122"/>
                <a:cs typeface="Calibri" pitchFamily="34" charset="-120"/>
              </a:rPr>
              <a:t>Viewership and revenue are declining. Leadership needs a clear, evidence-based explanation — and a path to reverse the trend.</a:t>
            </a:r>
            <a:endParaRPr lang="en-US" sz="1300" dirty="0"/>
          </a:p>
        </p:txBody>
      </p:sp>
      <p:sp>
        <p:nvSpPr>
          <p:cNvPr id="13" name="Shape 11"/>
          <p:cNvSpPr/>
          <p:nvPr/>
        </p:nvSpPr>
        <p:spPr>
          <a:xfrm>
            <a:off x="457200" y="3886200"/>
            <a:ext cx="5669280" cy="2240280"/>
          </a:xfrm>
          <a:prstGeom prst="roundRect">
            <a:avLst>
              <a:gd name="adj" fmla="val 3265"/>
            </a:avLst>
          </a:prstGeom>
          <a:solidFill>
            <a:srgbClr val="111738"/>
          </a:solidFill>
          <a:ln w="12700">
            <a:solidFill>
              <a:srgbClr val="2A3160"/>
            </a:solidFill>
            <a:prstDash val="solid"/>
          </a:ln>
        </p:spPr>
      </p:sp>
      <p:sp>
        <p:nvSpPr>
          <p:cNvPr id="14" name="Text 12"/>
          <p:cNvSpPr/>
          <p:nvPr/>
        </p:nvSpPr>
        <p:spPr>
          <a:xfrm>
            <a:off x="640080" y="3977640"/>
            <a:ext cx="4572000" cy="274320"/>
          </a:xfrm>
          <a:prstGeom prst="rect">
            <a:avLst/>
          </a:prstGeom>
          <a:noFill/>
          <a:ln/>
        </p:spPr>
        <p:txBody>
          <a:bodyPr wrap="square" rtlCol="0" anchor="ctr"/>
          <a:lstStyle/>
          <a:p>
            <a:pPr marL="0" indent="0">
              <a:buNone/>
            </a:pPr>
            <a:r>
              <a:rPr lang="en-US" sz="1000" b="1" kern="0" spc="400" dirty="0">
                <a:solidFill>
                  <a:srgbClr val="E91E63"/>
                </a:solidFill>
                <a:latin typeface="Calibri" pitchFamily="34" charset="0"/>
                <a:ea typeface="Calibri" pitchFamily="34" charset="-122"/>
                <a:cs typeface="Calibri" pitchFamily="34" charset="-120"/>
              </a:rPr>
              <a:t>OUR APPROACH</a:t>
            </a:r>
            <a:endParaRPr lang="en-US" sz="1000" dirty="0"/>
          </a:p>
        </p:txBody>
      </p:sp>
      <p:sp>
        <p:nvSpPr>
          <p:cNvPr id="15" name="Text 13"/>
          <p:cNvSpPr/>
          <p:nvPr/>
        </p:nvSpPr>
        <p:spPr>
          <a:xfrm>
            <a:off x="640080" y="4297680"/>
            <a:ext cx="5303520" cy="173736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Brainstorm</a:t>
            </a:r>
            <a:r>
              <a:rPr lang="en-US" sz="1300" dirty="0">
                <a:solidFill>
                  <a:srgbClr val="C8CDE8"/>
                </a:solidFill>
                <a:latin typeface="Calibri" pitchFamily="34" charset="0"/>
                <a:ea typeface="Calibri" pitchFamily="34" charset="-122"/>
                <a:cs typeface="Calibri" pitchFamily="34" charset="-120"/>
              </a:rPr>
              <a:t> the question with stakeholders, then </a:t>
            </a:r>
            <a:r>
              <a:rPr lang="en-US" sz="1300" b="1" dirty="0">
                <a:solidFill>
                  <a:srgbClr val="FFFFFF"/>
                </a:solidFill>
                <a:latin typeface="Calibri" pitchFamily="34" charset="0"/>
                <a:ea typeface="Calibri" pitchFamily="34" charset="-122"/>
                <a:cs typeface="Calibri" pitchFamily="34" charset="-120"/>
              </a:rPr>
              <a:t>plan</a:t>
            </a:r>
            <a:r>
              <a:rPr lang="en-US" sz="1300" dirty="0">
                <a:solidFill>
                  <a:srgbClr val="C8CDE8"/>
                </a:solidFill>
                <a:latin typeface="Calibri" pitchFamily="34" charset="0"/>
                <a:ea typeface="Calibri" pitchFamily="34" charset="-122"/>
                <a:cs typeface="Calibri" pitchFamily="34" charset="-120"/>
              </a:rPr>
              <a:t>, </a:t>
            </a:r>
            <a:r>
              <a:rPr lang="en-US" sz="1300" b="1" dirty="0">
                <a:solidFill>
                  <a:srgbClr val="FFFFFF"/>
                </a:solidFill>
                <a:latin typeface="Calibri" pitchFamily="34" charset="0"/>
                <a:ea typeface="Calibri" pitchFamily="34" charset="-122"/>
                <a:cs typeface="Calibri" pitchFamily="34" charset="-120"/>
              </a:rPr>
              <a:t>ingest</a:t>
            </a:r>
            <a:r>
              <a:rPr lang="en-US" sz="1300" dirty="0">
                <a:solidFill>
                  <a:srgbClr val="C8CDE8"/>
                </a:solidFill>
                <a:latin typeface="Calibri" pitchFamily="34" charset="0"/>
                <a:ea typeface="Calibri" pitchFamily="34" charset="-122"/>
                <a:cs typeface="Calibri" pitchFamily="34" charset="-120"/>
              </a:rPr>
              <a:t>, </a:t>
            </a:r>
            <a:r>
              <a:rPr lang="en-US" sz="1300" b="1" dirty="0">
                <a:solidFill>
                  <a:srgbClr val="FFFFFF"/>
                </a:solidFill>
                <a:latin typeface="Calibri" pitchFamily="34" charset="0"/>
                <a:ea typeface="Calibri" pitchFamily="34" charset="-122"/>
                <a:cs typeface="Calibri" pitchFamily="34" charset="-120"/>
              </a:rPr>
              <a:t>clean</a:t>
            </a:r>
            <a:r>
              <a:rPr lang="en-US" sz="1300" dirty="0">
                <a:solidFill>
                  <a:srgbClr val="C8CDE8"/>
                </a:solidFill>
                <a:latin typeface="Calibri" pitchFamily="34" charset="0"/>
                <a:ea typeface="Calibri" pitchFamily="34" charset="-122"/>
                <a:cs typeface="Calibri" pitchFamily="34" charset="-120"/>
              </a:rPr>
              <a:t>, </a:t>
            </a:r>
            <a:r>
              <a:rPr lang="en-US" sz="1300" b="1" dirty="0">
                <a:solidFill>
                  <a:srgbClr val="FFFFFF"/>
                </a:solidFill>
                <a:latin typeface="Calibri" pitchFamily="34" charset="0"/>
                <a:ea typeface="Calibri" pitchFamily="34" charset="-122"/>
                <a:cs typeface="Calibri" pitchFamily="34" charset="-120"/>
              </a:rPr>
              <a:t>model</a:t>
            </a:r>
            <a:r>
              <a:rPr lang="en-US" sz="1300" dirty="0">
                <a:solidFill>
                  <a:srgbClr val="C8CDE8"/>
                </a:solidFill>
                <a:latin typeface="Calibri" pitchFamily="34" charset="0"/>
                <a:ea typeface="Calibri" pitchFamily="34" charset="-122"/>
                <a:cs typeface="Calibri" pitchFamily="34" charset="-120"/>
              </a:rPr>
              <a:t>, and </a:t>
            </a:r>
            <a:r>
              <a:rPr lang="en-US" sz="1300" b="1" dirty="0">
                <a:solidFill>
                  <a:srgbClr val="FFFFFF"/>
                </a:solidFill>
                <a:latin typeface="Calibri" pitchFamily="34" charset="0"/>
                <a:ea typeface="Calibri" pitchFamily="34" charset="-122"/>
                <a:cs typeface="Calibri" pitchFamily="34" charset="-120"/>
              </a:rPr>
              <a:t>visualise</a:t>
            </a:r>
            <a:r>
              <a:rPr lang="en-US" sz="1300" dirty="0">
                <a:solidFill>
                  <a:srgbClr val="C8CDE8"/>
                </a:solidFill>
                <a:latin typeface="Calibri" pitchFamily="34" charset="0"/>
                <a:ea typeface="Calibri" pitchFamily="34" charset="-122"/>
                <a:cs typeface="Calibri" pitchFamily="34" charset="-120"/>
              </a:rPr>
              <a:t> — closing the loop with executive recommendations.</a:t>
            </a:r>
            <a:endParaRPr lang="en-US" sz="1300" dirty="0"/>
          </a:p>
        </p:txBody>
      </p:sp>
      <p:sp>
        <p:nvSpPr>
          <p:cNvPr id="16" name="Text 14"/>
          <p:cNvSpPr/>
          <p:nvPr/>
        </p:nvSpPr>
        <p:spPr>
          <a:xfrm>
            <a:off x="6309360" y="1920240"/>
            <a:ext cx="5486400" cy="274320"/>
          </a:xfrm>
          <a:prstGeom prst="rect">
            <a:avLst/>
          </a:prstGeom>
          <a:noFill/>
          <a:ln/>
        </p:spPr>
        <p:txBody>
          <a:bodyPr wrap="square" rtlCol="0" anchor="ctr"/>
          <a:lstStyle/>
          <a:p>
            <a:pPr marL="0" indent="0">
              <a:buNone/>
            </a:pPr>
            <a:r>
              <a:rPr lang="en-US" sz="1000" b="1" kern="0" spc="400" dirty="0">
                <a:solidFill>
                  <a:srgbClr val="F0A500"/>
                </a:solidFill>
                <a:latin typeface="Calibri" pitchFamily="34" charset="0"/>
                <a:ea typeface="Calibri" pitchFamily="34" charset="-122"/>
                <a:cs typeface="Calibri" pitchFamily="34" charset="-120"/>
              </a:rPr>
              <a:t>TOOL STACK</a:t>
            </a:r>
            <a:endParaRPr lang="en-US" sz="1000" dirty="0"/>
          </a:p>
        </p:txBody>
      </p:sp>
      <p:sp>
        <p:nvSpPr>
          <p:cNvPr id="17" name="Shape 15"/>
          <p:cNvSpPr/>
          <p:nvPr/>
        </p:nvSpPr>
        <p:spPr>
          <a:xfrm>
            <a:off x="6309360" y="2286000"/>
            <a:ext cx="5486400" cy="640080"/>
          </a:xfrm>
          <a:prstGeom prst="roundRect">
            <a:avLst>
              <a:gd name="adj" fmla="val 8571"/>
            </a:avLst>
          </a:prstGeom>
          <a:solidFill>
            <a:srgbClr val="111738"/>
          </a:solidFill>
          <a:ln w="12700">
            <a:solidFill>
              <a:srgbClr val="2A3160"/>
            </a:solidFill>
            <a:prstDash val="solid"/>
          </a:ln>
        </p:spPr>
      </p:sp>
      <p:sp>
        <p:nvSpPr>
          <p:cNvPr id="18" name="Shape 16"/>
          <p:cNvSpPr/>
          <p:nvPr/>
        </p:nvSpPr>
        <p:spPr>
          <a:xfrm>
            <a:off x="6309360" y="2286000"/>
            <a:ext cx="73152" cy="640080"/>
          </a:xfrm>
          <a:prstGeom prst="rect">
            <a:avLst/>
          </a:prstGeom>
          <a:solidFill>
            <a:srgbClr val="F0A500"/>
          </a:solidFill>
          <a:ln w="12700">
            <a:solidFill>
              <a:srgbClr val="F0A500"/>
            </a:solidFill>
            <a:prstDash val="solid"/>
          </a:ln>
        </p:spPr>
      </p:sp>
      <p:sp>
        <p:nvSpPr>
          <p:cNvPr id="19" name="Text 17"/>
          <p:cNvSpPr/>
          <p:nvPr/>
        </p:nvSpPr>
        <p:spPr>
          <a:xfrm>
            <a:off x="6537960" y="2359152"/>
            <a:ext cx="2011680" cy="502920"/>
          </a:xfrm>
          <a:prstGeom prst="rect">
            <a:avLst/>
          </a:prstGeom>
          <a:noFill/>
          <a:ln/>
        </p:spPr>
        <p:txBody>
          <a:bodyPr wrap="square" rtlCol="0" anchor="ctr"/>
          <a:lstStyle/>
          <a:p>
            <a:pPr marL="0" indent="0">
              <a:buNone/>
            </a:pPr>
            <a:r>
              <a:rPr lang="en-US" sz="1400" b="1" dirty="0">
                <a:solidFill>
                  <a:srgbClr val="FFFFFF"/>
                </a:solidFill>
                <a:latin typeface="Georgia" pitchFamily="34" charset="0"/>
                <a:ea typeface="Georgia" pitchFamily="34" charset="-122"/>
                <a:cs typeface="Georgia" pitchFamily="34" charset="-120"/>
              </a:rPr>
              <a:t>MIRO</a:t>
            </a:r>
            <a:endParaRPr lang="en-US" sz="1400" dirty="0"/>
          </a:p>
        </p:txBody>
      </p:sp>
      <p:sp>
        <p:nvSpPr>
          <p:cNvPr id="20" name="Text 18"/>
          <p:cNvSpPr/>
          <p:nvPr/>
        </p:nvSpPr>
        <p:spPr>
          <a:xfrm>
            <a:off x="8595360" y="2359152"/>
            <a:ext cx="3108960" cy="502920"/>
          </a:xfrm>
          <a:prstGeom prst="rect">
            <a:avLst/>
          </a:prstGeom>
          <a:noFill/>
          <a:ln/>
        </p:spPr>
        <p:txBody>
          <a:bodyPr wrap="square" rtlCol="0" anchor="ctr"/>
          <a:lstStyle/>
          <a:p>
            <a:pPr marL="0" indent="0">
              <a:buNone/>
            </a:pPr>
            <a:r>
              <a:rPr lang="en-US" sz="1100" dirty="0">
                <a:solidFill>
                  <a:srgbClr val="8089B5"/>
                </a:solidFill>
                <a:latin typeface="Calibri" pitchFamily="34" charset="0"/>
                <a:ea typeface="Calibri" pitchFamily="34" charset="-122"/>
                <a:cs typeface="Calibri" pitchFamily="34" charset="-120"/>
              </a:rPr>
              <a:t>Brainstorming &amp; mind-mapping</a:t>
            </a:r>
            <a:endParaRPr lang="en-US" sz="1100" dirty="0"/>
          </a:p>
        </p:txBody>
      </p:sp>
      <p:sp>
        <p:nvSpPr>
          <p:cNvPr id="21" name="Shape 19"/>
          <p:cNvSpPr/>
          <p:nvPr/>
        </p:nvSpPr>
        <p:spPr>
          <a:xfrm>
            <a:off x="6309360" y="3035808"/>
            <a:ext cx="5486400" cy="640080"/>
          </a:xfrm>
          <a:prstGeom prst="roundRect">
            <a:avLst>
              <a:gd name="adj" fmla="val 8571"/>
            </a:avLst>
          </a:prstGeom>
          <a:solidFill>
            <a:srgbClr val="111738"/>
          </a:solidFill>
          <a:ln w="12700">
            <a:solidFill>
              <a:srgbClr val="2A3160"/>
            </a:solidFill>
            <a:prstDash val="solid"/>
          </a:ln>
        </p:spPr>
      </p:sp>
      <p:sp>
        <p:nvSpPr>
          <p:cNvPr id="22" name="Shape 20"/>
          <p:cNvSpPr/>
          <p:nvPr/>
        </p:nvSpPr>
        <p:spPr>
          <a:xfrm>
            <a:off x="6309360" y="3035808"/>
            <a:ext cx="73152" cy="640080"/>
          </a:xfrm>
          <a:prstGeom prst="rect">
            <a:avLst/>
          </a:prstGeom>
          <a:solidFill>
            <a:srgbClr val="F0A500"/>
          </a:solidFill>
          <a:ln w="12700">
            <a:solidFill>
              <a:srgbClr val="F0A500"/>
            </a:solidFill>
            <a:prstDash val="solid"/>
          </a:ln>
        </p:spPr>
      </p:sp>
      <p:sp>
        <p:nvSpPr>
          <p:cNvPr id="23" name="Text 21"/>
          <p:cNvSpPr/>
          <p:nvPr/>
        </p:nvSpPr>
        <p:spPr>
          <a:xfrm>
            <a:off x="6537960" y="3108960"/>
            <a:ext cx="2011680" cy="502920"/>
          </a:xfrm>
          <a:prstGeom prst="rect">
            <a:avLst/>
          </a:prstGeom>
          <a:noFill/>
          <a:ln/>
        </p:spPr>
        <p:txBody>
          <a:bodyPr wrap="square" rtlCol="0" anchor="ctr"/>
          <a:lstStyle/>
          <a:p>
            <a:pPr marL="0" indent="0">
              <a:buNone/>
            </a:pPr>
            <a:r>
              <a:rPr lang="en-US" sz="1400" b="1" dirty="0">
                <a:solidFill>
                  <a:srgbClr val="FFFFFF"/>
                </a:solidFill>
                <a:latin typeface="Georgia" pitchFamily="34" charset="0"/>
                <a:ea typeface="Georgia" pitchFamily="34" charset="-122"/>
                <a:cs typeface="Georgia" pitchFamily="34" charset="-120"/>
              </a:rPr>
              <a:t>Canva</a:t>
            </a:r>
            <a:endParaRPr lang="en-US" sz="1400" dirty="0"/>
          </a:p>
        </p:txBody>
      </p:sp>
      <p:sp>
        <p:nvSpPr>
          <p:cNvPr id="24" name="Text 22"/>
          <p:cNvSpPr/>
          <p:nvPr/>
        </p:nvSpPr>
        <p:spPr>
          <a:xfrm>
            <a:off x="8595360" y="3108960"/>
            <a:ext cx="3108960" cy="502920"/>
          </a:xfrm>
          <a:prstGeom prst="rect">
            <a:avLst/>
          </a:prstGeom>
          <a:noFill/>
          <a:ln/>
        </p:spPr>
        <p:txBody>
          <a:bodyPr wrap="square" rtlCol="0" anchor="ctr"/>
          <a:lstStyle/>
          <a:p>
            <a:pPr marL="0" indent="0">
              <a:buNone/>
            </a:pPr>
            <a:r>
              <a:rPr lang="en-US" sz="1100" dirty="0">
                <a:solidFill>
                  <a:srgbClr val="8089B5"/>
                </a:solidFill>
                <a:latin typeface="Calibri" pitchFamily="34" charset="0"/>
                <a:ea typeface="Calibri" pitchFamily="34" charset="-122"/>
                <a:cs typeface="Calibri" pitchFamily="34" charset="-120"/>
              </a:rPr>
              <a:t>Process maps &amp; visuals</a:t>
            </a:r>
            <a:endParaRPr lang="en-US" sz="1100" dirty="0"/>
          </a:p>
        </p:txBody>
      </p:sp>
      <p:sp>
        <p:nvSpPr>
          <p:cNvPr id="25" name="Shape 23"/>
          <p:cNvSpPr/>
          <p:nvPr/>
        </p:nvSpPr>
        <p:spPr>
          <a:xfrm>
            <a:off x="6309360" y="3785616"/>
            <a:ext cx="5486400" cy="640080"/>
          </a:xfrm>
          <a:prstGeom prst="roundRect">
            <a:avLst>
              <a:gd name="adj" fmla="val 8571"/>
            </a:avLst>
          </a:prstGeom>
          <a:solidFill>
            <a:srgbClr val="111738"/>
          </a:solidFill>
          <a:ln w="12700">
            <a:solidFill>
              <a:srgbClr val="2A3160"/>
            </a:solidFill>
            <a:prstDash val="solid"/>
          </a:ln>
        </p:spPr>
      </p:sp>
      <p:sp>
        <p:nvSpPr>
          <p:cNvPr id="26" name="Shape 24"/>
          <p:cNvSpPr/>
          <p:nvPr/>
        </p:nvSpPr>
        <p:spPr>
          <a:xfrm>
            <a:off x="6309360" y="3785616"/>
            <a:ext cx="73152" cy="640080"/>
          </a:xfrm>
          <a:prstGeom prst="rect">
            <a:avLst/>
          </a:prstGeom>
          <a:solidFill>
            <a:srgbClr val="F0A500"/>
          </a:solidFill>
          <a:ln w="12700">
            <a:solidFill>
              <a:srgbClr val="F0A500"/>
            </a:solidFill>
            <a:prstDash val="solid"/>
          </a:ln>
        </p:spPr>
      </p:sp>
      <p:sp>
        <p:nvSpPr>
          <p:cNvPr id="27" name="Text 25"/>
          <p:cNvSpPr/>
          <p:nvPr/>
        </p:nvSpPr>
        <p:spPr>
          <a:xfrm>
            <a:off x="6537960" y="3858768"/>
            <a:ext cx="2011680" cy="502920"/>
          </a:xfrm>
          <a:prstGeom prst="rect">
            <a:avLst/>
          </a:prstGeom>
          <a:noFill/>
          <a:ln/>
        </p:spPr>
        <p:txBody>
          <a:bodyPr wrap="square" rtlCol="0" anchor="ctr"/>
          <a:lstStyle/>
          <a:p>
            <a:pPr marL="0" indent="0">
              <a:buNone/>
            </a:pPr>
            <a:r>
              <a:rPr lang="en-US" sz="1400" b="1" dirty="0">
                <a:solidFill>
                  <a:srgbClr val="FFFFFF"/>
                </a:solidFill>
                <a:latin typeface="Georgia" pitchFamily="34" charset="0"/>
                <a:ea typeface="Georgia" pitchFamily="34" charset="-122"/>
                <a:cs typeface="Georgia" pitchFamily="34" charset="-120"/>
              </a:rPr>
              <a:t>Microsoft Excel</a:t>
            </a:r>
            <a:endParaRPr lang="en-US" sz="1400" dirty="0"/>
          </a:p>
        </p:txBody>
      </p:sp>
      <p:sp>
        <p:nvSpPr>
          <p:cNvPr id="28" name="Text 26"/>
          <p:cNvSpPr/>
          <p:nvPr/>
        </p:nvSpPr>
        <p:spPr>
          <a:xfrm>
            <a:off x="8595360" y="3858768"/>
            <a:ext cx="3108960" cy="502920"/>
          </a:xfrm>
          <a:prstGeom prst="rect">
            <a:avLst/>
          </a:prstGeom>
          <a:noFill/>
          <a:ln/>
        </p:spPr>
        <p:txBody>
          <a:bodyPr wrap="square" rtlCol="0" anchor="ctr"/>
          <a:lstStyle/>
          <a:p>
            <a:pPr marL="0" indent="0">
              <a:buNone/>
            </a:pPr>
            <a:r>
              <a:rPr lang="en-US" sz="1100" dirty="0">
                <a:solidFill>
                  <a:srgbClr val="8089B5"/>
                </a:solidFill>
                <a:latin typeface="Calibri" pitchFamily="34" charset="0"/>
                <a:ea typeface="Calibri" pitchFamily="34" charset="-122"/>
                <a:cs typeface="Calibri" pitchFamily="34" charset="-120"/>
              </a:rPr>
              <a:t>Dashboarding &amp; pivot analysis</a:t>
            </a:r>
            <a:endParaRPr lang="en-US" sz="1100" dirty="0"/>
          </a:p>
        </p:txBody>
      </p:sp>
      <p:sp>
        <p:nvSpPr>
          <p:cNvPr id="29" name="Shape 27"/>
          <p:cNvSpPr/>
          <p:nvPr/>
        </p:nvSpPr>
        <p:spPr>
          <a:xfrm>
            <a:off x="6309360" y="4535424"/>
            <a:ext cx="5486400" cy="640080"/>
          </a:xfrm>
          <a:prstGeom prst="roundRect">
            <a:avLst>
              <a:gd name="adj" fmla="val 8571"/>
            </a:avLst>
          </a:prstGeom>
          <a:solidFill>
            <a:srgbClr val="111738"/>
          </a:solidFill>
          <a:ln w="12700">
            <a:solidFill>
              <a:srgbClr val="2A3160"/>
            </a:solidFill>
            <a:prstDash val="solid"/>
          </a:ln>
        </p:spPr>
      </p:sp>
      <p:sp>
        <p:nvSpPr>
          <p:cNvPr id="30" name="Shape 28"/>
          <p:cNvSpPr/>
          <p:nvPr/>
        </p:nvSpPr>
        <p:spPr>
          <a:xfrm>
            <a:off x="6309360" y="4535424"/>
            <a:ext cx="73152" cy="640080"/>
          </a:xfrm>
          <a:prstGeom prst="rect">
            <a:avLst/>
          </a:prstGeom>
          <a:solidFill>
            <a:srgbClr val="F0A500"/>
          </a:solidFill>
          <a:ln w="12700">
            <a:solidFill>
              <a:srgbClr val="F0A500"/>
            </a:solidFill>
            <a:prstDash val="solid"/>
          </a:ln>
        </p:spPr>
      </p:sp>
      <p:sp>
        <p:nvSpPr>
          <p:cNvPr id="31" name="Text 29"/>
          <p:cNvSpPr/>
          <p:nvPr/>
        </p:nvSpPr>
        <p:spPr>
          <a:xfrm>
            <a:off x="6537960" y="4608576"/>
            <a:ext cx="2011680" cy="502920"/>
          </a:xfrm>
          <a:prstGeom prst="rect">
            <a:avLst/>
          </a:prstGeom>
          <a:noFill/>
          <a:ln/>
        </p:spPr>
        <p:txBody>
          <a:bodyPr wrap="square" rtlCol="0" anchor="ctr"/>
          <a:lstStyle/>
          <a:p>
            <a:pPr marL="0" indent="0">
              <a:buNone/>
            </a:pPr>
            <a:r>
              <a:rPr lang="en-US" sz="1400" b="1" dirty="0">
                <a:solidFill>
                  <a:srgbClr val="FFFFFF"/>
                </a:solidFill>
                <a:latin typeface="Georgia" pitchFamily="34" charset="0"/>
                <a:ea typeface="Georgia" pitchFamily="34" charset="-122"/>
                <a:cs typeface="Georgia" pitchFamily="34" charset="-120"/>
              </a:rPr>
              <a:t>Databricks (SQL)</a:t>
            </a:r>
            <a:endParaRPr lang="en-US" sz="1400" dirty="0"/>
          </a:p>
        </p:txBody>
      </p:sp>
      <p:sp>
        <p:nvSpPr>
          <p:cNvPr id="32" name="Text 30"/>
          <p:cNvSpPr/>
          <p:nvPr/>
        </p:nvSpPr>
        <p:spPr>
          <a:xfrm>
            <a:off x="8595360" y="4608576"/>
            <a:ext cx="3108960" cy="502920"/>
          </a:xfrm>
          <a:prstGeom prst="rect">
            <a:avLst/>
          </a:prstGeom>
          <a:noFill/>
          <a:ln/>
        </p:spPr>
        <p:txBody>
          <a:bodyPr wrap="square" rtlCol="0" anchor="ctr"/>
          <a:lstStyle/>
          <a:p>
            <a:pPr marL="0" indent="0">
              <a:buNone/>
            </a:pPr>
            <a:r>
              <a:rPr lang="en-US" sz="1100" dirty="0">
                <a:solidFill>
                  <a:srgbClr val="8089B5"/>
                </a:solidFill>
                <a:latin typeface="Calibri" pitchFamily="34" charset="0"/>
                <a:ea typeface="Calibri" pitchFamily="34" charset="-122"/>
                <a:cs typeface="Calibri" pitchFamily="34" charset="-120"/>
              </a:rPr>
              <a:t>Data ingestion &amp; manipulation</a:t>
            </a:r>
            <a:endParaRPr lang="en-US" sz="1100" dirty="0"/>
          </a:p>
        </p:txBody>
      </p:sp>
      <p:sp>
        <p:nvSpPr>
          <p:cNvPr id="33" name="Shape 31"/>
          <p:cNvSpPr/>
          <p:nvPr/>
        </p:nvSpPr>
        <p:spPr>
          <a:xfrm>
            <a:off x="6309360" y="5285232"/>
            <a:ext cx="5486400" cy="640080"/>
          </a:xfrm>
          <a:prstGeom prst="roundRect">
            <a:avLst>
              <a:gd name="adj" fmla="val 8571"/>
            </a:avLst>
          </a:prstGeom>
          <a:solidFill>
            <a:srgbClr val="111738"/>
          </a:solidFill>
          <a:ln w="12700">
            <a:solidFill>
              <a:srgbClr val="2A3160"/>
            </a:solidFill>
            <a:prstDash val="solid"/>
          </a:ln>
        </p:spPr>
      </p:sp>
      <p:sp>
        <p:nvSpPr>
          <p:cNvPr id="34" name="Shape 32"/>
          <p:cNvSpPr/>
          <p:nvPr/>
        </p:nvSpPr>
        <p:spPr>
          <a:xfrm>
            <a:off x="6309360" y="5285232"/>
            <a:ext cx="73152" cy="640080"/>
          </a:xfrm>
          <a:prstGeom prst="rect">
            <a:avLst/>
          </a:prstGeom>
          <a:solidFill>
            <a:srgbClr val="F0A500"/>
          </a:solidFill>
          <a:ln w="12700">
            <a:solidFill>
              <a:srgbClr val="F0A500"/>
            </a:solidFill>
            <a:prstDash val="solid"/>
          </a:ln>
        </p:spPr>
      </p:sp>
      <p:sp>
        <p:nvSpPr>
          <p:cNvPr id="35" name="Text 33"/>
          <p:cNvSpPr/>
          <p:nvPr/>
        </p:nvSpPr>
        <p:spPr>
          <a:xfrm>
            <a:off x="6537960" y="5358384"/>
            <a:ext cx="2011680" cy="502920"/>
          </a:xfrm>
          <a:prstGeom prst="rect">
            <a:avLst/>
          </a:prstGeom>
          <a:noFill/>
          <a:ln/>
        </p:spPr>
        <p:txBody>
          <a:bodyPr wrap="square" rtlCol="0" anchor="ctr"/>
          <a:lstStyle/>
          <a:p>
            <a:pPr marL="0" indent="0">
              <a:buNone/>
            </a:pPr>
            <a:r>
              <a:rPr lang="en-US" sz="1400" b="1" dirty="0">
                <a:solidFill>
                  <a:srgbClr val="FFFFFF"/>
                </a:solidFill>
                <a:latin typeface="Georgia" pitchFamily="34" charset="0"/>
                <a:ea typeface="Georgia" pitchFamily="34" charset="-122"/>
                <a:cs typeface="Georgia" pitchFamily="34" charset="-120"/>
              </a:rPr>
              <a:t>PowerPoint</a:t>
            </a:r>
            <a:endParaRPr lang="en-US" sz="1400" dirty="0"/>
          </a:p>
        </p:txBody>
      </p:sp>
      <p:sp>
        <p:nvSpPr>
          <p:cNvPr id="36" name="Text 34"/>
          <p:cNvSpPr/>
          <p:nvPr/>
        </p:nvSpPr>
        <p:spPr>
          <a:xfrm>
            <a:off x="8595360" y="5358384"/>
            <a:ext cx="3108960" cy="502920"/>
          </a:xfrm>
          <a:prstGeom prst="rect">
            <a:avLst/>
          </a:prstGeom>
          <a:noFill/>
          <a:ln/>
        </p:spPr>
        <p:txBody>
          <a:bodyPr wrap="square" rtlCol="0" anchor="ctr"/>
          <a:lstStyle/>
          <a:p>
            <a:pPr marL="0" indent="0">
              <a:buNone/>
            </a:pPr>
            <a:r>
              <a:rPr lang="en-US" sz="1100" dirty="0">
                <a:solidFill>
                  <a:srgbClr val="8089B5"/>
                </a:solidFill>
                <a:latin typeface="Calibri" pitchFamily="34" charset="0"/>
                <a:ea typeface="Calibri" pitchFamily="34" charset="-122"/>
                <a:cs typeface="Calibri" pitchFamily="34" charset="-120"/>
              </a:rPr>
              <a:t>Executive storytelling</a:t>
            </a:r>
            <a:endParaRPr lang="en-US" sz="1100"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1E8"/>
        </a:solidFill>
        <a:effectLst/>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E91E63"/>
          </a:solidFill>
          <a:ln w="12700">
            <a:solidFill>
              <a:srgbClr val="E91E63"/>
            </a:solidFill>
            <a:prstDash val="solid"/>
          </a:ln>
        </p:spPr>
      </p:sp>
      <p:sp>
        <p:nvSpPr>
          <p:cNvPr id="3" name="Text 1"/>
          <p:cNvSpPr/>
          <p:nvPr/>
        </p:nvSpPr>
        <p:spPr>
          <a:xfrm>
            <a:off x="457200" y="256032"/>
            <a:ext cx="7315200" cy="274320"/>
          </a:xfrm>
          <a:prstGeom prst="rect">
            <a:avLst/>
          </a:prstGeom>
          <a:noFill/>
          <a:ln/>
        </p:spPr>
        <p:txBody>
          <a:bodyPr wrap="square" rtlCol="0" anchor="ctr"/>
          <a:lstStyle/>
          <a:p>
            <a:pPr marL="0" indent="0">
              <a:buNone/>
            </a:pPr>
            <a:r>
              <a:rPr lang="en-US" sz="900" b="1" kern="0" spc="400" dirty="0">
                <a:solidFill>
                  <a:srgbClr val="6B5E4A"/>
                </a:solidFill>
                <a:latin typeface="Calibri" pitchFamily="34" charset="0"/>
                <a:ea typeface="Calibri" pitchFamily="34" charset="-122"/>
                <a:cs typeface="Calibri" pitchFamily="34" charset="-120"/>
              </a:rPr>
              <a:t>BRIGHT TV  ·  VIEWERSHIP PROJECT</a:t>
            </a:r>
            <a:endParaRPr lang="en-US" sz="900" dirty="0"/>
          </a:p>
        </p:txBody>
      </p:sp>
      <p:sp>
        <p:nvSpPr>
          <p:cNvPr id="4" name="Text 2"/>
          <p:cNvSpPr/>
          <p:nvPr/>
        </p:nvSpPr>
        <p:spPr>
          <a:xfrm>
            <a:off x="10515600" y="256032"/>
            <a:ext cx="1280160" cy="274320"/>
          </a:xfrm>
          <a:prstGeom prst="rect">
            <a:avLst/>
          </a:prstGeom>
          <a:noFill/>
          <a:ln/>
        </p:spPr>
        <p:txBody>
          <a:bodyPr wrap="square" rtlCol="0" anchor="ctr"/>
          <a:lstStyle/>
          <a:p>
            <a:pPr marL="0" indent="0" algn="r">
              <a:buNone/>
            </a:pPr>
            <a:r>
              <a:rPr lang="en-US" sz="900" kern="0" spc="200" dirty="0">
                <a:solidFill>
                  <a:srgbClr val="6B5E4A"/>
                </a:solidFill>
                <a:latin typeface="Calibri" pitchFamily="34" charset="0"/>
                <a:ea typeface="Calibri" pitchFamily="34" charset="-122"/>
                <a:cs typeface="Calibri" pitchFamily="34" charset="-120"/>
              </a:rPr>
              <a:t>05 / 09</a:t>
            </a:r>
            <a:endParaRPr lang="en-US" sz="900" dirty="0"/>
          </a:p>
        </p:txBody>
      </p:sp>
      <p:sp>
        <p:nvSpPr>
          <p:cNvPr id="5" name="Text 3"/>
          <p:cNvSpPr/>
          <p:nvPr/>
        </p:nvSpPr>
        <p:spPr>
          <a:xfrm>
            <a:off x="457200" y="6537960"/>
            <a:ext cx="7315200" cy="228600"/>
          </a:xfrm>
          <a:prstGeom prst="rect">
            <a:avLst/>
          </a:prstGeom>
          <a:noFill/>
          <a:ln/>
        </p:spPr>
        <p:txBody>
          <a:bodyPr wrap="square" rtlCol="0" anchor="ctr"/>
          <a:lstStyle/>
          <a:p>
            <a:pPr marL="0" indent="0">
              <a:buNone/>
            </a:pPr>
            <a:r>
              <a:rPr lang="en-US" sz="800" dirty="0">
                <a:solidFill>
                  <a:srgbClr val="6B5E4A"/>
                </a:solidFill>
                <a:latin typeface="Calibri" pitchFamily="34" charset="0"/>
                <a:ea typeface="Calibri" pitchFamily="34" charset="-122"/>
                <a:cs typeface="Calibri" pitchFamily="34" charset="-120"/>
              </a:rPr>
              <a:t>Ennove Analytics  ·  Innocent Mphahlele</a:t>
            </a:r>
            <a:endParaRPr lang="en-US" sz="800" dirty="0"/>
          </a:p>
        </p:txBody>
      </p:sp>
      <p:sp>
        <p:nvSpPr>
          <p:cNvPr id="6" name="Text 4"/>
          <p:cNvSpPr/>
          <p:nvPr/>
        </p:nvSpPr>
        <p:spPr>
          <a:xfrm>
            <a:off x="457200" y="594360"/>
            <a:ext cx="11247120" cy="640080"/>
          </a:xfrm>
          <a:prstGeom prst="rect">
            <a:avLst/>
          </a:prstGeom>
          <a:noFill/>
          <a:ln/>
        </p:spPr>
        <p:txBody>
          <a:bodyPr wrap="square" rtlCol="0" anchor="ctr"/>
          <a:lstStyle/>
          <a:p>
            <a:pPr marL="0" indent="0">
              <a:buNone/>
            </a:pPr>
            <a:r>
              <a:rPr lang="en-US" sz="3200" b="1" dirty="0">
                <a:solidFill>
                  <a:srgbClr val="0A0E27"/>
                </a:solidFill>
                <a:latin typeface="Georgia" pitchFamily="34" charset="0"/>
                <a:ea typeface="Georgia" pitchFamily="34" charset="-122"/>
                <a:cs typeface="Georgia" pitchFamily="34" charset="-120"/>
              </a:rPr>
              <a:t>Process &amp; Timeline</a:t>
            </a:r>
            <a:endParaRPr lang="en-US" sz="3200" dirty="0"/>
          </a:p>
        </p:txBody>
      </p:sp>
      <p:sp>
        <p:nvSpPr>
          <p:cNvPr id="7" name="Text 5"/>
          <p:cNvSpPr/>
          <p:nvPr/>
        </p:nvSpPr>
        <p:spPr>
          <a:xfrm>
            <a:off x="457200" y="1188720"/>
            <a:ext cx="11247120" cy="320040"/>
          </a:xfrm>
          <a:prstGeom prst="rect">
            <a:avLst/>
          </a:prstGeom>
          <a:noFill/>
          <a:ln/>
        </p:spPr>
        <p:txBody>
          <a:bodyPr wrap="square" rtlCol="0" anchor="ctr"/>
          <a:lstStyle/>
          <a:p>
            <a:pPr marL="0" indent="0">
              <a:buNone/>
            </a:pPr>
            <a:r>
              <a:rPr lang="en-US" sz="1300" i="1" dirty="0">
                <a:solidFill>
                  <a:srgbClr val="6B5E4A"/>
                </a:solidFill>
                <a:latin typeface="Calibri" pitchFamily="34" charset="0"/>
                <a:ea typeface="Calibri" pitchFamily="34" charset="-122"/>
                <a:cs typeface="Calibri" pitchFamily="34" charset="-120"/>
              </a:rPr>
              <a:t>A 5-week sprint from raw data to executive readout</a:t>
            </a:r>
            <a:endParaRPr lang="en-US" sz="1300" dirty="0"/>
          </a:p>
        </p:txBody>
      </p:sp>
      <p:sp>
        <p:nvSpPr>
          <p:cNvPr id="8" name="Shape 6"/>
          <p:cNvSpPr/>
          <p:nvPr/>
        </p:nvSpPr>
        <p:spPr>
          <a:xfrm>
            <a:off x="457200" y="1627632"/>
            <a:ext cx="109728" cy="109728"/>
          </a:xfrm>
          <a:prstGeom prst="ellipse">
            <a:avLst/>
          </a:prstGeom>
          <a:solidFill>
            <a:srgbClr val="E91E63"/>
          </a:solidFill>
          <a:ln w="12700">
            <a:solidFill>
              <a:srgbClr val="E91E63"/>
            </a:solidFill>
            <a:prstDash val="solid"/>
          </a:ln>
        </p:spPr>
      </p:sp>
      <p:sp>
        <p:nvSpPr>
          <p:cNvPr id="9" name="Shape 7"/>
          <p:cNvSpPr/>
          <p:nvPr/>
        </p:nvSpPr>
        <p:spPr>
          <a:xfrm>
            <a:off x="640080" y="1673352"/>
            <a:ext cx="548640" cy="18288"/>
          </a:xfrm>
          <a:prstGeom prst="rect">
            <a:avLst/>
          </a:prstGeom>
          <a:solidFill>
            <a:srgbClr val="E91E63"/>
          </a:solidFill>
          <a:ln w="12700">
            <a:solidFill>
              <a:srgbClr val="E91E63"/>
            </a:solidFill>
            <a:prstDash val="solid"/>
          </a:ln>
        </p:spPr>
      </p:sp>
      <p:sp>
        <p:nvSpPr>
          <p:cNvPr id="10" name="Text 8"/>
          <p:cNvSpPr/>
          <p:nvPr/>
        </p:nvSpPr>
        <p:spPr>
          <a:xfrm>
            <a:off x="457200" y="1920240"/>
            <a:ext cx="5486400" cy="274320"/>
          </a:xfrm>
          <a:prstGeom prst="rect">
            <a:avLst/>
          </a:prstGeom>
          <a:noFill/>
          <a:ln/>
        </p:spPr>
        <p:txBody>
          <a:bodyPr wrap="square" rtlCol="0" anchor="ctr"/>
          <a:lstStyle/>
          <a:p>
            <a:pPr marL="0" indent="0">
              <a:buNone/>
            </a:pPr>
            <a:r>
              <a:rPr lang="en-US" sz="1000" b="1" kern="0" spc="400" dirty="0">
                <a:solidFill>
                  <a:srgbClr val="E91E63"/>
                </a:solidFill>
                <a:latin typeface="Calibri" pitchFamily="34" charset="0"/>
                <a:ea typeface="Calibri" pitchFamily="34" charset="-122"/>
                <a:cs typeface="Calibri" pitchFamily="34" charset="-120"/>
              </a:rPr>
              <a:t>PROCESS FLOW (CANVA)</a:t>
            </a:r>
            <a:endParaRPr lang="en-US" sz="1000" dirty="0"/>
          </a:p>
        </p:txBody>
      </p:sp>
      <p:sp>
        <p:nvSpPr>
          <p:cNvPr id="11" name="Shape 9"/>
          <p:cNvSpPr/>
          <p:nvPr/>
        </p:nvSpPr>
        <p:spPr>
          <a:xfrm>
            <a:off x="457200" y="2240280"/>
            <a:ext cx="5669280" cy="3886200"/>
          </a:xfrm>
          <a:prstGeom prst="roundRect">
            <a:avLst>
              <a:gd name="adj" fmla="val 1412"/>
            </a:avLst>
          </a:prstGeom>
          <a:solidFill>
            <a:srgbClr val="FFFFFF"/>
          </a:solidFill>
          <a:ln w="12700">
            <a:solidFill>
              <a:srgbClr val="D9D2C2"/>
            </a:solidFill>
            <a:prstDash val="solid"/>
          </a:ln>
        </p:spPr>
      </p:sp>
      <p:pic>
        <p:nvPicPr>
          <p:cNvPr id="12" name="Image 0" descr="preencoded.png"/>
          <p:cNvPicPr>
            <a:picLocks noChangeAspect="1"/>
          </p:cNvPicPr>
          <p:nvPr/>
        </p:nvPicPr>
        <p:blipFill>
          <a:blip r:embed="rId3"/>
          <a:srcRect/>
          <a:stretch/>
        </p:blipFill>
        <p:spPr>
          <a:xfrm>
            <a:off x="640080" y="2377440"/>
            <a:ext cx="5303520" cy="3657600"/>
          </a:xfrm>
          <a:prstGeom prst="rect">
            <a:avLst/>
          </a:prstGeom>
        </p:spPr>
      </p:pic>
      <p:sp>
        <p:nvSpPr>
          <p:cNvPr id="13" name="Text 10"/>
          <p:cNvSpPr/>
          <p:nvPr/>
        </p:nvSpPr>
        <p:spPr>
          <a:xfrm>
            <a:off x="6309360" y="1920240"/>
            <a:ext cx="5486400" cy="274320"/>
          </a:xfrm>
          <a:prstGeom prst="rect">
            <a:avLst/>
          </a:prstGeom>
          <a:noFill/>
          <a:ln/>
        </p:spPr>
        <p:txBody>
          <a:bodyPr wrap="square" rtlCol="0" anchor="ctr"/>
          <a:lstStyle/>
          <a:p>
            <a:pPr marL="0" indent="0">
              <a:buNone/>
            </a:pPr>
            <a:r>
              <a:rPr lang="en-US" sz="1000" b="1" kern="0" spc="400" dirty="0">
                <a:solidFill>
                  <a:srgbClr val="E91E63"/>
                </a:solidFill>
                <a:latin typeface="Calibri" pitchFamily="34" charset="0"/>
                <a:ea typeface="Calibri" pitchFamily="34" charset="-122"/>
                <a:cs typeface="Calibri" pitchFamily="34" charset="-120"/>
              </a:rPr>
              <a:t>PROJECT PLAN (GANTT)</a:t>
            </a:r>
            <a:endParaRPr lang="en-US" sz="1000" dirty="0"/>
          </a:p>
        </p:txBody>
      </p:sp>
      <p:sp>
        <p:nvSpPr>
          <p:cNvPr id="14" name="Shape 11"/>
          <p:cNvSpPr/>
          <p:nvPr/>
        </p:nvSpPr>
        <p:spPr>
          <a:xfrm>
            <a:off x="6309360" y="2240280"/>
            <a:ext cx="5486400" cy="3886200"/>
          </a:xfrm>
          <a:prstGeom prst="roundRect">
            <a:avLst>
              <a:gd name="adj" fmla="val 1412"/>
            </a:avLst>
          </a:prstGeom>
          <a:solidFill>
            <a:srgbClr val="FFFFFF"/>
          </a:solidFill>
          <a:ln w="12700">
            <a:solidFill>
              <a:srgbClr val="D9D2C2"/>
            </a:solidFill>
            <a:prstDash val="solid"/>
          </a:ln>
        </p:spPr>
      </p:sp>
      <p:pic>
        <p:nvPicPr>
          <p:cNvPr id="15" name="Image 1" descr="preencoded.png"/>
          <p:cNvPicPr>
            <a:picLocks noChangeAspect="1"/>
          </p:cNvPicPr>
          <p:nvPr/>
        </p:nvPicPr>
        <p:blipFill>
          <a:blip r:embed="rId4"/>
          <a:srcRect/>
          <a:stretch/>
        </p:blipFill>
        <p:spPr>
          <a:xfrm>
            <a:off x="6446520" y="2377440"/>
            <a:ext cx="5212080" cy="3657600"/>
          </a:xfrm>
          <a:prstGeom prst="rect">
            <a:avLst/>
          </a:prstGeom>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0E27"/>
        </a:solidFill>
        <a:effectLst/>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E91E63"/>
          </a:solidFill>
          <a:ln w="12700">
            <a:solidFill>
              <a:srgbClr val="E91E63"/>
            </a:solidFill>
            <a:prstDash val="solid"/>
          </a:ln>
        </p:spPr>
      </p:sp>
      <p:sp>
        <p:nvSpPr>
          <p:cNvPr id="3" name="Text 1"/>
          <p:cNvSpPr/>
          <p:nvPr/>
        </p:nvSpPr>
        <p:spPr>
          <a:xfrm>
            <a:off x="457200" y="256032"/>
            <a:ext cx="7315200" cy="274320"/>
          </a:xfrm>
          <a:prstGeom prst="rect">
            <a:avLst/>
          </a:prstGeom>
          <a:noFill/>
          <a:ln/>
        </p:spPr>
        <p:txBody>
          <a:bodyPr wrap="square" rtlCol="0" anchor="ctr"/>
          <a:lstStyle/>
          <a:p>
            <a:pPr marL="0" indent="0">
              <a:buNone/>
            </a:pPr>
            <a:r>
              <a:rPr lang="en-US" sz="900" b="1" kern="0" spc="400" dirty="0">
                <a:solidFill>
                  <a:srgbClr val="8089B5"/>
                </a:solidFill>
                <a:latin typeface="Calibri" pitchFamily="34" charset="0"/>
                <a:ea typeface="Calibri" pitchFamily="34" charset="-122"/>
                <a:cs typeface="Calibri" pitchFamily="34" charset="-120"/>
              </a:rPr>
              <a:t>BRIGHT TV  ·  VIEWERSHIP PROJECT</a:t>
            </a:r>
            <a:endParaRPr lang="en-US" sz="900" dirty="0"/>
          </a:p>
        </p:txBody>
      </p:sp>
      <p:sp>
        <p:nvSpPr>
          <p:cNvPr id="4" name="Text 2"/>
          <p:cNvSpPr/>
          <p:nvPr/>
        </p:nvSpPr>
        <p:spPr>
          <a:xfrm>
            <a:off x="10515600" y="256032"/>
            <a:ext cx="1280160" cy="274320"/>
          </a:xfrm>
          <a:prstGeom prst="rect">
            <a:avLst/>
          </a:prstGeom>
          <a:noFill/>
          <a:ln/>
        </p:spPr>
        <p:txBody>
          <a:bodyPr wrap="square" rtlCol="0" anchor="ctr"/>
          <a:lstStyle/>
          <a:p>
            <a:pPr marL="0" indent="0" algn="r">
              <a:buNone/>
            </a:pPr>
            <a:r>
              <a:rPr lang="en-US" sz="900" kern="0" spc="200" dirty="0">
                <a:solidFill>
                  <a:srgbClr val="8089B5"/>
                </a:solidFill>
                <a:latin typeface="Calibri" pitchFamily="34" charset="0"/>
                <a:ea typeface="Calibri" pitchFamily="34" charset="-122"/>
                <a:cs typeface="Calibri" pitchFamily="34" charset="-120"/>
              </a:rPr>
              <a:t>06 / 09</a:t>
            </a:r>
            <a:endParaRPr lang="en-US" sz="900" dirty="0"/>
          </a:p>
        </p:txBody>
      </p:sp>
      <p:sp>
        <p:nvSpPr>
          <p:cNvPr id="5" name="Text 3"/>
          <p:cNvSpPr/>
          <p:nvPr/>
        </p:nvSpPr>
        <p:spPr>
          <a:xfrm>
            <a:off x="457200" y="6537960"/>
            <a:ext cx="7315200" cy="228600"/>
          </a:xfrm>
          <a:prstGeom prst="rect">
            <a:avLst/>
          </a:prstGeom>
          <a:noFill/>
          <a:ln/>
        </p:spPr>
        <p:txBody>
          <a:bodyPr wrap="square" rtlCol="0" anchor="ctr"/>
          <a:lstStyle/>
          <a:p>
            <a:pPr marL="0" indent="0">
              <a:buNone/>
            </a:pPr>
            <a:r>
              <a:rPr lang="en-US" sz="800" dirty="0">
                <a:solidFill>
                  <a:srgbClr val="8089B5"/>
                </a:solidFill>
                <a:latin typeface="Calibri" pitchFamily="34" charset="0"/>
                <a:ea typeface="Calibri" pitchFamily="34" charset="-122"/>
                <a:cs typeface="Calibri" pitchFamily="34" charset="-120"/>
              </a:rPr>
              <a:t>Ennove Analytics  ·  Innocent Mphahlele</a:t>
            </a:r>
            <a:endParaRPr lang="en-US" sz="800" dirty="0"/>
          </a:p>
        </p:txBody>
      </p:sp>
      <p:sp>
        <p:nvSpPr>
          <p:cNvPr id="6" name="Text 4"/>
          <p:cNvSpPr/>
          <p:nvPr/>
        </p:nvSpPr>
        <p:spPr>
          <a:xfrm>
            <a:off x="457200" y="594360"/>
            <a:ext cx="11247120" cy="640080"/>
          </a:xfrm>
          <a:prstGeom prst="rect">
            <a:avLst/>
          </a:prstGeom>
          <a:noFill/>
          <a:ln/>
        </p:spPr>
        <p:txBody>
          <a:bodyPr wrap="square" rtlCol="0" anchor="ctr"/>
          <a:lstStyle/>
          <a:p>
            <a:pPr marL="0" indent="0">
              <a:buNone/>
            </a:pPr>
            <a:r>
              <a:rPr lang="en-US" sz="3200" b="1" dirty="0">
                <a:solidFill>
                  <a:srgbClr val="FFFFFF"/>
                </a:solidFill>
                <a:latin typeface="Georgia" pitchFamily="34" charset="0"/>
                <a:ea typeface="Georgia" pitchFamily="34" charset="-122"/>
                <a:cs typeface="Georgia" pitchFamily="34" charset="-120"/>
              </a:rPr>
              <a:t>Data Pipeline</a:t>
            </a:r>
            <a:endParaRPr lang="en-US" sz="3200" dirty="0"/>
          </a:p>
        </p:txBody>
      </p:sp>
      <p:sp>
        <p:nvSpPr>
          <p:cNvPr id="7" name="Text 5"/>
          <p:cNvSpPr/>
          <p:nvPr/>
        </p:nvSpPr>
        <p:spPr>
          <a:xfrm>
            <a:off x="457200" y="1188720"/>
            <a:ext cx="11247120" cy="320040"/>
          </a:xfrm>
          <a:prstGeom prst="rect">
            <a:avLst/>
          </a:prstGeom>
          <a:noFill/>
          <a:ln/>
        </p:spPr>
        <p:txBody>
          <a:bodyPr wrap="square" rtlCol="0" anchor="ctr"/>
          <a:lstStyle/>
          <a:p>
            <a:pPr marL="0" indent="0">
              <a:buNone/>
            </a:pPr>
            <a:r>
              <a:rPr lang="en-US" sz="1300" i="1" dirty="0">
                <a:solidFill>
                  <a:srgbClr val="8089B5"/>
                </a:solidFill>
                <a:latin typeface="Calibri" pitchFamily="34" charset="0"/>
                <a:ea typeface="Calibri" pitchFamily="34" charset="-122"/>
                <a:cs typeface="Calibri" pitchFamily="34" charset="-120"/>
              </a:rPr>
              <a:t>Ingested in Databricks, transformed with SQL, visualised in Excel</a:t>
            </a:r>
            <a:endParaRPr lang="en-US" sz="1300" dirty="0"/>
          </a:p>
        </p:txBody>
      </p:sp>
      <p:sp>
        <p:nvSpPr>
          <p:cNvPr id="8" name="Shape 6"/>
          <p:cNvSpPr/>
          <p:nvPr/>
        </p:nvSpPr>
        <p:spPr>
          <a:xfrm>
            <a:off x="457200" y="1627632"/>
            <a:ext cx="109728" cy="109728"/>
          </a:xfrm>
          <a:prstGeom prst="ellipse">
            <a:avLst/>
          </a:prstGeom>
          <a:solidFill>
            <a:srgbClr val="E91E63"/>
          </a:solidFill>
          <a:ln w="12700">
            <a:solidFill>
              <a:srgbClr val="E91E63"/>
            </a:solidFill>
            <a:prstDash val="solid"/>
          </a:ln>
        </p:spPr>
      </p:sp>
      <p:sp>
        <p:nvSpPr>
          <p:cNvPr id="9" name="Shape 7"/>
          <p:cNvSpPr/>
          <p:nvPr/>
        </p:nvSpPr>
        <p:spPr>
          <a:xfrm>
            <a:off x="640080" y="1673352"/>
            <a:ext cx="548640" cy="18288"/>
          </a:xfrm>
          <a:prstGeom prst="rect">
            <a:avLst/>
          </a:prstGeom>
          <a:solidFill>
            <a:srgbClr val="E91E63"/>
          </a:solidFill>
          <a:ln w="12700">
            <a:solidFill>
              <a:srgbClr val="E91E63"/>
            </a:solidFill>
            <a:prstDash val="solid"/>
          </a:ln>
        </p:spPr>
      </p:sp>
      <p:sp>
        <p:nvSpPr>
          <p:cNvPr id="10" name="Shape 8"/>
          <p:cNvSpPr/>
          <p:nvPr/>
        </p:nvSpPr>
        <p:spPr>
          <a:xfrm>
            <a:off x="457200" y="1920240"/>
            <a:ext cx="2743200" cy="1463040"/>
          </a:xfrm>
          <a:prstGeom prst="roundRect">
            <a:avLst>
              <a:gd name="adj" fmla="val 5000"/>
            </a:avLst>
          </a:prstGeom>
          <a:solidFill>
            <a:srgbClr val="111738"/>
          </a:solidFill>
          <a:ln w="12700">
            <a:solidFill>
              <a:srgbClr val="2A3160"/>
            </a:solidFill>
            <a:prstDash val="solid"/>
          </a:ln>
        </p:spPr>
      </p:sp>
      <p:sp>
        <p:nvSpPr>
          <p:cNvPr id="11" name="Text 9"/>
          <p:cNvSpPr/>
          <p:nvPr/>
        </p:nvSpPr>
        <p:spPr>
          <a:xfrm>
            <a:off x="640080" y="2011680"/>
            <a:ext cx="914400" cy="365760"/>
          </a:xfrm>
          <a:prstGeom prst="rect">
            <a:avLst/>
          </a:prstGeom>
          <a:noFill/>
          <a:ln/>
        </p:spPr>
        <p:txBody>
          <a:bodyPr wrap="square" rtlCol="0" anchor="ctr"/>
          <a:lstStyle/>
          <a:p>
            <a:pPr marL="0" indent="0">
              <a:buNone/>
            </a:pPr>
            <a:r>
              <a:rPr lang="en-US" sz="2200" b="1" dirty="0">
                <a:solidFill>
                  <a:srgbClr val="E91E63"/>
                </a:solidFill>
                <a:latin typeface="Georgia" pitchFamily="34" charset="0"/>
                <a:ea typeface="Georgia" pitchFamily="34" charset="-122"/>
                <a:cs typeface="Georgia" pitchFamily="34" charset="-120"/>
              </a:rPr>
              <a:t>01</a:t>
            </a:r>
            <a:endParaRPr lang="en-US" sz="2200" dirty="0"/>
          </a:p>
        </p:txBody>
      </p:sp>
      <p:sp>
        <p:nvSpPr>
          <p:cNvPr id="12" name="Text 10"/>
          <p:cNvSpPr/>
          <p:nvPr/>
        </p:nvSpPr>
        <p:spPr>
          <a:xfrm>
            <a:off x="640080" y="2423160"/>
            <a:ext cx="2468880" cy="320040"/>
          </a:xfrm>
          <a:prstGeom prst="rect">
            <a:avLst/>
          </a:prstGeom>
          <a:noFill/>
          <a:ln/>
        </p:spPr>
        <p:txBody>
          <a:bodyPr wrap="square" rtlCol="0" anchor="ctr"/>
          <a:lstStyle/>
          <a:p>
            <a:pPr marL="0" indent="0">
              <a:buNone/>
            </a:pPr>
            <a:r>
              <a:rPr lang="en-US" sz="1200" b="1" kern="0" spc="200" dirty="0">
                <a:solidFill>
                  <a:srgbClr val="FFFFFF"/>
                </a:solidFill>
                <a:latin typeface="Calibri" pitchFamily="34" charset="0"/>
                <a:ea typeface="Calibri" pitchFamily="34" charset="-122"/>
                <a:cs typeface="Calibri" pitchFamily="34" charset="-120"/>
              </a:rPr>
              <a:t>INGEST</a:t>
            </a:r>
            <a:endParaRPr lang="en-US" sz="1200" dirty="0"/>
          </a:p>
        </p:txBody>
      </p:sp>
      <p:sp>
        <p:nvSpPr>
          <p:cNvPr id="13" name="Text 11"/>
          <p:cNvSpPr/>
          <p:nvPr/>
        </p:nvSpPr>
        <p:spPr>
          <a:xfrm>
            <a:off x="640080" y="2743200"/>
            <a:ext cx="2468880" cy="640080"/>
          </a:xfrm>
          <a:prstGeom prst="rect">
            <a:avLst/>
          </a:prstGeom>
          <a:noFill/>
          <a:ln/>
        </p:spPr>
        <p:txBody>
          <a:bodyPr wrap="square" rtlCol="0" anchor="ctr"/>
          <a:lstStyle/>
          <a:p>
            <a:pPr marL="0" indent="0">
              <a:buNone/>
            </a:pPr>
            <a:r>
              <a:rPr lang="en-US" sz="1000" dirty="0">
                <a:solidFill>
                  <a:srgbClr val="8089B5"/>
                </a:solidFill>
                <a:latin typeface="Calibri" pitchFamily="34" charset="0"/>
                <a:ea typeface="Calibri" pitchFamily="34" charset="-122"/>
                <a:cs typeface="Calibri" pitchFamily="34" charset="-120"/>
              </a:rPr>
              <a:t>Upload User Profiles + Viewership logs to Databricks workspace.</a:t>
            </a:r>
            <a:endParaRPr lang="en-US" sz="1000" dirty="0"/>
          </a:p>
        </p:txBody>
      </p:sp>
      <p:sp>
        <p:nvSpPr>
          <p:cNvPr id="14" name="Shape 12"/>
          <p:cNvSpPr/>
          <p:nvPr/>
        </p:nvSpPr>
        <p:spPr>
          <a:xfrm>
            <a:off x="3364992" y="1920240"/>
            <a:ext cx="2743200" cy="1463040"/>
          </a:xfrm>
          <a:prstGeom prst="roundRect">
            <a:avLst>
              <a:gd name="adj" fmla="val 5000"/>
            </a:avLst>
          </a:prstGeom>
          <a:solidFill>
            <a:srgbClr val="111738"/>
          </a:solidFill>
          <a:ln w="12700">
            <a:solidFill>
              <a:srgbClr val="2A3160"/>
            </a:solidFill>
            <a:prstDash val="solid"/>
          </a:ln>
        </p:spPr>
      </p:sp>
      <p:sp>
        <p:nvSpPr>
          <p:cNvPr id="15" name="Text 13"/>
          <p:cNvSpPr/>
          <p:nvPr/>
        </p:nvSpPr>
        <p:spPr>
          <a:xfrm>
            <a:off x="3547872" y="2011680"/>
            <a:ext cx="914400" cy="365760"/>
          </a:xfrm>
          <a:prstGeom prst="rect">
            <a:avLst/>
          </a:prstGeom>
          <a:noFill/>
          <a:ln/>
        </p:spPr>
        <p:txBody>
          <a:bodyPr wrap="square" rtlCol="0" anchor="ctr"/>
          <a:lstStyle/>
          <a:p>
            <a:pPr marL="0" indent="0">
              <a:buNone/>
            </a:pPr>
            <a:r>
              <a:rPr lang="en-US" sz="2200" b="1" dirty="0">
                <a:solidFill>
                  <a:srgbClr val="F0A500"/>
                </a:solidFill>
                <a:latin typeface="Georgia" pitchFamily="34" charset="0"/>
                <a:ea typeface="Georgia" pitchFamily="34" charset="-122"/>
                <a:cs typeface="Georgia" pitchFamily="34" charset="-120"/>
              </a:rPr>
              <a:t>02</a:t>
            </a:r>
            <a:endParaRPr lang="en-US" sz="2200" dirty="0"/>
          </a:p>
        </p:txBody>
      </p:sp>
      <p:sp>
        <p:nvSpPr>
          <p:cNvPr id="16" name="Text 14"/>
          <p:cNvSpPr/>
          <p:nvPr/>
        </p:nvSpPr>
        <p:spPr>
          <a:xfrm>
            <a:off x="3547872" y="2423160"/>
            <a:ext cx="2468880" cy="320040"/>
          </a:xfrm>
          <a:prstGeom prst="rect">
            <a:avLst/>
          </a:prstGeom>
          <a:noFill/>
          <a:ln/>
        </p:spPr>
        <p:txBody>
          <a:bodyPr wrap="square" rtlCol="0" anchor="ctr"/>
          <a:lstStyle/>
          <a:p>
            <a:pPr marL="0" indent="0">
              <a:buNone/>
            </a:pPr>
            <a:r>
              <a:rPr lang="en-US" sz="1200" b="1" kern="0" spc="200" dirty="0">
                <a:solidFill>
                  <a:srgbClr val="FFFFFF"/>
                </a:solidFill>
                <a:latin typeface="Calibri" pitchFamily="34" charset="0"/>
                <a:ea typeface="Calibri" pitchFamily="34" charset="-122"/>
                <a:cs typeface="Calibri" pitchFamily="34" charset="-120"/>
              </a:rPr>
              <a:t>MODEL</a:t>
            </a:r>
            <a:endParaRPr lang="en-US" sz="1200" dirty="0"/>
          </a:p>
        </p:txBody>
      </p:sp>
      <p:sp>
        <p:nvSpPr>
          <p:cNvPr id="17" name="Text 15"/>
          <p:cNvSpPr/>
          <p:nvPr/>
        </p:nvSpPr>
        <p:spPr>
          <a:xfrm>
            <a:off x="3547872" y="2743200"/>
            <a:ext cx="2468880" cy="640080"/>
          </a:xfrm>
          <a:prstGeom prst="rect">
            <a:avLst/>
          </a:prstGeom>
          <a:noFill/>
          <a:ln/>
        </p:spPr>
        <p:txBody>
          <a:bodyPr wrap="square" rtlCol="0" anchor="ctr"/>
          <a:lstStyle/>
          <a:p>
            <a:pPr marL="0" indent="0">
              <a:buNone/>
            </a:pPr>
            <a:r>
              <a:rPr lang="en-US" sz="1000" dirty="0">
                <a:solidFill>
                  <a:srgbClr val="8089B5"/>
                </a:solidFill>
                <a:latin typeface="Calibri" pitchFamily="34" charset="0"/>
                <a:ea typeface="Calibri" pitchFamily="34" charset="-122"/>
                <a:cs typeface="Calibri" pitchFamily="34" charset="-120"/>
              </a:rPr>
              <a:t>Join, deduplicate, derive age groups, time slots &amp; channel categories.</a:t>
            </a:r>
            <a:endParaRPr lang="en-US" sz="1000" dirty="0"/>
          </a:p>
        </p:txBody>
      </p:sp>
      <p:sp>
        <p:nvSpPr>
          <p:cNvPr id="18" name="Shape 16"/>
          <p:cNvSpPr/>
          <p:nvPr/>
        </p:nvSpPr>
        <p:spPr>
          <a:xfrm>
            <a:off x="6272784" y="1920240"/>
            <a:ext cx="2743200" cy="1463040"/>
          </a:xfrm>
          <a:prstGeom prst="roundRect">
            <a:avLst>
              <a:gd name="adj" fmla="val 5000"/>
            </a:avLst>
          </a:prstGeom>
          <a:solidFill>
            <a:srgbClr val="111738"/>
          </a:solidFill>
          <a:ln w="12700">
            <a:solidFill>
              <a:srgbClr val="2A3160"/>
            </a:solidFill>
            <a:prstDash val="solid"/>
          </a:ln>
        </p:spPr>
      </p:sp>
      <p:sp>
        <p:nvSpPr>
          <p:cNvPr id="19" name="Text 17"/>
          <p:cNvSpPr/>
          <p:nvPr/>
        </p:nvSpPr>
        <p:spPr>
          <a:xfrm>
            <a:off x="6455664" y="2011680"/>
            <a:ext cx="914400" cy="365760"/>
          </a:xfrm>
          <a:prstGeom prst="rect">
            <a:avLst/>
          </a:prstGeom>
          <a:noFill/>
          <a:ln/>
        </p:spPr>
        <p:txBody>
          <a:bodyPr wrap="square" rtlCol="0" anchor="ctr"/>
          <a:lstStyle/>
          <a:p>
            <a:pPr marL="0" indent="0">
              <a:buNone/>
            </a:pPr>
            <a:r>
              <a:rPr lang="en-US" sz="2200" b="1" dirty="0">
                <a:solidFill>
                  <a:srgbClr val="00D9FF"/>
                </a:solidFill>
                <a:latin typeface="Georgia" pitchFamily="34" charset="0"/>
                <a:ea typeface="Georgia" pitchFamily="34" charset="-122"/>
                <a:cs typeface="Georgia" pitchFamily="34" charset="-120"/>
              </a:rPr>
              <a:t>03</a:t>
            </a:r>
            <a:endParaRPr lang="en-US" sz="2200" dirty="0"/>
          </a:p>
        </p:txBody>
      </p:sp>
      <p:sp>
        <p:nvSpPr>
          <p:cNvPr id="20" name="Text 18"/>
          <p:cNvSpPr/>
          <p:nvPr/>
        </p:nvSpPr>
        <p:spPr>
          <a:xfrm>
            <a:off x="6455664" y="2423160"/>
            <a:ext cx="2468880" cy="320040"/>
          </a:xfrm>
          <a:prstGeom prst="rect">
            <a:avLst/>
          </a:prstGeom>
          <a:noFill/>
          <a:ln/>
        </p:spPr>
        <p:txBody>
          <a:bodyPr wrap="square" rtlCol="0" anchor="ctr"/>
          <a:lstStyle/>
          <a:p>
            <a:pPr marL="0" indent="0">
              <a:buNone/>
            </a:pPr>
            <a:r>
              <a:rPr lang="en-US" sz="1200" b="1" kern="0" spc="200" dirty="0">
                <a:solidFill>
                  <a:srgbClr val="FFFFFF"/>
                </a:solidFill>
                <a:latin typeface="Calibri" pitchFamily="34" charset="0"/>
                <a:ea typeface="Calibri" pitchFamily="34" charset="-122"/>
                <a:cs typeface="Calibri" pitchFamily="34" charset="-120"/>
              </a:rPr>
              <a:t>ANALYSE</a:t>
            </a:r>
            <a:endParaRPr lang="en-US" sz="1200" dirty="0"/>
          </a:p>
        </p:txBody>
      </p:sp>
      <p:sp>
        <p:nvSpPr>
          <p:cNvPr id="21" name="Text 19"/>
          <p:cNvSpPr/>
          <p:nvPr/>
        </p:nvSpPr>
        <p:spPr>
          <a:xfrm>
            <a:off x="6455664" y="2743200"/>
            <a:ext cx="2468880" cy="640080"/>
          </a:xfrm>
          <a:prstGeom prst="rect">
            <a:avLst/>
          </a:prstGeom>
          <a:noFill/>
          <a:ln/>
        </p:spPr>
        <p:txBody>
          <a:bodyPr wrap="square" rtlCol="0" anchor="ctr"/>
          <a:lstStyle/>
          <a:p>
            <a:pPr marL="0" indent="0">
              <a:buNone/>
            </a:pPr>
            <a:r>
              <a:rPr lang="en-US" sz="1000" dirty="0">
                <a:solidFill>
                  <a:srgbClr val="8089B5"/>
                </a:solidFill>
                <a:latin typeface="Calibri" pitchFamily="34" charset="0"/>
                <a:ea typeface="Calibri" pitchFamily="34" charset="-122"/>
                <a:cs typeface="Calibri" pitchFamily="34" charset="-120"/>
              </a:rPr>
              <a:t>Run SQL queries for province, gender, race, age, channel &amp; hour cuts.</a:t>
            </a:r>
            <a:endParaRPr lang="en-US" sz="1000" dirty="0"/>
          </a:p>
        </p:txBody>
      </p:sp>
      <p:sp>
        <p:nvSpPr>
          <p:cNvPr id="22" name="Shape 20"/>
          <p:cNvSpPr/>
          <p:nvPr/>
        </p:nvSpPr>
        <p:spPr>
          <a:xfrm>
            <a:off x="9180576" y="1920240"/>
            <a:ext cx="2743200" cy="1463040"/>
          </a:xfrm>
          <a:prstGeom prst="roundRect">
            <a:avLst>
              <a:gd name="adj" fmla="val 5000"/>
            </a:avLst>
          </a:prstGeom>
          <a:solidFill>
            <a:srgbClr val="111738"/>
          </a:solidFill>
          <a:ln w="12700">
            <a:solidFill>
              <a:srgbClr val="2A3160"/>
            </a:solidFill>
            <a:prstDash val="solid"/>
          </a:ln>
        </p:spPr>
      </p:sp>
      <p:sp>
        <p:nvSpPr>
          <p:cNvPr id="23" name="Text 21"/>
          <p:cNvSpPr/>
          <p:nvPr/>
        </p:nvSpPr>
        <p:spPr>
          <a:xfrm>
            <a:off x="9363456" y="2011680"/>
            <a:ext cx="914400" cy="365760"/>
          </a:xfrm>
          <a:prstGeom prst="rect">
            <a:avLst/>
          </a:prstGeom>
          <a:noFill/>
          <a:ln/>
        </p:spPr>
        <p:txBody>
          <a:bodyPr wrap="square" rtlCol="0" anchor="ctr"/>
          <a:lstStyle/>
          <a:p>
            <a:pPr marL="0" indent="0">
              <a:buNone/>
            </a:pPr>
            <a:r>
              <a:rPr lang="en-US" sz="2200" b="1" dirty="0">
                <a:solidFill>
                  <a:srgbClr val="FFFFFF"/>
                </a:solidFill>
                <a:latin typeface="Georgia" pitchFamily="34" charset="0"/>
                <a:ea typeface="Georgia" pitchFamily="34" charset="-122"/>
                <a:cs typeface="Georgia" pitchFamily="34" charset="-120"/>
              </a:rPr>
              <a:t>04</a:t>
            </a:r>
            <a:endParaRPr lang="en-US" sz="2200" dirty="0"/>
          </a:p>
        </p:txBody>
      </p:sp>
      <p:sp>
        <p:nvSpPr>
          <p:cNvPr id="24" name="Text 22"/>
          <p:cNvSpPr/>
          <p:nvPr/>
        </p:nvSpPr>
        <p:spPr>
          <a:xfrm>
            <a:off x="9363456" y="2423160"/>
            <a:ext cx="2468880" cy="320040"/>
          </a:xfrm>
          <a:prstGeom prst="rect">
            <a:avLst/>
          </a:prstGeom>
          <a:noFill/>
          <a:ln/>
        </p:spPr>
        <p:txBody>
          <a:bodyPr wrap="square" rtlCol="0" anchor="ctr"/>
          <a:lstStyle/>
          <a:p>
            <a:pPr marL="0" indent="0">
              <a:buNone/>
            </a:pPr>
            <a:r>
              <a:rPr lang="en-US" sz="1200" b="1" kern="0" spc="200" dirty="0">
                <a:solidFill>
                  <a:srgbClr val="FFFFFF"/>
                </a:solidFill>
                <a:latin typeface="Calibri" pitchFamily="34" charset="0"/>
                <a:ea typeface="Calibri" pitchFamily="34" charset="-122"/>
                <a:cs typeface="Calibri" pitchFamily="34" charset="-120"/>
              </a:rPr>
              <a:t>VISUALISE</a:t>
            </a:r>
            <a:endParaRPr lang="en-US" sz="1200" dirty="0"/>
          </a:p>
        </p:txBody>
      </p:sp>
      <p:sp>
        <p:nvSpPr>
          <p:cNvPr id="25" name="Text 23"/>
          <p:cNvSpPr/>
          <p:nvPr/>
        </p:nvSpPr>
        <p:spPr>
          <a:xfrm>
            <a:off x="9363456" y="2743200"/>
            <a:ext cx="2468880" cy="640080"/>
          </a:xfrm>
          <a:prstGeom prst="rect">
            <a:avLst/>
          </a:prstGeom>
          <a:noFill/>
          <a:ln/>
        </p:spPr>
        <p:txBody>
          <a:bodyPr wrap="square" rtlCol="0" anchor="ctr"/>
          <a:lstStyle/>
          <a:p>
            <a:pPr marL="0" indent="0">
              <a:buNone/>
            </a:pPr>
            <a:r>
              <a:rPr lang="en-US" sz="1000" dirty="0">
                <a:solidFill>
                  <a:srgbClr val="8089B5"/>
                </a:solidFill>
                <a:latin typeface="Calibri" pitchFamily="34" charset="0"/>
                <a:ea typeface="Calibri" pitchFamily="34" charset="-122"/>
                <a:cs typeface="Calibri" pitchFamily="34" charset="-120"/>
              </a:rPr>
              <a:t>Export to Excel and build a 2-page interactive dashboard.</a:t>
            </a:r>
            <a:endParaRPr lang="en-US" sz="1000" dirty="0"/>
          </a:p>
        </p:txBody>
      </p:sp>
      <p:sp>
        <p:nvSpPr>
          <p:cNvPr id="26" name="Text 24"/>
          <p:cNvSpPr/>
          <p:nvPr/>
        </p:nvSpPr>
        <p:spPr>
          <a:xfrm>
            <a:off x="3200400" y="2423160"/>
            <a:ext cx="182880" cy="457200"/>
          </a:xfrm>
          <a:prstGeom prst="rect">
            <a:avLst/>
          </a:prstGeom>
          <a:noFill/>
          <a:ln/>
        </p:spPr>
        <p:txBody>
          <a:bodyPr wrap="square" rtlCol="0" anchor="ctr"/>
          <a:lstStyle/>
          <a:p>
            <a:pPr marL="0" indent="0" algn="ctr">
              <a:buNone/>
            </a:pPr>
            <a:r>
              <a:rPr lang="en-US" sz="2800" dirty="0">
                <a:solidFill>
                  <a:srgbClr val="E91E63"/>
                </a:solidFill>
                <a:latin typeface="Georgia" pitchFamily="34" charset="0"/>
                <a:ea typeface="Georgia" pitchFamily="34" charset="-122"/>
                <a:cs typeface="Georgia" pitchFamily="34" charset="-120"/>
              </a:rPr>
              <a:t>›</a:t>
            </a:r>
            <a:endParaRPr lang="en-US" sz="2800" dirty="0"/>
          </a:p>
        </p:txBody>
      </p:sp>
      <p:sp>
        <p:nvSpPr>
          <p:cNvPr id="27" name="Text 25"/>
          <p:cNvSpPr/>
          <p:nvPr/>
        </p:nvSpPr>
        <p:spPr>
          <a:xfrm>
            <a:off x="6108192" y="2423160"/>
            <a:ext cx="182880" cy="457200"/>
          </a:xfrm>
          <a:prstGeom prst="rect">
            <a:avLst/>
          </a:prstGeom>
          <a:noFill/>
          <a:ln/>
        </p:spPr>
        <p:txBody>
          <a:bodyPr wrap="square" rtlCol="0" anchor="ctr"/>
          <a:lstStyle/>
          <a:p>
            <a:pPr marL="0" indent="0" algn="ctr">
              <a:buNone/>
            </a:pPr>
            <a:r>
              <a:rPr lang="en-US" sz="2800" dirty="0">
                <a:solidFill>
                  <a:srgbClr val="E91E63"/>
                </a:solidFill>
                <a:latin typeface="Georgia" pitchFamily="34" charset="0"/>
                <a:ea typeface="Georgia" pitchFamily="34" charset="-122"/>
                <a:cs typeface="Georgia" pitchFamily="34" charset="-120"/>
              </a:rPr>
              <a:t>›</a:t>
            </a:r>
            <a:endParaRPr lang="en-US" sz="2800" dirty="0"/>
          </a:p>
        </p:txBody>
      </p:sp>
      <p:sp>
        <p:nvSpPr>
          <p:cNvPr id="28" name="Text 26"/>
          <p:cNvSpPr/>
          <p:nvPr/>
        </p:nvSpPr>
        <p:spPr>
          <a:xfrm>
            <a:off x="9015984" y="2423160"/>
            <a:ext cx="182880" cy="457200"/>
          </a:xfrm>
          <a:prstGeom prst="rect">
            <a:avLst/>
          </a:prstGeom>
          <a:noFill/>
          <a:ln/>
        </p:spPr>
        <p:txBody>
          <a:bodyPr wrap="square" rtlCol="0" anchor="ctr"/>
          <a:lstStyle/>
          <a:p>
            <a:pPr marL="0" indent="0" algn="ctr">
              <a:buNone/>
            </a:pPr>
            <a:r>
              <a:rPr lang="en-US" sz="2800" dirty="0">
                <a:solidFill>
                  <a:srgbClr val="E91E63"/>
                </a:solidFill>
                <a:latin typeface="Georgia" pitchFamily="34" charset="0"/>
                <a:ea typeface="Georgia" pitchFamily="34" charset="-122"/>
                <a:cs typeface="Georgia" pitchFamily="34" charset="-120"/>
              </a:rPr>
              <a:t>›</a:t>
            </a:r>
            <a:endParaRPr lang="en-US" sz="2800" dirty="0"/>
          </a:p>
        </p:txBody>
      </p:sp>
      <p:sp>
        <p:nvSpPr>
          <p:cNvPr id="29" name="Text 27"/>
          <p:cNvSpPr/>
          <p:nvPr/>
        </p:nvSpPr>
        <p:spPr>
          <a:xfrm>
            <a:off x="457200" y="3657600"/>
            <a:ext cx="5486400" cy="274320"/>
          </a:xfrm>
          <a:prstGeom prst="rect">
            <a:avLst/>
          </a:prstGeom>
          <a:noFill/>
          <a:ln/>
        </p:spPr>
        <p:txBody>
          <a:bodyPr wrap="square" rtlCol="0" anchor="ctr"/>
          <a:lstStyle/>
          <a:p>
            <a:pPr marL="0" indent="0">
              <a:buNone/>
            </a:pPr>
            <a:r>
              <a:rPr lang="en-US" sz="1000" b="1" kern="0" spc="400" dirty="0">
                <a:solidFill>
                  <a:srgbClr val="F0A500"/>
                </a:solidFill>
                <a:latin typeface="Calibri" pitchFamily="34" charset="0"/>
                <a:ea typeface="Calibri" pitchFamily="34" charset="-122"/>
                <a:cs typeface="Calibri" pitchFamily="34" charset="-120"/>
              </a:rPr>
              <a:t>DATABRICKS WORKSPACE</a:t>
            </a:r>
            <a:endParaRPr lang="en-US" sz="1000" dirty="0"/>
          </a:p>
        </p:txBody>
      </p:sp>
      <p:sp>
        <p:nvSpPr>
          <p:cNvPr id="30" name="Shape 28"/>
          <p:cNvSpPr/>
          <p:nvPr/>
        </p:nvSpPr>
        <p:spPr>
          <a:xfrm>
            <a:off x="457200" y="3977640"/>
            <a:ext cx="5669280" cy="2286000"/>
          </a:xfrm>
          <a:prstGeom prst="roundRect">
            <a:avLst>
              <a:gd name="adj" fmla="val 2400"/>
            </a:avLst>
          </a:prstGeom>
          <a:solidFill>
            <a:srgbClr val="FFFFFF"/>
          </a:solidFill>
          <a:ln w="12700">
            <a:solidFill>
              <a:srgbClr val="2A3160"/>
            </a:solidFill>
            <a:prstDash val="solid"/>
          </a:ln>
        </p:spPr>
      </p:sp>
      <p:pic>
        <p:nvPicPr>
          <p:cNvPr id="31" name="Image 0" descr="preencoded.png"/>
          <p:cNvPicPr>
            <a:picLocks noChangeAspect="1"/>
          </p:cNvPicPr>
          <p:nvPr/>
        </p:nvPicPr>
        <p:blipFill>
          <a:blip r:embed="rId3"/>
          <a:srcRect/>
          <a:stretch/>
        </p:blipFill>
        <p:spPr>
          <a:xfrm>
            <a:off x="594360" y="4069080"/>
            <a:ext cx="5440680" cy="2103120"/>
          </a:xfrm>
          <a:prstGeom prst="rect">
            <a:avLst/>
          </a:prstGeom>
        </p:spPr>
      </p:pic>
      <p:sp>
        <p:nvSpPr>
          <p:cNvPr id="32" name="Text 29"/>
          <p:cNvSpPr/>
          <p:nvPr/>
        </p:nvSpPr>
        <p:spPr>
          <a:xfrm>
            <a:off x="6309360" y="3657600"/>
            <a:ext cx="5486400" cy="274320"/>
          </a:xfrm>
          <a:prstGeom prst="rect">
            <a:avLst/>
          </a:prstGeom>
          <a:noFill/>
          <a:ln/>
        </p:spPr>
        <p:txBody>
          <a:bodyPr wrap="square" rtlCol="0" anchor="ctr"/>
          <a:lstStyle/>
          <a:p>
            <a:pPr marL="0" indent="0">
              <a:buNone/>
            </a:pPr>
            <a:r>
              <a:rPr lang="en-US" sz="1000" b="1" kern="0" spc="400" dirty="0">
                <a:solidFill>
                  <a:srgbClr val="F0A500"/>
                </a:solidFill>
                <a:latin typeface="Calibri" pitchFamily="34" charset="0"/>
                <a:ea typeface="Calibri" pitchFamily="34" charset="-122"/>
                <a:cs typeface="Calibri" pitchFamily="34" charset="-120"/>
              </a:rPr>
              <a:t>SQL TRANSFORMATIONS</a:t>
            </a:r>
            <a:endParaRPr lang="en-US" sz="1000" dirty="0"/>
          </a:p>
        </p:txBody>
      </p:sp>
      <p:sp>
        <p:nvSpPr>
          <p:cNvPr id="33" name="Shape 30"/>
          <p:cNvSpPr/>
          <p:nvPr/>
        </p:nvSpPr>
        <p:spPr>
          <a:xfrm>
            <a:off x="6309360" y="3977640"/>
            <a:ext cx="5486400" cy="2286000"/>
          </a:xfrm>
          <a:prstGeom prst="roundRect">
            <a:avLst>
              <a:gd name="adj" fmla="val 2400"/>
            </a:avLst>
          </a:prstGeom>
          <a:solidFill>
            <a:srgbClr val="FFFFFF"/>
          </a:solidFill>
          <a:ln w="12700">
            <a:solidFill>
              <a:srgbClr val="2A3160"/>
            </a:solidFill>
            <a:prstDash val="solid"/>
          </a:ln>
        </p:spPr>
      </p:sp>
      <p:pic>
        <p:nvPicPr>
          <p:cNvPr id="34" name="Image 1" descr="preencoded.png"/>
          <p:cNvPicPr>
            <a:picLocks noChangeAspect="1"/>
          </p:cNvPicPr>
          <p:nvPr/>
        </p:nvPicPr>
        <p:blipFill>
          <a:blip r:embed="rId4"/>
          <a:srcRect/>
          <a:stretch/>
        </p:blipFill>
        <p:spPr>
          <a:xfrm>
            <a:off x="6446520" y="4069080"/>
            <a:ext cx="5212080" cy="2103120"/>
          </a:xfrm>
          <a:prstGeom prst="rect">
            <a:avLst/>
          </a:prstGeom>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0E27"/>
        </a:solidFill>
        <a:effectLst/>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E91E63"/>
          </a:solidFill>
          <a:ln w="12700">
            <a:solidFill>
              <a:srgbClr val="E91E63"/>
            </a:solidFill>
            <a:prstDash val="solid"/>
          </a:ln>
        </p:spPr>
      </p:sp>
      <p:sp>
        <p:nvSpPr>
          <p:cNvPr id="3" name="Text 1"/>
          <p:cNvSpPr/>
          <p:nvPr/>
        </p:nvSpPr>
        <p:spPr>
          <a:xfrm>
            <a:off x="457200" y="256032"/>
            <a:ext cx="7315200" cy="274320"/>
          </a:xfrm>
          <a:prstGeom prst="rect">
            <a:avLst/>
          </a:prstGeom>
          <a:noFill/>
          <a:ln/>
        </p:spPr>
        <p:txBody>
          <a:bodyPr wrap="square" rtlCol="0" anchor="ctr"/>
          <a:lstStyle/>
          <a:p>
            <a:pPr marL="0" indent="0">
              <a:buNone/>
            </a:pPr>
            <a:r>
              <a:rPr lang="en-US" sz="900" b="1" kern="0" spc="400" dirty="0">
                <a:solidFill>
                  <a:srgbClr val="8089B5"/>
                </a:solidFill>
                <a:latin typeface="Calibri" pitchFamily="34" charset="0"/>
                <a:ea typeface="Calibri" pitchFamily="34" charset="-122"/>
                <a:cs typeface="Calibri" pitchFamily="34" charset="-120"/>
              </a:rPr>
              <a:t>BRIGHT TV  ·  VIEWERSHIP PROJECT</a:t>
            </a:r>
            <a:endParaRPr lang="en-US" sz="900" dirty="0"/>
          </a:p>
        </p:txBody>
      </p:sp>
      <p:sp>
        <p:nvSpPr>
          <p:cNvPr id="4" name="Text 2"/>
          <p:cNvSpPr/>
          <p:nvPr/>
        </p:nvSpPr>
        <p:spPr>
          <a:xfrm>
            <a:off x="10515600" y="256032"/>
            <a:ext cx="1280160" cy="274320"/>
          </a:xfrm>
          <a:prstGeom prst="rect">
            <a:avLst/>
          </a:prstGeom>
          <a:noFill/>
          <a:ln/>
        </p:spPr>
        <p:txBody>
          <a:bodyPr wrap="square" rtlCol="0" anchor="ctr"/>
          <a:lstStyle/>
          <a:p>
            <a:pPr marL="0" indent="0" algn="r">
              <a:buNone/>
            </a:pPr>
            <a:r>
              <a:rPr lang="en-US" sz="900" kern="0" spc="200" dirty="0">
                <a:solidFill>
                  <a:srgbClr val="8089B5"/>
                </a:solidFill>
                <a:latin typeface="Calibri" pitchFamily="34" charset="0"/>
                <a:ea typeface="Calibri" pitchFamily="34" charset="-122"/>
                <a:cs typeface="Calibri" pitchFamily="34" charset="-120"/>
              </a:rPr>
              <a:t>07 / 09</a:t>
            </a:r>
            <a:endParaRPr lang="en-US" sz="900" dirty="0"/>
          </a:p>
        </p:txBody>
      </p:sp>
      <p:sp>
        <p:nvSpPr>
          <p:cNvPr id="5" name="Text 3"/>
          <p:cNvSpPr/>
          <p:nvPr/>
        </p:nvSpPr>
        <p:spPr>
          <a:xfrm>
            <a:off x="457200" y="6537960"/>
            <a:ext cx="7315200" cy="228600"/>
          </a:xfrm>
          <a:prstGeom prst="rect">
            <a:avLst/>
          </a:prstGeom>
          <a:noFill/>
          <a:ln/>
        </p:spPr>
        <p:txBody>
          <a:bodyPr wrap="square" rtlCol="0" anchor="ctr"/>
          <a:lstStyle/>
          <a:p>
            <a:pPr marL="0" indent="0">
              <a:buNone/>
            </a:pPr>
            <a:r>
              <a:rPr lang="en-US" sz="800" dirty="0">
                <a:solidFill>
                  <a:srgbClr val="8089B5"/>
                </a:solidFill>
                <a:latin typeface="Calibri" pitchFamily="34" charset="0"/>
                <a:ea typeface="Calibri" pitchFamily="34" charset="-122"/>
                <a:cs typeface="Calibri" pitchFamily="34" charset="-120"/>
              </a:rPr>
              <a:t>Ennove Analytics  ·  Innocent Mphahlele</a:t>
            </a:r>
            <a:endParaRPr lang="en-US" sz="800" dirty="0"/>
          </a:p>
        </p:txBody>
      </p:sp>
      <p:sp>
        <p:nvSpPr>
          <p:cNvPr id="6" name="Text 4"/>
          <p:cNvSpPr/>
          <p:nvPr/>
        </p:nvSpPr>
        <p:spPr>
          <a:xfrm>
            <a:off x="457200" y="594360"/>
            <a:ext cx="11247120" cy="640080"/>
          </a:xfrm>
          <a:prstGeom prst="rect">
            <a:avLst/>
          </a:prstGeom>
          <a:noFill/>
          <a:ln/>
        </p:spPr>
        <p:txBody>
          <a:bodyPr wrap="square" rtlCol="0" anchor="ctr"/>
          <a:lstStyle/>
          <a:p>
            <a:pPr marL="0" indent="0">
              <a:buNone/>
            </a:pPr>
            <a:r>
              <a:rPr lang="en-US" sz="3200" b="1" dirty="0">
                <a:solidFill>
                  <a:srgbClr val="FFFFFF"/>
                </a:solidFill>
                <a:latin typeface="Georgia" pitchFamily="34" charset="0"/>
                <a:ea typeface="Georgia" pitchFamily="34" charset="-122"/>
                <a:cs typeface="Georgia" pitchFamily="34" charset="-120"/>
              </a:rPr>
              <a:t>Key Insights</a:t>
            </a:r>
            <a:endParaRPr lang="en-US" sz="3200" dirty="0"/>
          </a:p>
        </p:txBody>
      </p:sp>
      <p:sp>
        <p:nvSpPr>
          <p:cNvPr id="7" name="Text 5"/>
          <p:cNvSpPr/>
          <p:nvPr/>
        </p:nvSpPr>
        <p:spPr>
          <a:xfrm>
            <a:off x="457200" y="1188720"/>
            <a:ext cx="11247120" cy="320040"/>
          </a:xfrm>
          <a:prstGeom prst="rect">
            <a:avLst/>
          </a:prstGeom>
          <a:noFill/>
          <a:ln/>
        </p:spPr>
        <p:txBody>
          <a:bodyPr wrap="square" rtlCol="0" anchor="ctr"/>
          <a:lstStyle/>
          <a:p>
            <a:pPr marL="0" indent="0">
              <a:buNone/>
            </a:pPr>
            <a:r>
              <a:rPr lang="en-US" sz="1300" i="1" dirty="0">
                <a:solidFill>
                  <a:srgbClr val="8089B5"/>
                </a:solidFill>
                <a:latin typeface="Calibri" pitchFamily="34" charset="0"/>
                <a:ea typeface="Calibri" pitchFamily="34" charset="-122"/>
                <a:cs typeface="Calibri" pitchFamily="34" charset="-120"/>
              </a:rPr>
              <a:t>Four findings shaping the growth strategy</a:t>
            </a:r>
            <a:endParaRPr lang="en-US" sz="1300" dirty="0"/>
          </a:p>
        </p:txBody>
      </p:sp>
      <p:sp>
        <p:nvSpPr>
          <p:cNvPr id="8" name="Shape 6"/>
          <p:cNvSpPr/>
          <p:nvPr/>
        </p:nvSpPr>
        <p:spPr>
          <a:xfrm>
            <a:off x="457200" y="1627632"/>
            <a:ext cx="109728" cy="109728"/>
          </a:xfrm>
          <a:prstGeom prst="ellipse">
            <a:avLst/>
          </a:prstGeom>
          <a:solidFill>
            <a:srgbClr val="E91E63"/>
          </a:solidFill>
          <a:ln w="12700">
            <a:solidFill>
              <a:srgbClr val="E91E63"/>
            </a:solidFill>
            <a:prstDash val="solid"/>
          </a:ln>
        </p:spPr>
      </p:sp>
      <p:sp>
        <p:nvSpPr>
          <p:cNvPr id="9" name="Shape 7"/>
          <p:cNvSpPr/>
          <p:nvPr/>
        </p:nvSpPr>
        <p:spPr>
          <a:xfrm>
            <a:off x="640080" y="1673352"/>
            <a:ext cx="548640" cy="18288"/>
          </a:xfrm>
          <a:prstGeom prst="rect">
            <a:avLst/>
          </a:prstGeom>
          <a:solidFill>
            <a:srgbClr val="E91E63"/>
          </a:solidFill>
          <a:ln w="12700">
            <a:solidFill>
              <a:srgbClr val="E91E63"/>
            </a:solidFill>
            <a:prstDash val="solid"/>
          </a:ln>
        </p:spPr>
      </p:sp>
      <p:sp>
        <p:nvSpPr>
          <p:cNvPr id="10" name="Shape 8"/>
          <p:cNvSpPr/>
          <p:nvPr/>
        </p:nvSpPr>
        <p:spPr>
          <a:xfrm>
            <a:off x="457200" y="1874520"/>
            <a:ext cx="2743200" cy="1051560"/>
          </a:xfrm>
          <a:prstGeom prst="roundRect">
            <a:avLst>
              <a:gd name="adj" fmla="val 6957"/>
            </a:avLst>
          </a:prstGeom>
          <a:solidFill>
            <a:srgbClr val="111738"/>
          </a:solidFill>
          <a:ln w="12700">
            <a:solidFill>
              <a:srgbClr val="2A3160"/>
            </a:solidFill>
            <a:prstDash val="solid"/>
          </a:ln>
        </p:spPr>
      </p:sp>
      <p:sp>
        <p:nvSpPr>
          <p:cNvPr id="11" name="Shape 9"/>
          <p:cNvSpPr/>
          <p:nvPr/>
        </p:nvSpPr>
        <p:spPr>
          <a:xfrm>
            <a:off x="457200" y="1874520"/>
            <a:ext cx="2743200" cy="54864"/>
          </a:xfrm>
          <a:prstGeom prst="rect">
            <a:avLst/>
          </a:prstGeom>
          <a:solidFill>
            <a:srgbClr val="E91E63"/>
          </a:solidFill>
          <a:ln w="12700">
            <a:solidFill>
              <a:srgbClr val="E91E63"/>
            </a:solidFill>
            <a:prstDash val="solid"/>
          </a:ln>
        </p:spPr>
      </p:sp>
      <p:sp>
        <p:nvSpPr>
          <p:cNvPr id="12" name="Text 10"/>
          <p:cNvSpPr/>
          <p:nvPr/>
        </p:nvSpPr>
        <p:spPr>
          <a:xfrm>
            <a:off x="640080" y="2011680"/>
            <a:ext cx="2468880" cy="502920"/>
          </a:xfrm>
          <a:prstGeom prst="rect">
            <a:avLst/>
          </a:prstGeom>
          <a:noFill/>
          <a:ln/>
        </p:spPr>
        <p:txBody>
          <a:bodyPr wrap="square" rtlCol="0" anchor="ctr"/>
          <a:lstStyle/>
          <a:p>
            <a:pPr marL="0" indent="0">
              <a:buNone/>
            </a:pPr>
            <a:r>
              <a:rPr lang="en-US" sz="3000" b="1" dirty="0">
                <a:solidFill>
                  <a:srgbClr val="E91E63"/>
                </a:solidFill>
                <a:latin typeface="Georgia" pitchFamily="34" charset="0"/>
                <a:ea typeface="Georgia" pitchFamily="34" charset="-122"/>
                <a:cs typeface="Georgia" pitchFamily="34" charset="-120"/>
              </a:rPr>
              <a:t>37%</a:t>
            </a:r>
            <a:endParaRPr lang="en-US" sz="3000" dirty="0"/>
          </a:p>
        </p:txBody>
      </p:sp>
      <p:sp>
        <p:nvSpPr>
          <p:cNvPr id="13" name="Text 11"/>
          <p:cNvSpPr/>
          <p:nvPr/>
        </p:nvSpPr>
        <p:spPr>
          <a:xfrm>
            <a:off x="640080" y="2514600"/>
            <a:ext cx="2468880" cy="365760"/>
          </a:xfrm>
          <a:prstGeom prst="rect">
            <a:avLst/>
          </a:prstGeom>
          <a:noFill/>
          <a:ln/>
        </p:spPr>
        <p:txBody>
          <a:bodyPr wrap="square" rtlCol="0" anchor="ctr"/>
          <a:lstStyle/>
          <a:p>
            <a:pPr marL="0" indent="0">
              <a:buNone/>
            </a:pPr>
            <a:r>
              <a:rPr lang="en-US" sz="1100" dirty="0">
                <a:solidFill>
                  <a:srgbClr val="C8CDE8"/>
                </a:solidFill>
                <a:latin typeface="Calibri" pitchFamily="34" charset="0"/>
                <a:ea typeface="Calibri" pitchFamily="34" charset="-122"/>
                <a:cs typeface="Calibri" pitchFamily="34" charset="-120"/>
              </a:rPr>
              <a:t>of viewers in Gauteng</a:t>
            </a:r>
            <a:endParaRPr lang="en-US" sz="1100" dirty="0"/>
          </a:p>
        </p:txBody>
      </p:sp>
      <p:sp>
        <p:nvSpPr>
          <p:cNvPr id="14" name="Shape 12"/>
          <p:cNvSpPr/>
          <p:nvPr/>
        </p:nvSpPr>
        <p:spPr>
          <a:xfrm>
            <a:off x="3364992" y="1874520"/>
            <a:ext cx="2743200" cy="1051560"/>
          </a:xfrm>
          <a:prstGeom prst="roundRect">
            <a:avLst>
              <a:gd name="adj" fmla="val 6957"/>
            </a:avLst>
          </a:prstGeom>
          <a:solidFill>
            <a:srgbClr val="111738"/>
          </a:solidFill>
          <a:ln w="12700">
            <a:solidFill>
              <a:srgbClr val="2A3160"/>
            </a:solidFill>
            <a:prstDash val="solid"/>
          </a:ln>
        </p:spPr>
      </p:sp>
      <p:sp>
        <p:nvSpPr>
          <p:cNvPr id="15" name="Shape 13"/>
          <p:cNvSpPr/>
          <p:nvPr/>
        </p:nvSpPr>
        <p:spPr>
          <a:xfrm>
            <a:off x="3364992" y="1874520"/>
            <a:ext cx="2743200" cy="54864"/>
          </a:xfrm>
          <a:prstGeom prst="rect">
            <a:avLst/>
          </a:prstGeom>
          <a:solidFill>
            <a:srgbClr val="F0A500"/>
          </a:solidFill>
          <a:ln w="12700">
            <a:solidFill>
              <a:srgbClr val="F0A500"/>
            </a:solidFill>
            <a:prstDash val="solid"/>
          </a:ln>
        </p:spPr>
      </p:sp>
      <p:sp>
        <p:nvSpPr>
          <p:cNvPr id="16" name="Text 14"/>
          <p:cNvSpPr/>
          <p:nvPr/>
        </p:nvSpPr>
        <p:spPr>
          <a:xfrm>
            <a:off x="3547872" y="2011680"/>
            <a:ext cx="2468880" cy="502920"/>
          </a:xfrm>
          <a:prstGeom prst="rect">
            <a:avLst/>
          </a:prstGeom>
          <a:noFill/>
          <a:ln/>
        </p:spPr>
        <p:txBody>
          <a:bodyPr wrap="square" rtlCol="0" anchor="ctr"/>
          <a:lstStyle/>
          <a:p>
            <a:pPr marL="0" indent="0">
              <a:buNone/>
            </a:pPr>
            <a:r>
              <a:rPr lang="en-US" sz="3000" b="1" dirty="0">
                <a:solidFill>
                  <a:srgbClr val="F0A500"/>
                </a:solidFill>
                <a:latin typeface="Georgia" pitchFamily="34" charset="0"/>
                <a:ea typeface="Georgia" pitchFamily="34" charset="-122"/>
                <a:cs typeface="Georgia" pitchFamily="34" charset="-120"/>
              </a:rPr>
              <a:t>8,761</a:t>
            </a:r>
            <a:endParaRPr lang="en-US" sz="3000" dirty="0"/>
          </a:p>
        </p:txBody>
      </p:sp>
      <p:sp>
        <p:nvSpPr>
          <p:cNvPr id="17" name="Text 15"/>
          <p:cNvSpPr/>
          <p:nvPr/>
        </p:nvSpPr>
        <p:spPr>
          <a:xfrm>
            <a:off x="3547872" y="2514600"/>
            <a:ext cx="2468880" cy="365760"/>
          </a:xfrm>
          <a:prstGeom prst="rect">
            <a:avLst/>
          </a:prstGeom>
          <a:noFill/>
          <a:ln/>
        </p:spPr>
        <p:txBody>
          <a:bodyPr wrap="square" rtlCol="0" anchor="ctr"/>
          <a:lstStyle/>
          <a:p>
            <a:pPr marL="0" indent="0">
              <a:buNone/>
            </a:pPr>
            <a:r>
              <a:rPr lang="en-US" sz="1100" dirty="0">
                <a:solidFill>
                  <a:srgbClr val="C8CDE8"/>
                </a:solidFill>
                <a:latin typeface="Calibri" pitchFamily="34" charset="0"/>
                <a:ea typeface="Calibri" pitchFamily="34" charset="-122"/>
                <a:cs typeface="Calibri" pitchFamily="34" charset="-120"/>
              </a:rPr>
              <a:t>male viewers (top segment)</a:t>
            </a:r>
            <a:endParaRPr lang="en-US" sz="1100" dirty="0"/>
          </a:p>
        </p:txBody>
      </p:sp>
      <p:sp>
        <p:nvSpPr>
          <p:cNvPr id="18" name="Shape 16"/>
          <p:cNvSpPr/>
          <p:nvPr/>
        </p:nvSpPr>
        <p:spPr>
          <a:xfrm>
            <a:off x="6272784" y="1874520"/>
            <a:ext cx="2743200" cy="1051560"/>
          </a:xfrm>
          <a:prstGeom prst="roundRect">
            <a:avLst>
              <a:gd name="adj" fmla="val 6957"/>
            </a:avLst>
          </a:prstGeom>
          <a:solidFill>
            <a:srgbClr val="111738"/>
          </a:solidFill>
          <a:ln w="12700">
            <a:solidFill>
              <a:srgbClr val="2A3160"/>
            </a:solidFill>
            <a:prstDash val="solid"/>
          </a:ln>
        </p:spPr>
      </p:sp>
      <p:sp>
        <p:nvSpPr>
          <p:cNvPr id="19" name="Shape 17"/>
          <p:cNvSpPr/>
          <p:nvPr/>
        </p:nvSpPr>
        <p:spPr>
          <a:xfrm>
            <a:off x="6272784" y="1874520"/>
            <a:ext cx="2743200" cy="54864"/>
          </a:xfrm>
          <a:prstGeom prst="rect">
            <a:avLst/>
          </a:prstGeom>
          <a:solidFill>
            <a:srgbClr val="00D9FF"/>
          </a:solidFill>
          <a:ln w="12700">
            <a:solidFill>
              <a:srgbClr val="00D9FF"/>
            </a:solidFill>
            <a:prstDash val="solid"/>
          </a:ln>
        </p:spPr>
      </p:sp>
      <p:sp>
        <p:nvSpPr>
          <p:cNvPr id="20" name="Text 18"/>
          <p:cNvSpPr/>
          <p:nvPr/>
        </p:nvSpPr>
        <p:spPr>
          <a:xfrm>
            <a:off x="6455664" y="2011680"/>
            <a:ext cx="2468880" cy="502920"/>
          </a:xfrm>
          <a:prstGeom prst="rect">
            <a:avLst/>
          </a:prstGeom>
          <a:noFill/>
          <a:ln/>
        </p:spPr>
        <p:txBody>
          <a:bodyPr wrap="square" rtlCol="0" anchor="ctr"/>
          <a:lstStyle/>
          <a:p>
            <a:pPr marL="0" indent="0">
              <a:buNone/>
            </a:pPr>
            <a:r>
              <a:rPr lang="en-US" sz="3000" b="1" dirty="0">
                <a:solidFill>
                  <a:srgbClr val="00D9FF"/>
                </a:solidFill>
                <a:latin typeface="Georgia" pitchFamily="34" charset="0"/>
                <a:ea typeface="Georgia" pitchFamily="34" charset="-122"/>
                <a:cs typeface="Georgia" pitchFamily="34" charset="-120"/>
              </a:rPr>
              <a:t>43%</a:t>
            </a:r>
            <a:endParaRPr lang="en-US" sz="3000" dirty="0"/>
          </a:p>
        </p:txBody>
      </p:sp>
      <p:sp>
        <p:nvSpPr>
          <p:cNvPr id="21" name="Text 19"/>
          <p:cNvSpPr/>
          <p:nvPr/>
        </p:nvSpPr>
        <p:spPr>
          <a:xfrm>
            <a:off x="6455664" y="2514600"/>
            <a:ext cx="2468880" cy="365760"/>
          </a:xfrm>
          <a:prstGeom prst="rect">
            <a:avLst/>
          </a:prstGeom>
          <a:noFill/>
          <a:ln/>
        </p:spPr>
        <p:txBody>
          <a:bodyPr wrap="square" rtlCol="0" anchor="ctr"/>
          <a:lstStyle/>
          <a:p>
            <a:pPr marL="0" indent="0">
              <a:buNone/>
            </a:pPr>
            <a:r>
              <a:rPr lang="en-US" sz="1100" dirty="0">
                <a:solidFill>
                  <a:srgbClr val="C8CDE8"/>
                </a:solidFill>
                <a:latin typeface="Calibri" pitchFamily="34" charset="0"/>
                <a:ea typeface="Calibri" pitchFamily="34" charset="-122"/>
                <a:cs typeface="Calibri" pitchFamily="34" charset="-120"/>
              </a:rPr>
              <a:t>share from Black audience</a:t>
            </a:r>
            <a:endParaRPr lang="en-US" sz="1100" dirty="0"/>
          </a:p>
        </p:txBody>
      </p:sp>
      <p:sp>
        <p:nvSpPr>
          <p:cNvPr id="22" name="Shape 20"/>
          <p:cNvSpPr/>
          <p:nvPr/>
        </p:nvSpPr>
        <p:spPr>
          <a:xfrm>
            <a:off x="9180576" y="1874520"/>
            <a:ext cx="2743200" cy="1051560"/>
          </a:xfrm>
          <a:prstGeom prst="roundRect">
            <a:avLst>
              <a:gd name="adj" fmla="val 6957"/>
            </a:avLst>
          </a:prstGeom>
          <a:solidFill>
            <a:srgbClr val="111738"/>
          </a:solidFill>
          <a:ln w="12700">
            <a:solidFill>
              <a:srgbClr val="2A3160"/>
            </a:solidFill>
            <a:prstDash val="solid"/>
          </a:ln>
        </p:spPr>
      </p:sp>
      <p:sp>
        <p:nvSpPr>
          <p:cNvPr id="23" name="Shape 21"/>
          <p:cNvSpPr/>
          <p:nvPr/>
        </p:nvSpPr>
        <p:spPr>
          <a:xfrm>
            <a:off x="9180576" y="1874520"/>
            <a:ext cx="2743200" cy="54864"/>
          </a:xfrm>
          <a:prstGeom prst="rect">
            <a:avLst/>
          </a:prstGeom>
          <a:solidFill>
            <a:srgbClr val="FFFFFF"/>
          </a:solidFill>
          <a:ln w="12700">
            <a:solidFill>
              <a:srgbClr val="FFFFFF"/>
            </a:solidFill>
            <a:prstDash val="solid"/>
          </a:ln>
        </p:spPr>
      </p:sp>
      <p:sp>
        <p:nvSpPr>
          <p:cNvPr id="24" name="Text 22"/>
          <p:cNvSpPr/>
          <p:nvPr/>
        </p:nvSpPr>
        <p:spPr>
          <a:xfrm>
            <a:off x="9363456" y="2011680"/>
            <a:ext cx="2468880" cy="502920"/>
          </a:xfrm>
          <a:prstGeom prst="rect">
            <a:avLst/>
          </a:prstGeom>
          <a:noFill/>
          <a:ln/>
        </p:spPr>
        <p:txBody>
          <a:bodyPr wrap="square" rtlCol="0" anchor="ctr"/>
          <a:lstStyle/>
          <a:p>
            <a:pPr marL="0" indent="0">
              <a:buNone/>
            </a:pPr>
            <a:r>
              <a:rPr lang="en-US" sz="3000" b="1" dirty="0">
                <a:solidFill>
                  <a:srgbClr val="FFFFFF"/>
                </a:solidFill>
                <a:latin typeface="Georgia" pitchFamily="34" charset="0"/>
                <a:ea typeface="Georgia" pitchFamily="34" charset="-122"/>
                <a:cs typeface="Georgia" pitchFamily="34" charset="-120"/>
              </a:rPr>
              <a:t>4,455</a:t>
            </a:r>
            <a:endParaRPr lang="en-US" sz="3000" dirty="0"/>
          </a:p>
        </p:txBody>
      </p:sp>
      <p:sp>
        <p:nvSpPr>
          <p:cNvPr id="25" name="Text 23"/>
          <p:cNvSpPr/>
          <p:nvPr/>
        </p:nvSpPr>
        <p:spPr>
          <a:xfrm>
            <a:off x="9363456" y="2514600"/>
            <a:ext cx="2468880" cy="365760"/>
          </a:xfrm>
          <a:prstGeom prst="rect">
            <a:avLst/>
          </a:prstGeom>
          <a:noFill/>
          <a:ln/>
        </p:spPr>
        <p:txBody>
          <a:bodyPr wrap="square" rtlCol="0" anchor="ctr"/>
          <a:lstStyle/>
          <a:p>
            <a:pPr marL="0" indent="0">
              <a:buNone/>
            </a:pPr>
            <a:r>
              <a:rPr lang="en-US" sz="1100" dirty="0">
                <a:solidFill>
                  <a:srgbClr val="C8CDE8"/>
                </a:solidFill>
                <a:latin typeface="Calibri" pitchFamily="34" charset="0"/>
                <a:ea typeface="Calibri" pitchFamily="34" charset="-122"/>
                <a:cs typeface="Calibri" pitchFamily="34" charset="-120"/>
              </a:rPr>
              <a:t>adults — largest age bucket</a:t>
            </a:r>
            <a:endParaRPr lang="en-US" sz="1100" dirty="0"/>
          </a:p>
        </p:txBody>
      </p:sp>
      <p:sp>
        <p:nvSpPr>
          <p:cNvPr id="26" name="Shape 24"/>
          <p:cNvSpPr/>
          <p:nvPr/>
        </p:nvSpPr>
        <p:spPr>
          <a:xfrm>
            <a:off x="457200" y="3108960"/>
            <a:ext cx="5669280" cy="1417320"/>
          </a:xfrm>
          <a:prstGeom prst="roundRect">
            <a:avLst>
              <a:gd name="adj" fmla="val 5161"/>
            </a:avLst>
          </a:prstGeom>
          <a:solidFill>
            <a:srgbClr val="111738"/>
          </a:solidFill>
          <a:ln w="12700">
            <a:solidFill>
              <a:srgbClr val="2A3160"/>
            </a:solidFill>
            <a:prstDash val="solid"/>
          </a:ln>
        </p:spPr>
      </p:sp>
      <p:sp>
        <p:nvSpPr>
          <p:cNvPr id="27" name="Shape 25"/>
          <p:cNvSpPr/>
          <p:nvPr/>
        </p:nvSpPr>
        <p:spPr>
          <a:xfrm>
            <a:off x="457200" y="3108960"/>
            <a:ext cx="91440" cy="1417320"/>
          </a:xfrm>
          <a:prstGeom prst="rect">
            <a:avLst/>
          </a:prstGeom>
          <a:solidFill>
            <a:srgbClr val="E91E63"/>
          </a:solidFill>
          <a:ln w="12700">
            <a:solidFill>
              <a:srgbClr val="E91E63"/>
            </a:solidFill>
            <a:prstDash val="solid"/>
          </a:ln>
        </p:spPr>
      </p:sp>
      <p:sp>
        <p:nvSpPr>
          <p:cNvPr id="28" name="Text 26"/>
          <p:cNvSpPr/>
          <p:nvPr/>
        </p:nvSpPr>
        <p:spPr>
          <a:xfrm>
            <a:off x="731520" y="3246120"/>
            <a:ext cx="5303520" cy="320040"/>
          </a:xfrm>
          <a:prstGeom prst="rect">
            <a:avLst/>
          </a:prstGeom>
          <a:noFill/>
          <a:ln/>
        </p:spPr>
        <p:txBody>
          <a:bodyPr wrap="square" rtlCol="0" anchor="ctr"/>
          <a:lstStyle/>
          <a:p>
            <a:pPr marL="0" indent="0">
              <a:buNone/>
            </a:pPr>
            <a:r>
              <a:rPr lang="en-US" sz="1100" b="1" kern="0" spc="400" dirty="0">
                <a:solidFill>
                  <a:srgbClr val="E91E63"/>
                </a:solidFill>
                <a:latin typeface="Calibri" pitchFamily="34" charset="0"/>
                <a:ea typeface="Calibri" pitchFamily="34" charset="-122"/>
                <a:cs typeface="Calibri" pitchFamily="34" charset="-120"/>
              </a:rPr>
              <a:t>GEOGRAPHY</a:t>
            </a:r>
            <a:endParaRPr lang="en-US" sz="1100" dirty="0"/>
          </a:p>
        </p:txBody>
      </p:sp>
      <p:sp>
        <p:nvSpPr>
          <p:cNvPr id="29" name="Text 27"/>
          <p:cNvSpPr/>
          <p:nvPr/>
        </p:nvSpPr>
        <p:spPr>
          <a:xfrm>
            <a:off x="731520" y="3611880"/>
            <a:ext cx="5303520" cy="868680"/>
          </a:xfrm>
          <a:prstGeom prst="rect">
            <a:avLst/>
          </a:prstGeom>
          <a:noFill/>
          <a:ln/>
        </p:spPr>
        <p:txBody>
          <a:bodyPr wrap="square" rtlCol="0" anchor="ctr"/>
          <a:lstStyle/>
          <a:p>
            <a:pPr marL="0" indent="0">
              <a:buNone/>
            </a:pPr>
            <a:r>
              <a:rPr lang="en-US" sz="1300" dirty="0">
                <a:solidFill>
                  <a:srgbClr val="C8CDE8"/>
                </a:solidFill>
                <a:latin typeface="Calibri" pitchFamily="34" charset="0"/>
                <a:ea typeface="Calibri" pitchFamily="34" charset="-122"/>
                <a:cs typeface="Calibri" pitchFamily="34" charset="-120"/>
              </a:rPr>
              <a:t>Gauteng dominates with 37% of viewership, followed by Western Cape (18%) and KwaZulu-Natal (10%).</a:t>
            </a:r>
            <a:endParaRPr lang="en-US" sz="1300" dirty="0"/>
          </a:p>
        </p:txBody>
      </p:sp>
      <p:sp>
        <p:nvSpPr>
          <p:cNvPr id="30" name="Shape 28"/>
          <p:cNvSpPr/>
          <p:nvPr/>
        </p:nvSpPr>
        <p:spPr>
          <a:xfrm>
            <a:off x="6309360" y="3108960"/>
            <a:ext cx="5669280" cy="1417320"/>
          </a:xfrm>
          <a:prstGeom prst="roundRect">
            <a:avLst>
              <a:gd name="adj" fmla="val 5161"/>
            </a:avLst>
          </a:prstGeom>
          <a:solidFill>
            <a:srgbClr val="111738"/>
          </a:solidFill>
          <a:ln w="12700">
            <a:solidFill>
              <a:srgbClr val="2A3160"/>
            </a:solidFill>
            <a:prstDash val="solid"/>
          </a:ln>
        </p:spPr>
      </p:sp>
      <p:sp>
        <p:nvSpPr>
          <p:cNvPr id="31" name="Shape 29"/>
          <p:cNvSpPr/>
          <p:nvPr/>
        </p:nvSpPr>
        <p:spPr>
          <a:xfrm>
            <a:off x="6309360" y="3108960"/>
            <a:ext cx="91440" cy="1417320"/>
          </a:xfrm>
          <a:prstGeom prst="rect">
            <a:avLst/>
          </a:prstGeom>
          <a:solidFill>
            <a:srgbClr val="F0A500"/>
          </a:solidFill>
          <a:ln w="12700">
            <a:solidFill>
              <a:srgbClr val="F0A500"/>
            </a:solidFill>
            <a:prstDash val="solid"/>
          </a:ln>
        </p:spPr>
      </p:sp>
      <p:sp>
        <p:nvSpPr>
          <p:cNvPr id="32" name="Text 30"/>
          <p:cNvSpPr/>
          <p:nvPr/>
        </p:nvSpPr>
        <p:spPr>
          <a:xfrm>
            <a:off x="6583680" y="3246120"/>
            <a:ext cx="5303520" cy="320040"/>
          </a:xfrm>
          <a:prstGeom prst="rect">
            <a:avLst/>
          </a:prstGeom>
          <a:noFill/>
          <a:ln/>
        </p:spPr>
        <p:txBody>
          <a:bodyPr wrap="square" rtlCol="0" anchor="ctr"/>
          <a:lstStyle/>
          <a:p>
            <a:pPr marL="0" indent="0">
              <a:buNone/>
            </a:pPr>
            <a:r>
              <a:rPr lang="en-US" sz="1100" b="1" kern="0" spc="400" dirty="0">
                <a:solidFill>
                  <a:srgbClr val="F0A500"/>
                </a:solidFill>
                <a:latin typeface="Calibri" pitchFamily="34" charset="0"/>
                <a:ea typeface="Calibri" pitchFamily="34" charset="-122"/>
                <a:cs typeface="Calibri" pitchFamily="34" charset="-120"/>
              </a:rPr>
              <a:t>DEMOGRAPHICS</a:t>
            </a:r>
            <a:endParaRPr lang="en-US" sz="1100" dirty="0"/>
          </a:p>
        </p:txBody>
      </p:sp>
      <p:sp>
        <p:nvSpPr>
          <p:cNvPr id="33" name="Text 31"/>
          <p:cNvSpPr/>
          <p:nvPr/>
        </p:nvSpPr>
        <p:spPr>
          <a:xfrm>
            <a:off x="6583680" y="3611880"/>
            <a:ext cx="5303520" cy="868680"/>
          </a:xfrm>
          <a:prstGeom prst="rect">
            <a:avLst/>
          </a:prstGeom>
          <a:noFill/>
          <a:ln/>
        </p:spPr>
        <p:txBody>
          <a:bodyPr wrap="square" rtlCol="0" anchor="ctr"/>
          <a:lstStyle/>
          <a:p>
            <a:pPr marL="0" indent="0">
              <a:buNone/>
            </a:pPr>
            <a:r>
              <a:rPr lang="en-US" sz="1300" dirty="0">
                <a:solidFill>
                  <a:srgbClr val="C8CDE8"/>
                </a:solidFill>
                <a:latin typeface="Calibri" pitchFamily="34" charset="0"/>
                <a:ea typeface="Calibri" pitchFamily="34" charset="-122"/>
                <a:cs typeface="Calibri" pitchFamily="34" charset="-120"/>
              </a:rPr>
              <a:t>Adults (4,455) and young adults (4,004) drive the platform. Senior viewers (70) are a clear gap.</a:t>
            </a:r>
            <a:endParaRPr lang="en-US" sz="1300" dirty="0"/>
          </a:p>
        </p:txBody>
      </p:sp>
      <p:sp>
        <p:nvSpPr>
          <p:cNvPr id="34" name="Shape 32"/>
          <p:cNvSpPr/>
          <p:nvPr/>
        </p:nvSpPr>
        <p:spPr>
          <a:xfrm>
            <a:off x="457200" y="4709160"/>
            <a:ext cx="5669280" cy="1417320"/>
          </a:xfrm>
          <a:prstGeom prst="roundRect">
            <a:avLst>
              <a:gd name="adj" fmla="val 5161"/>
            </a:avLst>
          </a:prstGeom>
          <a:solidFill>
            <a:srgbClr val="111738"/>
          </a:solidFill>
          <a:ln w="12700">
            <a:solidFill>
              <a:srgbClr val="2A3160"/>
            </a:solidFill>
            <a:prstDash val="solid"/>
          </a:ln>
        </p:spPr>
      </p:sp>
      <p:sp>
        <p:nvSpPr>
          <p:cNvPr id="35" name="Shape 33"/>
          <p:cNvSpPr/>
          <p:nvPr/>
        </p:nvSpPr>
        <p:spPr>
          <a:xfrm>
            <a:off x="457200" y="4709160"/>
            <a:ext cx="91440" cy="1417320"/>
          </a:xfrm>
          <a:prstGeom prst="rect">
            <a:avLst/>
          </a:prstGeom>
          <a:solidFill>
            <a:srgbClr val="00D9FF"/>
          </a:solidFill>
          <a:ln w="12700">
            <a:solidFill>
              <a:srgbClr val="00D9FF"/>
            </a:solidFill>
            <a:prstDash val="solid"/>
          </a:ln>
        </p:spPr>
      </p:sp>
      <p:sp>
        <p:nvSpPr>
          <p:cNvPr id="36" name="Text 34"/>
          <p:cNvSpPr/>
          <p:nvPr/>
        </p:nvSpPr>
        <p:spPr>
          <a:xfrm>
            <a:off x="731520" y="4846320"/>
            <a:ext cx="5303520" cy="320040"/>
          </a:xfrm>
          <a:prstGeom prst="rect">
            <a:avLst/>
          </a:prstGeom>
          <a:noFill/>
          <a:ln/>
        </p:spPr>
        <p:txBody>
          <a:bodyPr wrap="square" rtlCol="0" anchor="ctr"/>
          <a:lstStyle/>
          <a:p>
            <a:pPr marL="0" indent="0">
              <a:buNone/>
            </a:pPr>
            <a:r>
              <a:rPr lang="en-US" sz="1100" b="1" kern="0" spc="400" dirty="0">
                <a:solidFill>
                  <a:srgbClr val="00D9FF"/>
                </a:solidFill>
                <a:latin typeface="Calibri" pitchFamily="34" charset="0"/>
                <a:ea typeface="Calibri" pitchFamily="34" charset="-122"/>
                <a:cs typeface="Calibri" pitchFamily="34" charset="-120"/>
              </a:rPr>
              <a:t>TIME OF DAY</a:t>
            </a:r>
            <a:endParaRPr lang="en-US" sz="1100" dirty="0"/>
          </a:p>
        </p:txBody>
      </p:sp>
      <p:sp>
        <p:nvSpPr>
          <p:cNvPr id="37" name="Text 35"/>
          <p:cNvSpPr/>
          <p:nvPr/>
        </p:nvSpPr>
        <p:spPr>
          <a:xfrm>
            <a:off x="731520" y="5212080"/>
            <a:ext cx="5303520" cy="868680"/>
          </a:xfrm>
          <a:prstGeom prst="rect">
            <a:avLst/>
          </a:prstGeom>
          <a:noFill/>
          <a:ln/>
        </p:spPr>
        <p:txBody>
          <a:bodyPr wrap="square" rtlCol="0" anchor="ctr"/>
          <a:lstStyle/>
          <a:p>
            <a:pPr marL="0" indent="0">
              <a:buNone/>
            </a:pPr>
            <a:r>
              <a:rPr lang="en-US" sz="1300" dirty="0">
                <a:solidFill>
                  <a:srgbClr val="C8CDE8"/>
                </a:solidFill>
                <a:latin typeface="Calibri" pitchFamily="34" charset="0"/>
                <a:ea typeface="Calibri" pitchFamily="34" charset="-122"/>
                <a:cs typeface="Calibri" pitchFamily="34" charset="-120"/>
              </a:rPr>
              <a:t>Viewing peaks 7–10 AM and again at night. Afternoons are the weakest slot.</a:t>
            </a:r>
            <a:endParaRPr lang="en-US" sz="1300" dirty="0"/>
          </a:p>
        </p:txBody>
      </p:sp>
      <p:sp>
        <p:nvSpPr>
          <p:cNvPr id="38" name="Shape 36"/>
          <p:cNvSpPr/>
          <p:nvPr/>
        </p:nvSpPr>
        <p:spPr>
          <a:xfrm>
            <a:off x="6309360" y="4709160"/>
            <a:ext cx="5669280" cy="1417320"/>
          </a:xfrm>
          <a:prstGeom prst="roundRect">
            <a:avLst>
              <a:gd name="adj" fmla="val 5161"/>
            </a:avLst>
          </a:prstGeom>
          <a:solidFill>
            <a:srgbClr val="111738"/>
          </a:solidFill>
          <a:ln w="12700">
            <a:solidFill>
              <a:srgbClr val="2A3160"/>
            </a:solidFill>
            <a:prstDash val="solid"/>
          </a:ln>
        </p:spPr>
      </p:sp>
      <p:sp>
        <p:nvSpPr>
          <p:cNvPr id="39" name="Shape 37"/>
          <p:cNvSpPr/>
          <p:nvPr/>
        </p:nvSpPr>
        <p:spPr>
          <a:xfrm>
            <a:off x="6309360" y="4709160"/>
            <a:ext cx="91440" cy="1417320"/>
          </a:xfrm>
          <a:prstGeom prst="rect">
            <a:avLst/>
          </a:prstGeom>
          <a:solidFill>
            <a:srgbClr val="9C27B0"/>
          </a:solidFill>
          <a:ln w="12700">
            <a:solidFill>
              <a:srgbClr val="9C27B0"/>
            </a:solidFill>
            <a:prstDash val="solid"/>
          </a:ln>
        </p:spPr>
      </p:sp>
      <p:sp>
        <p:nvSpPr>
          <p:cNvPr id="40" name="Text 38"/>
          <p:cNvSpPr/>
          <p:nvPr/>
        </p:nvSpPr>
        <p:spPr>
          <a:xfrm>
            <a:off x="6583680" y="4846320"/>
            <a:ext cx="5303520" cy="320040"/>
          </a:xfrm>
          <a:prstGeom prst="rect">
            <a:avLst/>
          </a:prstGeom>
          <a:noFill/>
          <a:ln/>
        </p:spPr>
        <p:txBody>
          <a:bodyPr wrap="square" rtlCol="0" anchor="ctr"/>
          <a:lstStyle/>
          <a:p>
            <a:pPr marL="0" indent="0">
              <a:buNone/>
            </a:pPr>
            <a:r>
              <a:rPr lang="en-US" sz="1100" b="1" kern="0" spc="400" dirty="0">
                <a:solidFill>
                  <a:srgbClr val="9C27B0"/>
                </a:solidFill>
                <a:latin typeface="Calibri" pitchFamily="34" charset="0"/>
                <a:ea typeface="Calibri" pitchFamily="34" charset="-122"/>
                <a:cs typeface="Calibri" pitchFamily="34" charset="-120"/>
              </a:rPr>
              <a:t>TOP CHANNELS</a:t>
            </a:r>
            <a:endParaRPr lang="en-US" sz="1100" dirty="0"/>
          </a:p>
        </p:txBody>
      </p:sp>
      <p:sp>
        <p:nvSpPr>
          <p:cNvPr id="41" name="Text 39"/>
          <p:cNvSpPr/>
          <p:nvPr/>
        </p:nvSpPr>
        <p:spPr>
          <a:xfrm>
            <a:off x="6583680" y="5212080"/>
            <a:ext cx="5303520" cy="868680"/>
          </a:xfrm>
          <a:prstGeom prst="rect">
            <a:avLst/>
          </a:prstGeom>
          <a:noFill/>
          <a:ln/>
        </p:spPr>
        <p:txBody>
          <a:bodyPr wrap="square" rtlCol="0" anchor="ctr"/>
          <a:lstStyle/>
          <a:p>
            <a:pPr marL="0" indent="0">
              <a:buNone/>
            </a:pPr>
            <a:r>
              <a:rPr lang="en-US" sz="1300" dirty="0">
                <a:solidFill>
                  <a:srgbClr val="C8CDE8"/>
                </a:solidFill>
                <a:latin typeface="Calibri" pitchFamily="34" charset="0"/>
                <a:ea typeface="Calibri" pitchFamily="34" charset="-122"/>
                <a:cs typeface="Calibri" pitchFamily="34" charset="-120"/>
              </a:rPr>
              <a:t>SuperSport Live Events and ICC Cricket World Cup lead — sports content is the engine.</a:t>
            </a:r>
            <a:endParaRPr lang="en-US" sz="1300"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1E8"/>
        </a:solidFill>
        <a:effectLst/>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E91E63"/>
          </a:solidFill>
          <a:ln w="12700">
            <a:solidFill>
              <a:srgbClr val="E91E63"/>
            </a:solidFill>
            <a:prstDash val="solid"/>
          </a:ln>
        </p:spPr>
      </p:sp>
      <p:sp>
        <p:nvSpPr>
          <p:cNvPr id="3" name="Text 1"/>
          <p:cNvSpPr/>
          <p:nvPr/>
        </p:nvSpPr>
        <p:spPr>
          <a:xfrm>
            <a:off x="457200" y="256032"/>
            <a:ext cx="7315200" cy="274320"/>
          </a:xfrm>
          <a:prstGeom prst="rect">
            <a:avLst/>
          </a:prstGeom>
          <a:noFill/>
          <a:ln/>
        </p:spPr>
        <p:txBody>
          <a:bodyPr wrap="square" rtlCol="0" anchor="ctr"/>
          <a:lstStyle/>
          <a:p>
            <a:pPr marL="0" indent="0">
              <a:buNone/>
            </a:pPr>
            <a:r>
              <a:rPr lang="en-US" sz="900" b="1" kern="0" spc="400" dirty="0">
                <a:solidFill>
                  <a:srgbClr val="6B5E4A"/>
                </a:solidFill>
                <a:latin typeface="Calibri" pitchFamily="34" charset="0"/>
                <a:ea typeface="Calibri" pitchFamily="34" charset="-122"/>
                <a:cs typeface="Calibri" pitchFamily="34" charset="-120"/>
              </a:rPr>
              <a:t>BRIGHT TV  ·  VIEWERSHIP PROJECT</a:t>
            </a:r>
            <a:endParaRPr lang="en-US" sz="900" dirty="0"/>
          </a:p>
        </p:txBody>
      </p:sp>
      <p:sp>
        <p:nvSpPr>
          <p:cNvPr id="4" name="Text 2"/>
          <p:cNvSpPr/>
          <p:nvPr/>
        </p:nvSpPr>
        <p:spPr>
          <a:xfrm>
            <a:off x="10515600" y="256032"/>
            <a:ext cx="1280160" cy="274320"/>
          </a:xfrm>
          <a:prstGeom prst="rect">
            <a:avLst/>
          </a:prstGeom>
          <a:noFill/>
          <a:ln/>
        </p:spPr>
        <p:txBody>
          <a:bodyPr wrap="square" rtlCol="0" anchor="ctr"/>
          <a:lstStyle/>
          <a:p>
            <a:pPr marL="0" indent="0" algn="r">
              <a:buNone/>
            </a:pPr>
            <a:r>
              <a:rPr lang="en-US" sz="900" kern="0" spc="200" dirty="0">
                <a:solidFill>
                  <a:srgbClr val="6B5E4A"/>
                </a:solidFill>
                <a:latin typeface="Calibri" pitchFamily="34" charset="0"/>
                <a:ea typeface="Calibri" pitchFamily="34" charset="-122"/>
                <a:cs typeface="Calibri" pitchFamily="34" charset="-120"/>
              </a:rPr>
              <a:t>08 / 09</a:t>
            </a:r>
            <a:endParaRPr lang="en-US" sz="900" dirty="0"/>
          </a:p>
        </p:txBody>
      </p:sp>
      <p:sp>
        <p:nvSpPr>
          <p:cNvPr id="5" name="Text 3"/>
          <p:cNvSpPr/>
          <p:nvPr/>
        </p:nvSpPr>
        <p:spPr>
          <a:xfrm>
            <a:off x="457200" y="6537960"/>
            <a:ext cx="7315200" cy="228600"/>
          </a:xfrm>
          <a:prstGeom prst="rect">
            <a:avLst/>
          </a:prstGeom>
          <a:noFill/>
          <a:ln/>
        </p:spPr>
        <p:txBody>
          <a:bodyPr wrap="square" rtlCol="0" anchor="ctr"/>
          <a:lstStyle/>
          <a:p>
            <a:pPr marL="0" indent="0">
              <a:buNone/>
            </a:pPr>
            <a:r>
              <a:rPr lang="en-US" sz="800" dirty="0">
                <a:solidFill>
                  <a:srgbClr val="6B5E4A"/>
                </a:solidFill>
                <a:latin typeface="Calibri" pitchFamily="34" charset="0"/>
                <a:ea typeface="Calibri" pitchFamily="34" charset="-122"/>
                <a:cs typeface="Calibri" pitchFamily="34" charset="-120"/>
              </a:rPr>
              <a:t>Ennove Analytics  ·  Innocent Mphahlele</a:t>
            </a:r>
            <a:endParaRPr lang="en-US" sz="800" dirty="0"/>
          </a:p>
        </p:txBody>
      </p:sp>
      <p:sp>
        <p:nvSpPr>
          <p:cNvPr id="6" name="Text 4"/>
          <p:cNvSpPr/>
          <p:nvPr/>
        </p:nvSpPr>
        <p:spPr>
          <a:xfrm>
            <a:off x="457200" y="594360"/>
            <a:ext cx="11247120" cy="640080"/>
          </a:xfrm>
          <a:prstGeom prst="rect">
            <a:avLst/>
          </a:prstGeom>
          <a:noFill/>
          <a:ln/>
        </p:spPr>
        <p:txBody>
          <a:bodyPr wrap="square" rtlCol="0" anchor="ctr"/>
          <a:lstStyle/>
          <a:p>
            <a:pPr marL="0" indent="0">
              <a:buNone/>
            </a:pPr>
            <a:r>
              <a:rPr lang="en-US" sz="3200" b="1" dirty="0">
                <a:solidFill>
                  <a:srgbClr val="0A0E27"/>
                </a:solidFill>
                <a:latin typeface="Georgia" pitchFamily="34" charset="0"/>
                <a:ea typeface="Georgia" pitchFamily="34" charset="-122"/>
                <a:cs typeface="Georgia" pitchFamily="34" charset="-120"/>
              </a:rPr>
              <a:t>Viewership Dashboard</a:t>
            </a:r>
            <a:endParaRPr lang="en-US" sz="3200" dirty="0"/>
          </a:p>
        </p:txBody>
      </p:sp>
      <p:sp>
        <p:nvSpPr>
          <p:cNvPr id="7" name="Text 5"/>
          <p:cNvSpPr/>
          <p:nvPr/>
        </p:nvSpPr>
        <p:spPr>
          <a:xfrm>
            <a:off x="457200" y="1188720"/>
            <a:ext cx="11247120" cy="320040"/>
          </a:xfrm>
          <a:prstGeom prst="rect">
            <a:avLst/>
          </a:prstGeom>
          <a:noFill/>
          <a:ln/>
        </p:spPr>
        <p:txBody>
          <a:bodyPr wrap="square" rtlCol="0" anchor="ctr"/>
          <a:lstStyle/>
          <a:p>
            <a:pPr marL="0" indent="0">
              <a:buNone/>
            </a:pPr>
            <a:r>
              <a:rPr lang="en-US" sz="1300" i="1" dirty="0">
                <a:solidFill>
                  <a:srgbClr val="6B5E4A"/>
                </a:solidFill>
                <a:latin typeface="Calibri" pitchFamily="34" charset="0"/>
                <a:ea typeface="Calibri" pitchFamily="34" charset="-122"/>
                <a:cs typeface="Calibri" pitchFamily="34" charset="-120"/>
              </a:rPr>
              <a:t>Excel dashboard — demographics, geography &amp; channel performance</a:t>
            </a:r>
            <a:endParaRPr lang="en-US" sz="1300" dirty="0"/>
          </a:p>
        </p:txBody>
      </p:sp>
      <p:sp>
        <p:nvSpPr>
          <p:cNvPr id="8" name="Shape 6"/>
          <p:cNvSpPr/>
          <p:nvPr/>
        </p:nvSpPr>
        <p:spPr>
          <a:xfrm>
            <a:off x="457200" y="1627632"/>
            <a:ext cx="109728" cy="109728"/>
          </a:xfrm>
          <a:prstGeom prst="ellipse">
            <a:avLst/>
          </a:prstGeom>
          <a:solidFill>
            <a:srgbClr val="E91E63"/>
          </a:solidFill>
          <a:ln w="12700">
            <a:solidFill>
              <a:srgbClr val="E91E63"/>
            </a:solidFill>
            <a:prstDash val="solid"/>
          </a:ln>
        </p:spPr>
      </p:sp>
      <p:sp>
        <p:nvSpPr>
          <p:cNvPr id="9" name="Shape 7"/>
          <p:cNvSpPr/>
          <p:nvPr/>
        </p:nvSpPr>
        <p:spPr>
          <a:xfrm>
            <a:off x="640080" y="1673352"/>
            <a:ext cx="548640" cy="18288"/>
          </a:xfrm>
          <a:prstGeom prst="rect">
            <a:avLst/>
          </a:prstGeom>
          <a:solidFill>
            <a:srgbClr val="E91E63"/>
          </a:solidFill>
          <a:ln w="12700">
            <a:solidFill>
              <a:srgbClr val="E91E63"/>
            </a:solidFill>
            <a:prstDash val="solid"/>
          </a:ln>
        </p:spPr>
      </p:sp>
      <p:sp>
        <p:nvSpPr>
          <p:cNvPr id="10" name="Shape 8"/>
          <p:cNvSpPr/>
          <p:nvPr/>
        </p:nvSpPr>
        <p:spPr>
          <a:xfrm>
            <a:off x="457200" y="1920240"/>
            <a:ext cx="7132320" cy="4297680"/>
          </a:xfrm>
          <a:prstGeom prst="roundRect">
            <a:avLst>
              <a:gd name="adj" fmla="val 1277"/>
            </a:avLst>
          </a:prstGeom>
          <a:solidFill>
            <a:srgbClr val="FFFFFF"/>
          </a:solidFill>
          <a:ln w="12700">
            <a:solidFill>
              <a:srgbClr val="D9D2C2"/>
            </a:solidFill>
            <a:prstDash val="solid"/>
          </a:ln>
        </p:spPr>
      </p:sp>
      <p:pic>
        <p:nvPicPr>
          <p:cNvPr id="11" name="Image 0" descr="preencoded.png"/>
          <p:cNvPicPr>
            <a:picLocks noChangeAspect="1"/>
          </p:cNvPicPr>
          <p:nvPr/>
        </p:nvPicPr>
        <p:blipFill>
          <a:blip r:embed="rId3"/>
          <a:srcRect/>
          <a:stretch/>
        </p:blipFill>
        <p:spPr>
          <a:xfrm>
            <a:off x="594360" y="2011680"/>
            <a:ext cx="6858000" cy="4114800"/>
          </a:xfrm>
          <a:prstGeom prst="rect">
            <a:avLst/>
          </a:prstGeom>
        </p:spPr>
      </p:pic>
      <p:sp>
        <p:nvSpPr>
          <p:cNvPr id="12" name="Text 9"/>
          <p:cNvSpPr/>
          <p:nvPr/>
        </p:nvSpPr>
        <p:spPr>
          <a:xfrm>
            <a:off x="7772400" y="1920240"/>
            <a:ext cx="4023360" cy="274320"/>
          </a:xfrm>
          <a:prstGeom prst="rect">
            <a:avLst/>
          </a:prstGeom>
          <a:noFill/>
          <a:ln/>
        </p:spPr>
        <p:txBody>
          <a:bodyPr wrap="square" rtlCol="0" anchor="ctr"/>
          <a:lstStyle/>
          <a:p>
            <a:pPr marL="0" indent="0">
              <a:buNone/>
            </a:pPr>
            <a:r>
              <a:rPr lang="en-US" sz="1000" b="1" kern="0" spc="400" dirty="0">
                <a:solidFill>
                  <a:srgbClr val="E91E63"/>
                </a:solidFill>
                <a:latin typeface="Calibri" pitchFamily="34" charset="0"/>
                <a:ea typeface="Calibri" pitchFamily="34" charset="-122"/>
                <a:cs typeface="Calibri" pitchFamily="34" charset="-120"/>
              </a:rPr>
              <a:t>AT A GLANCE</a:t>
            </a:r>
            <a:endParaRPr lang="en-US" sz="1000" dirty="0"/>
          </a:p>
        </p:txBody>
      </p:sp>
      <p:sp>
        <p:nvSpPr>
          <p:cNvPr id="13" name="Shape 10"/>
          <p:cNvSpPr/>
          <p:nvPr/>
        </p:nvSpPr>
        <p:spPr>
          <a:xfrm>
            <a:off x="7772400" y="2286000"/>
            <a:ext cx="4023360" cy="640080"/>
          </a:xfrm>
          <a:prstGeom prst="roundRect">
            <a:avLst>
              <a:gd name="adj" fmla="val 8571"/>
            </a:avLst>
          </a:prstGeom>
          <a:solidFill>
            <a:srgbClr val="FFFFFF"/>
          </a:solidFill>
          <a:ln w="12700">
            <a:solidFill>
              <a:srgbClr val="D9D2C2"/>
            </a:solidFill>
            <a:prstDash val="solid"/>
          </a:ln>
        </p:spPr>
      </p:sp>
      <p:sp>
        <p:nvSpPr>
          <p:cNvPr id="14" name="Shape 11"/>
          <p:cNvSpPr/>
          <p:nvPr/>
        </p:nvSpPr>
        <p:spPr>
          <a:xfrm>
            <a:off x="7772400" y="2286000"/>
            <a:ext cx="73152" cy="640080"/>
          </a:xfrm>
          <a:prstGeom prst="rect">
            <a:avLst/>
          </a:prstGeom>
          <a:solidFill>
            <a:srgbClr val="E91E63"/>
          </a:solidFill>
          <a:ln w="12700">
            <a:solidFill>
              <a:srgbClr val="E91E63"/>
            </a:solidFill>
            <a:prstDash val="solid"/>
          </a:ln>
        </p:spPr>
      </p:sp>
      <p:sp>
        <p:nvSpPr>
          <p:cNvPr id="15" name="Text 12"/>
          <p:cNvSpPr/>
          <p:nvPr/>
        </p:nvSpPr>
        <p:spPr>
          <a:xfrm>
            <a:off x="7955280" y="2350008"/>
            <a:ext cx="3749040" cy="256032"/>
          </a:xfrm>
          <a:prstGeom prst="rect">
            <a:avLst/>
          </a:prstGeom>
          <a:noFill/>
          <a:ln/>
        </p:spPr>
        <p:txBody>
          <a:bodyPr wrap="square" rtlCol="0" anchor="ctr"/>
          <a:lstStyle/>
          <a:p>
            <a:pPr marL="0" indent="0">
              <a:buNone/>
            </a:pPr>
            <a:r>
              <a:rPr lang="en-US" sz="1000" b="1" kern="0" spc="200" dirty="0">
                <a:solidFill>
                  <a:srgbClr val="6B5E4A"/>
                </a:solidFill>
                <a:latin typeface="Calibri" pitchFamily="34" charset="0"/>
                <a:ea typeface="Calibri" pitchFamily="34" charset="-122"/>
                <a:cs typeface="Calibri" pitchFamily="34" charset="-120"/>
              </a:rPr>
              <a:t>Peak hour</a:t>
            </a:r>
            <a:endParaRPr lang="en-US" sz="1000" dirty="0"/>
          </a:p>
        </p:txBody>
      </p:sp>
      <p:sp>
        <p:nvSpPr>
          <p:cNvPr id="16" name="Text 13"/>
          <p:cNvSpPr/>
          <p:nvPr/>
        </p:nvSpPr>
        <p:spPr>
          <a:xfrm>
            <a:off x="7955280" y="2578608"/>
            <a:ext cx="3749040" cy="320040"/>
          </a:xfrm>
          <a:prstGeom prst="rect">
            <a:avLst/>
          </a:prstGeom>
          <a:noFill/>
          <a:ln/>
        </p:spPr>
        <p:txBody>
          <a:bodyPr wrap="square" rtlCol="0" anchor="ctr"/>
          <a:lstStyle/>
          <a:p>
            <a:pPr marL="0" indent="0">
              <a:buNone/>
            </a:pPr>
            <a:r>
              <a:rPr lang="en-US" sz="1400" b="1" dirty="0">
                <a:solidFill>
                  <a:srgbClr val="0A0E27"/>
                </a:solidFill>
                <a:latin typeface="Georgia" pitchFamily="34" charset="0"/>
                <a:ea typeface="Georgia" pitchFamily="34" charset="-122"/>
                <a:cs typeface="Georgia" pitchFamily="34" charset="-120"/>
              </a:rPr>
              <a:t>10 AM (1,039 viewers)</a:t>
            </a:r>
            <a:endParaRPr lang="en-US" sz="1400" dirty="0"/>
          </a:p>
        </p:txBody>
      </p:sp>
      <p:sp>
        <p:nvSpPr>
          <p:cNvPr id="17" name="Shape 14"/>
          <p:cNvSpPr/>
          <p:nvPr/>
        </p:nvSpPr>
        <p:spPr>
          <a:xfrm>
            <a:off x="7772400" y="3035808"/>
            <a:ext cx="4023360" cy="640080"/>
          </a:xfrm>
          <a:prstGeom prst="roundRect">
            <a:avLst>
              <a:gd name="adj" fmla="val 8571"/>
            </a:avLst>
          </a:prstGeom>
          <a:solidFill>
            <a:srgbClr val="FFFFFF"/>
          </a:solidFill>
          <a:ln w="12700">
            <a:solidFill>
              <a:srgbClr val="D9D2C2"/>
            </a:solidFill>
            <a:prstDash val="solid"/>
          </a:ln>
        </p:spPr>
      </p:sp>
      <p:sp>
        <p:nvSpPr>
          <p:cNvPr id="18" name="Shape 15"/>
          <p:cNvSpPr/>
          <p:nvPr/>
        </p:nvSpPr>
        <p:spPr>
          <a:xfrm>
            <a:off x="7772400" y="3035808"/>
            <a:ext cx="73152" cy="640080"/>
          </a:xfrm>
          <a:prstGeom prst="rect">
            <a:avLst/>
          </a:prstGeom>
          <a:solidFill>
            <a:srgbClr val="E91E63"/>
          </a:solidFill>
          <a:ln w="12700">
            <a:solidFill>
              <a:srgbClr val="E91E63"/>
            </a:solidFill>
            <a:prstDash val="solid"/>
          </a:ln>
        </p:spPr>
      </p:sp>
      <p:sp>
        <p:nvSpPr>
          <p:cNvPr id="19" name="Text 16"/>
          <p:cNvSpPr/>
          <p:nvPr/>
        </p:nvSpPr>
        <p:spPr>
          <a:xfrm>
            <a:off x="7955280" y="3099816"/>
            <a:ext cx="3749040" cy="256032"/>
          </a:xfrm>
          <a:prstGeom prst="rect">
            <a:avLst/>
          </a:prstGeom>
          <a:noFill/>
          <a:ln/>
        </p:spPr>
        <p:txBody>
          <a:bodyPr wrap="square" rtlCol="0" anchor="ctr"/>
          <a:lstStyle/>
          <a:p>
            <a:pPr marL="0" indent="0">
              <a:buNone/>
            </a:pPr>
            <a:r>
              <a:rPr lang="en-US" sz="1000" b="1" kern="0" spc="200" dirty="0">
                <a:solidFill>
                  <a:srgbClr val="6B5E4A"/>
                </a:solidFill>
                <a:latin typeface="Calibri" pitchFamily="34" charset="0"/>
                <a:ea typeface="Calibri" pitchFamily="34" charset="-122"/>
                <a:cs typeface="Calibri" pitchFamily="34" charset="-120"/>
              </a:rPr>
              <a:t>Strongest month</a:t>
            </a:r>
            <a:endParaRPr lang="en-US" sz="1000" dirty="0"/>
          </a:p>
        </p:txBody>
      </p:sp>
      <p:sp>
        <p:nvSpPr>
          <p:cNvPr id="20" name="Text 17"/>
          <p:cNvSpPr/>
          <p:nvPr/>
        </p:nvSpPr>
        <p:spPr>
          <a:xfrm>
            <a:off x="7955280" y="3328416"/>
            <a:ext cx="3749040" cy="320040"/>
          </a:xfrm>
          <a:prstGeom prst="rect">
            <a:avLst/>
          </a:prstGeom>
          <a:noFill/>
          <a:ln/>
        </p:spPr>
        <p:txBody>
          <a:bodyPr wrap="square" rtlCol="0" anchor="ctr"/>
          <a:lstStyle/>
          <a:p>
            <a:pPr marL="0" indent="0">
              <a:buNone/>
            </a:pPr>
            <a:r>
              <a:rPr lang="en-US" sz="1400" b="1" dirty="0">
                <a:solidFill>
                  <a:srgbClr val="0A0E27"/>
                </a:solidFill>
                <a:latin typeface="Georgia" pitchFamily="34" charset="0"/>
                <a:ea typeface="Georgia" pitchFamily="34" charset="-122"/>
                <a:cs typeface="Georgia" pitchFamily="34" charset="-120"/>
              </a:rPr>
              <a:t>March — 4,821 viewers</a:t>
            </a:r>
            <a:endParaRPr lang="en-US" sz="1400" dirty="0"/>
          </a:p>
        </p:txBody>
      </p:sp>
      <p:sp>
        <p:nvSpPr>
          <p:cNvPr id="21" name="Shape 18"/>
          <p:cNvSpPr/>
          <p:nvPr/>
        </p:nvSpPr>
        <p:spPr>
          <a:xfrm>
            <a:off x="7772400" y="3785616"/>
            <a:ext cx="4023360" cy="640080"/>
          </a:xfrm>
          <a:prstGeom prst="roundRect">
            <a:avLst>
              <a:gd name="adj" fmla="val 8571"/>
            </a:avLst>
          </a:prstGeom>
          <a:solidFill>
            <a:srgbClr val="FFFFFF"/>
          </a:solidFill>
          <a:ln w="12700">
            <a:solidFill>
              <a:srgbClr val="D9D2C2"/>
            </a:solidFill>
            <a:prstDash val="solid"/>
          </a:ln>
        </p:spPr>
      </p:sp>
      <p:sp>
        <p:nvSpPr>
          <p:cNvPr id="22" name="Shape 19"/>
          <p:cNvSpPr/>
          <p:nvPr/>
        </p:nvSpPr>
        <p:spPr>
          <a:xfrm>
            <a:off x="7772400" y="3785616"/>
            <a:ext cx="73152" cy="640080"/>
          </a:xfrm>
          <a:prstGeom prst="rect">
            <a:avLst/>
          </a:prstGeom>
          <a:solidFill>
            <a:srgbClr val="E91E63"/>
          </a:solidFill>
          <a:ln w="12700">
            <a:solidFill>
              <a:srgbClr val="E91E63"/>
            </a:solidFill>
            <a:prstDash val="solid"/>
          </a:ln>
        </p:spPr>
      </p:sp>
      <p:sp>
        <p:nvSpPr>
          <p:cNvPr id="23" name="Text 20"/>
          <p:cNvSpPr/>
          <p:nvPr/>
        </p:nvSpPr>
        <p:spPr>
          <a:xfrm>
            <a:off x="7955280" y="3849624"/>
            <a:ext cx="3749040" cy="256032"/>
          </a:xfrm>
          <a:prstGeom prst="rect">
            <a:avLst/>
          </a:prstGeom>
          <a:noFill/>
          <a:ln/>
        </p:spPr>
        <p:txBody>
          <a:bodyPr wrap="square" rtlCol="0" anchor="ctr"/>
          <a:lstStyle/>
          <a:p>
            <a:pPr marL="0" indent="0">
              <a:buNone/>
            </a:pPr>
            <a:r>
              <a:rPr lang="en-US" sz="1000" b="1" kern="0" spc="200" dirty="0">
                <a:solidFill>
                  <a:srgbClr val="6B5E4A"/>
                </a:solidFill>
                <a:latin typeface="Calibri" pitchFamily="34" charset="0"/>
                <a:ea typeface="Calibri" pitchFamily="34" charset="-122"/>
                <a:cs typeface="Calibri" pitchFamily="34" charset="-120"/>
              </a:rPr>
              <a:t>Top race segment</a:t>
            </a:r>
            <a:endParaRPr lang="en-US" sz="1000" dirty="0"/>
          </a:p>
        </p:txBody>
      </p:sp>
      <p:sp>
        <p:nvSpPr>
          <p:cNvPr id="24" name="Text 21"/>
          <p:cNvSpPr/>
          <p:nvPr/>
        </p:nvSpPr>
        <p:spPr>
          <a:xfrm>
            <a:off x="7955280" y="4078224"/>
            <a:ext cx="3749040" cy="320040"/>
          </a:xfrm>
          <a:prstGeom prst="rect">
            <a:avLst/>
          </a:prstGeom>
          <a:noFill/>
          <a:ln/>
        </p:spPr>
        <p:txBody>
          <a:bodyPr wrap="square" rtlCol="0" anchor="ctr"/>
          <a:lstStyle/>
          <a:p>
            <a:pPr marL="0" indent="0">
              <a:buNone/>
            </a:pPr>
            <a:r>
              <a:rPr lang="en-US" sz="1400" b="1" dirty="0">
                <a:solidFill>
                  <a:srgbClr val="0A0E27"/>
                </a:solidFill>
                <a:latin typeface="Georgia" pitchFamily="34" charset="0"/>
                <a:ea typeface="Georgia" pitchFamily="34" charset="-122"/>
                <a:cs typeface="Georgia" pitchFamily="34" charset="-120"/>
              </a:rPr>
              <a:t>Black — 43%</a:t>
            </a:r>
            <a:endParaRPr lang="en-US" sz="1400" dirty="0"/>
          </a:p>
        </p:txBody>
      </p:sp>
      <p:sp>
        <p:nvSpPr>
          <p:cNvPr id="25" name="Shape 22"/>
          <p:cNvSpPr/>
          <p:nvPr/>
        </p:nvSpPr>
        <p:spPr>
          <a:xfrm>
            <a:off x="7772400" y="4535424"/>
            <a:ext cx="4023360" cy="640080"/>
          </a:xfrm>
          <a:prstGeom prst="roundRect">
            <a:avLst>
              <a:gd name="adj" fmla="val 8571"/>
            </a:avLst>
          </a:prstGeom>
          <a:solidFill>
            <a:srgbClr val="FFFFFF"/>
          </a:solidFill>
          <a:ln w="12700">
            <a:solidFill>
              <a:srgbClr val="D9D2C2"/>
            </a:solidFill>
            <a:prstDash val="solid"/>
          </a:ln>
        </p:spPr>
      </p:sp>
      <p:sp>
        <p:nvSpPr>
          <p:cNvPr id="26" name="Shape 23"/>
          <p:cNvSpPr/>
          <p:nvPr/>
        </p:nvSpPr>
        <p:spPr>
          <a:xfrm>
            <a:off x="7772400" y="4535424"/>
            <a:ext cx="73152" cy="640080"/>
          </a:xfrm>
          <a:prstGeom prst="rect">
            <a:avLst/>
          </a:prstGeom>
          <a:solidFill>
            <a:srgbClr val="E91E63"/>
          </a:solidFill>
          <a:ln w="12700">
            <a:solidFill>
              <a:srgbClr val="E91E63"/>
            </a:solidFill>
            <a:prstDash val="solid"/>
          </a:ln>
        </p:spPr>
      </p:sp>
      <p:sp>
        <p:nvSpPr>
          <p:cNvPr id="27" name="Text 24"/>
          <p:cNvSpPr/>
          <p:nvPr/>
        </p:nvSpPr>
        <p:spPr>
          <a:xfrm>
            <a:off x="7955280" y="4599432"/>
            <a:ext cx="3749040" cy="256032"/>
          </a:xfrm>
          <a:prstGeom prst="rect">
            <a:avLst/>
          </a:prstGeom>
          <a:noFill/>
          <a:ln/>
        </p:spPr>
        <p:txBody>
          <a:bodyPr wrap="square" rtlCol="0" anchor="ctr"/>
          <a:lstStyle/>
          <a:p>
            <a:pPr marL="0" indent="0">
              <a:buNone/>
            </a:pPr>
            <a:r>
              <a:rPr lang="en-US" sz="1000" b="1" kern="0" spc="200" dirty="0">
                <a:solidFill>
                  <a:srgbClr val="6B5E4A"/>
                </a:solidFill>
                <a:latin typeface="Calibri" pitchFamily="34" charset="0"/>
                <a:ea typeface="Calibri" pitchFamily="34" charset="-122"/>
                <a:cs typeface="Calibri" pitchFamily="34" charset="-120"/>
              </a:rPr>
              <a:t>Gender split</a:t>
            </a:r>
            <a:endParaRPr lang="en-US" sz="1000" dirty="0"/>
          </a:p>
        </p:txBody>
      </p:sp>
      <p:sp>
        <p:nvSpPr>
          <p:cNvPr id="28" name="Text 25"/>
          <p:cNvSpPr/>
          <p:nvPr/>
        </p:nvSpPr>
        <p:spPr>
          <a:xfrm>
            <a:off x="7955280" y="4828032"/>
            <a:ext cx="3749040" cy="320040"/>
          </a:xfrm>
          <a:prstGeom prst="rect">
            <a:avLst/>
          </a:prstGeom>
          <a:noFill/>
          <a:ln/>
        </p:spPr>
        <p:txBody>
          <a:bodyPr wrap="square" rtlCol="0" anchor="ctr"/>
          <a:lstStyle/>
          <a:p>
            <a:pPr marL="0" indent="0">
              <a:buNone/>
            </a:pPr>
            <a:r>
              <a:rPr lang="en-US" sz="1400" b="1" dirty="0">
                <a:solidFill>
                  <a:srgbClr val="0A0E27"/>
                </a:solidFill>
                <a:latin typeface="Georgia" pitchFamily="34" charset="0"/>
                <a:ea typeface="Georgia" pitchFamily="34" charset="-122"/>
                <a:cs typeface="Georgia" pitchFamily="34" charset="-120"/>
              </a:rPr>
              <a:t>Male 8,761  ·  Female 977</a:t>
            </a:r>
            <a:endParaRPr lang="en-US" sz="1400" dirty="0"/>
          </a:p>
        </p:txBody>
      </p:sp>
      <p:sp>
        <p:nvSpPr>
          <p:cNvPr id="29" name="Shape 26"/>
          <p:cNvSpPr/>
          <p:nvPr/>
        </p:nvSpPr>
        <p:spPr>
          <a:xfrm>
            <a:off x="7772400" y="5285232"/>
            <a:ext cx="4023360" cy="640080"/>
          </a:xfrm>
          <a:prstGeom prst="roundRect">
            <a:avLst>
              <a:gd name="adj" fmla="val 8571"/>
            </a:avLst>
          </a:prstGeom>
          <a:solidFill>
            <a:srgbClr val="FFFFFF"/>
          </a:solidFill>
          <a:ln w="12700">
            <a:solidFill>
              <a:srgbClr val="D9D2C2"/>
            </a:solidFill>
            <a:prstDash val="solid"/>
          </a:ln>
        </p:spPr>
      </p:sp>
      <p:sp>
        <p:nvSpPr>
          <p:cNvPr id="30" name="Shape 27"/>
          <p:cNvSpPr/>
          <p:nvPr/>
        </p:nvSpPr>
        <p:spPr>
          <a:xfrm>
            <a:off x="7772400" y="5285232"/>
            <a:ext cx="73152" cy="640080"/>
          </a:xfrm>
          <a:prstGeom prst="rect">
            <a:avLst/>
          </a:prstGeom>
          <a:solidFill>
            <a:srgbClr val="E91E63"/>
          </a:solidFill>
          <a:ln w="12700">
            <a:solidFill>
              <a:srgbClr val="E91E63"/>
            </a:solidFill>
            <a:prstDash val="solid"/>
          </a:ln>
        </p:spPr>
      </p:sp>
      <p:sp>
        <p:nvSpPr>
          <p:cNvPr id="31" name="Text 28"/>
          <p:cNvSpPr/>
          <p:nvPr/>
        </p:nvSpPr>
        <p:spPr>
          <a:xfrm>
            <a:off x="7955280" y="5349240"/>
            <a:ext cx="3749040" cy="256032"/>
          </a:xfrm>
          <a:prstGeom prst="rect">
            <a:avLst/>
          </a:prstGeom>
          <a:noFill/>
          <a:ln/>
        </p:spPr>
        <p:txBody>
          <a:bodyPr wrap="square" rtlCol="0" anchor="ctr"/>
          <a:lstStyle/>
          <a:p>
            <a:pPr marL="0" indent="0">
              <a:buNone/>
            </a:pPr>
            <a:r>
              <a:rPr lang="en-US" sz="1000" b="1" kern="0" spc="200" dirty="0">
                <a:solidFill>
                  <a:srgbClr val="6B5E4A"/>
                </a:solidFill>
                <a:latin typeface="Calibri" pitchFamily="34" charset="0"/>
                <a:ea typeface="Calibri" pitchFamily="34" charset="-122"/>
                <a:cs typeface="Calibri" pitchFamily="34" charset="-120"/>
              </a:rPr>
              <a:t>Unknowns</a:t>
            </a:r>
            <a:endParaRPr lang="en-US" sz="1000" dirty="0"/>
          </a:p>
        </p:txBody>
      </p:sp>
      <p:sp>
        <p:nvSpPr>
          <p:cNvPr id="32" name="Text 29"/>
          <p:cNvSpPr/>
          <p:nvPr/>
        </p:nvSpPr>
        <p:spPr>
          <a:xfrm>
            <a:off x="7955280" y="5577840"/>
            <a:ext cx="3749040" cy="320040"/>
          </a:xfrm>
          <a:prstGeom prst="rect">
            <a:avLst/>
          </a:prstGeom>
          <a:noFill/>
          <a:ln/>
        </p:spPr>
        <p:txBody>
          <a:bodyPr wrap="square" rtlCol="0" anchor="ctr"/>
          <a:lstStyle/>
          <a:p>
            <a:pPr marL="0" indent="0">
              <a:buNone/>
            </a:pPr>
            <a:r>
              <a:rPr lang="en-US" sz="1400" b="1" dirty="0">
                <a:solidFill>
                  <a:srgbClr val="0A0E27"/>
                </a:solidFill>
                <a:latin typeface="Georgia" pitchFamily="34" charset="0"/>
                <a:ea typeface="Georgia" pitchFamily="34" charset="-122"/>
                <a:cs typeface="Georgia" pitchFamily="34" charset="-120"/>
              </a:rPr>
              <a:t>262 gender, 1,067 race  ⚠</a:t>
            </a:r>
            <a:endParaRPr lang="en-US" sz="1400"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A0E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73152"/>
          </a:xfrm>
          <a:prstGeom prst="rect">
            <a:avLst/>
          </a:prstGeom>
          <a:solidFill>
            <a:srgbClr val="E91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274320"/>
            <a:ext cx="7315200" cy="274320"/>
          </a:xfrm>
          <a:prstGeom prst="rect">
            <a:avLst/>
          </a:prstGeom>
          <a:noFill/>
        </p:spPr>
        <p:txBody>
          <a:bodyPr wrap="square" lIns="0" tIns="0" rIns="0" bIns="0" anchor="t">
            <a:spAutoFit/>
          </a:bodyPr>
          <a:lstStyle/>
          <a:p>
            <a:pPr algn="l"/>
            <a:r>
              <a:rPr sz="1000" b="1">
                <a:solidFill>
                  <a:srgbClr val="F0A500"/>
                </a:solidFill>
                <a:latin typeface="Calibri"/>
              </a:rPr>
              <a:t>BRIGHT TV  ·  VIEWERSHIP PROJECT</a:t>
            </a:r>
          </a:p>
        </p:txBody>
      </p:sp>
      <p:sp>
        <p:nvSpPr>
          <p:cNvPr id="5" name="TextBox 4"/>
          <p:cNvSpPr txBox="1"/>
          <p:nvPr/>
        </p:nvSpPr>
        <p:spPr>
          <a:xfrm>
            <a:off x="10332720" y="274320"/>
            <a:ext cx="1371600" cy="274320"/>
          </a:xfrm>
          <a:prstGeom prst="rect">
            <a:avLst/>
          </a:prstGeom>
          <a:noFill/>
        </p:spPr>
        <p:txBody>
          <a:bodyPr wrap="square" lIns="0" tIns="0" rIns="0" bIns="0" anchor="t">
            <a:spAutoFit/>
          </a:bodyPr>
          <a:lstStyle/>
          <a:p>
            <a:pPr algn="r"/>
            <a:r>
              <a:rPr sz="1000" b="1">
                <a:solidFill>
                  <a:srgbClr val="B8BED9"/>
                </a:solidFill>
                <a:latin typeface="Calibri"/>
              </a:rPr>
              <a:t>08B / 09</a:t>
            </a:r>
          </a:p>
        </p:txBody>
      </p:sp>
      <p:sp>
        <p:nvSpPr>
          <p:cNvPr id="6" name="TextBox 5"/>
          <p:cNvSpPr txBox="1"/>
          <p:nvPr/>
        </p:nvSpPr>
        <p:spPr>
          <a:xfrm>
            <a:off x="457200" y="640080"/>
            <a:ext cx="11247120" cy="640080"/>
          </a:xfrm>
          <a:prstGeom prst="rect">
            <a:avLst/>
          </a:prstGeom>
          <a:noFill/>
        </p:spPr>
        <p:txBody>
          <a:bodyPr wrap="square" lIns="0" tIns="0" rIns="0" bIns="0" anchor="t">
            <a:spAutoFit/>
          </a:bodyPr>
          <a:lstStyle/>
          <a:p>
            <a:pPr algn="l"/>
            <a:r>
              <a:rPr sz="3400" b="1">
                <a:solidFill>
                  <a:srgbClr val="FFFFFF"/>
                </a:solidFill>
                <a:latin typeface="Georgia"/>
              </a:rPr>
              <a:t>Viewership Dashboard — Page 2</a:t>
            </a:r>
          </a:p>
        </p:txBody>
      </p:sp>
      <p:sp>
        <p:nvSpPr>
          <p:cNvPr id="7" name="TextBox 6"/>
          <p:cNvSpPr txBox="1"/>
          <p:nvPr/>
        </p:nvSpPr>
        <p:spPr>
          <a:xfrm>
            <a:off x="457200" y="1234440"/>
            <a:ext cx="11247120" cy="320040"/>
          </a:xfrm>
          <a:prstGeom prst="rect">
            <a:avLst/>
          </a:prstGeom>
          <a:noFill/>
        </p:spPr>
        <p:txBody>
          <a:bodyPr wrap="square" lIns="0" tIns="0" rIns="0" bIns="0" anchor="t">
            <a:spAutoFit/>
          </a:bodyPr>
          <a:lstStyle/>
          <a:p>
            <a:pPr algn="l"/>
            <a:r>
              <a:rPr sz="1400" b="0">
                <a:solidFill>
                  <a:srgbClr val="B8BED9"/>
                </a:solidFill>
                <a:latin typeface="Calibri"/>
              </a:rPr>
              <a:t>Audience age profile &amp; time-of-day consumption</a:t>
            </a:r>
          </a:p>
        </p:txBody>
      </p:sp>
      <p:sp>
        <p:nvSpPr>
          <p:cNvPr id="8" name="Rectangle 7"/>
          <p:cNvSpPr/>
          <p:nvPr/>
        </p:nvSpPr>
        <p:spPr>
          <a:xfrm>
            <a:off x="457200" y="1783080"/>
            <a:ext cx="5623560" cy="4206240"/>
          </a:xfrm>
          <a:prstGeom prst="rect">
            <a:avLst/>
          </a:prstGeom>
          <a:solidFill>
            <a:srgbClr val="1A21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85800" y="1920240"/>
            <a:ext cx="5166360" cy="320040"/>
          </a:xfrm>
          <a:prstGeom prst="rect">
            <a:avLst/>
          </a:prstGeom>
          <a:noFill/>
        </p:spPr>
        <p:txBody>
          <a:bodyPr wrap="square" lIns="0" tIns="0" rIns="0" bIns="0" anchor="t">
            <a:spAutoFit/>
          </a:bodyPr>
          <a:lstStyle/>
          <a:p>
            <a:pPr algn="l"/>
            <a:r>
              <a:rPr sz="1100" b="1">
                <a:solidFill>
                  <a:srgbClr val="F0A500"/>
                </a:solidFill>
                <a:latin typeface="Calibri"/>
              </a:rPr>
              <a:t>AGE GROUP BUCKET</a:t>
            </a:r>
          </a:p>
        </p:txBody>
      </p:sp>
      <p:sp>
        <p:nvSpPr>
          <p:cNvPr id="10" name="TextBox 9"/>
          <p:cNvSpPr txBox="1"/>
          <p:nvPr/>
        </p:nvSpPr>
        <p:spPr>
          <a:xfrm>
            <a:off x="685800" y="2240280"/>
            <a:ext cx="5166360" cy="365760"/>
          </a:xfrm>
          <a:prstGeom prst="rect">
            <a:avLst/>
          </a:prstGeom>
          <a:noFill/>
        </p:spPr>
        <p:txBody>
          <a:bodyPr wrap="square" lIns="0" tIns="0" rIns="0" bIns="0" anchor="t">
            <a:spAutoFit/>
          </a:bodyPr>
          <a:lstStyle/>
          <a:p>
            <a:pPr algn="l"/>
            <a:r>
              <a:rPr sz="1500" b="1">
                <a:solidFill>
                  <a:srgbClr val="FFFFFF"/>
                </a:solidFill>
                <a:latin typeface="Georgia"/>
              </a:rPr>
              <a:t>Adults &amp; young adults dominate viewing</a:t>
            </a:r>
          </a:p>
        </p:txBody>
      </p:sp>
      <p:pic>
        <p:nvPicPr>
          <p:cNvPr id="11" name="Picture 10" descr="d2a.png"/>
          <p:cNvPicPr>
            <a:picLocks noChangeAspect="1"/>
          </p:cNvPicPr>
          <p:nvPr/>
        </p:nvPicPr>
        <p:blipFill>
          <a:blip r:embed="rId2"/>
          <a:stretch>
            <a:fillRect/>
          </a:stretch>
        </p:blipFill>
        <p:spPr>
          <a:xfrm>
            <a:off x="685800" y="2697480"/>
            <a:ext cx="5166360" cy="3108960"/>
          </a:xfrm>
          <a:prstGeom prst="rect">
            <a:avLst/>
          </a:prstGeom>
        </p:spPr>
      </p:pic>
      <p:sp>
        <p:nvSpPr>
          <p:cNvPr id="12" name="Rectangle 11"/>
          <p:cNvSpPr/>
          <p:nvPr/>
        </p:nvSpPr>
        <p:spPr>
          <a:xfrm>
            <a:off x="6263640" y="1783080"/>
            <a:ext cx="5486400" cy="4206240"/>
          </a:xfrm>
          <a:prstGeom prst="rect">
            <a:avLst/>
          </a:prstGeom>
          <a:solidFill>
            <a:srgbClr val="1A21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492240" y="1920240"/>
            <a:ext cx="5029200" cy="320040"/>
          </a:xfrm>
          <a:prstGeom prst="rect">
            <a:avLst/>
          </a:prstGeom>
          <a:noFill/>
        </p:spPr>
        <p:txBody>
          <a:bodyPr wrap="square" lIns="0" tIns="0" rIns="0" bIns="0" anchor="t">
            <a:spAutoFit/>
          </a:bodyPr>
          <a:lstStyle/>
          <a:p>
            <a:pPr algn="l"/>
            <a:r>
              <a:rPr sz="1100" b="1">
                <a:solidFill>
                  <a:srgbClr val="F0A500"/>
                </a:solidFill>
                <a:latin typeface="Calibri"/>
              </a:rPr>
              <a:t>TIME-OF-DAY CONSUMPTION</a:t>
            </a:r>
          </a:p>
        </p:txBody>
      </p:sp>
      <p:sp>
        <p:nvSpPr>
          <p:cNvPr id="14" name="TextBox 13"/>
          <p:cNvSpPr txBox="1"/>
          <p:nvPr/>
        </p:nvSpPr>
        <p:spPr>
          <a:xfrm>
            <a:off x="6492240" y="2240280"/>
            <a:ext cx="5029200" cy="365760"/>
          </a:xfrm>
          <a:prstGeom prst="rect">
            <a:avLst/>
          </a:prstGeom>
          <a:noFill/>
        </p:spPr>
        <p:txBody>
          <a:bodyPr wrap="square" lIns="0" tIns="0" rIns="0" bIns="0" anchor="t">
            <a:spAutoFit/>
          </a:bodyPr>
          <a:lstStyle/>
          <a:p>
            <a:pPr algn="l"/>
            <a:r>
              <a:rPr sz="1500" b="1">
                <a:solidFill>
                  <a:srgbClr val="FFFFFF"/>
                </a:solidFill>
                <a:latin typeface="Georgia"/>
              </a:rPr>
              <a:t>Early morning is the strongest slot</a:t>
            </a:r>
          </a:p>
        </p:txBody>
      </p:sp>
      <p:pic>
        <p:nvPicPr>
          <p:cNvPr id="15" name="Picture 14" descr="d2b.png"/>
          <p:cNvPicPr>
            <a:picLocks noChangeAspect="1"/>
          </p:cNvPicPr>
          <p:nvPr/>
        </p:nvPicPr>
        <p:blipFill>
          <a:blip r:embed="rId3"/>
          <a:stretch>
            <a:fillRect/>
          </a:stretch>
        </p:blipFill>
        <p:spPr>
          <a:xfrm>
            <a:off x="6492240" y="2697480"/>
            <a:ext cx="5029200" cy="3108960"/>
          </a:xfrm>
          <a:prstGeom prst="rect">
            <a:avLst/>
          </a:prstGeom>
        </p:spPr>
      </p:pic>
      <p:sp>
        <p:nvSpPr>
          <p:cNvPr id="16" name="Rectangle 15"/>
          <p:cNvSpPr/>
          <p:nvPr/>
        </p:nvSpPr>
        <p:spPr>
          <a:xfrm>
            <a:off x="457200" y="6035040"/>
            <a:ext cx="2697480" cy="548640"/>
          </a:xfrm>
          <a:prstGeom prst="rect">
            <a:avLst/>
          </a:prstGeom>
          <a:solidFill>
            <a:srgbClr val="141B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457200" y="6035040"/>
            <a:ext cx="73152" cy="548640"/>
          </a:xfrm>
          <a:prstGeom prst="rect">
            <a:avLst/>
          </a:prstGeom>
          <a:solidFill>
            <a:srgbClr val="E91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40080" y="6062472"/>
            <a:ext cx="1371600" cy="292608"/>
          </a:xfrm>
          <a:prstGeom prst="rect">
            <a:avLst/>
          </a:prstGeom>
          <a:noFill/>
        </p:spPr>
        <p:txBody>
          <a:bodyPr wrap="square" lIns="0" tIns="0" rIns="0" bIns="0" anchor="t">
            <a:spAutoFit/>
          </a:bodyPr>
          <a:lstStyle/>
          <a:p>
            <a:pPr algn="l"/>
            <a:r>
              <a:rPr sz="1600" b="1">
                <a:solidFill>
                  <a:srgbClr val="E91E63"/>
                </a:solidFill>
                <a:latin typeface="Georgia"/>
              </a:rPr>
              <a:t>4,455</a:t>
            </a:r>
          </a:p>
        </p:txBody>
      </p:sp>
      <p:sp>
        <p:nvSpPr>
          <p:cNvPr id="19" name="TextBox 18"/>
          <p:cNvSpPr txBox="1"/>
          <p:nvPr/>
        </p:nvSpPr>
        <p:spPr>
          <a:xfrm>
            <a:off x="1783080" y="6062472"/>
            <a:ext cx="1280160" cy="502920"/>
          </a:xfrm>
          <a:prstGeom prst="rect">
            <a:avLst/>
          </a:prstGeom>
          <a:noFill/>
        </p:spPr>
        <p:txBody>
          <a:bodyPr wrap="square" lIns="0" tIns="0" rIns="0" bIns="0" anchor="ctr">
            <a:spAutoFit/>
          </a:bodyPr>
          <a:lstStyle/>
          <a:p>
            <a:pPr algn="l"/>
            <a:r>
              <a:rPr sz="900" b="0">
                <a:solidFill>
                  <a:srgbClr val="B8BED9"/>
                </a:solidFill>
                <a:latin typeface="Calibri"/>
              </a:rPr>
              <a:t>Adults — largest segment</a:t>
            </a:r>
          </a:p>
        </p:txBody>
      </p:sp>
      <p:sp>
        <p:nvSpPr>
          <p:cNvPr id="20" name="Rectangle 19"/>
          <p:cNvSpPr/>
          <p:nvPr/>
        </p:nvSpPr>
        <p:spPr>
          <a:xfrm>
            <a:off x="3273552" y="6035040"/>
            <a:ext cx="2697480" cy="548640"/>
          </a:xfrm>
          <a:prstGeom prst="rect">
            <a:avLst/>
          </a:prstGeom>
          <a:solidFill>
            <a:srgbClr val="141B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3273552" y="6035040"/>
            <a:ext cx="73152" cy="548640"/>
          </a:xfrm>
          <a:prstGeom prst="rect">
            <a:avLst/>
          </a:prstGeom>
          <a:solidFill>
            <a:srgbClr val="F0A5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3456432" y="6062472"/>
            <a:ext cx="1371600" cy="292608"/>
          </a:xfrm>
          <a:prstGeom prst="rect">
            <a:avLst/>
          </a:prstGeom>
          <a:noFill/>
        </p:spPr>
        <p:txBody>
          <a:bodyPr wrap="square" lIns="0" tIns="0" rIns="0" bIns="0" anchor="t">
            <a:spAutoFit/>
          </a:bodyPr>
          <a:lstStyle/>
          <a:p>
            <a:pPr algn="l"/>
            <a:r>
              <a:rPr sz="1600" b="1">
                <a:solidFill>
                  <a:srgbClr val="F0A500"/>
                </a:solidFill>
                <a:latin typeface="Georgia"/>
              </a:rPr>
              <a:t>4,004</a:t>
            </a:r>
          </a:p>
        </p:txBody>
      </p:sp>
      <p:sp>
        <p:nvSpPr>
          <p:cNvPr id="23" name="TextBox 22"/>
          <p:cNvSpPr txBox="1"/>
          <p:nvPr/>
        </p:nvSpPr>
        <p:spPr>
          <a:xfrm>
            <a:off x="4599432" y="6062472"/>
            <a:ext cx="1280160" cy="502920"/>
          </a:xfrm>
          <a:prstGeom prst="rect">
            <a:avLst/>
          </a:prstGeom>
          <a:noFill/>
        </p:spPr>
        <p:txBody>
          <a:bodyPr wrap="square" lIns="0" tIns="0" rIns="0" bIns="0" anchor="ctr">
            <a:spAutoFit/>
          </a:bodyPr>
          <a:lstStyle/>
          <a:p>
            <a:pPr algn="l"/>
            <a:r>
              <a:rPr sz="900" b="0">
                <a:solidFill>
                  <a:srgbClr val="B8BED9"/>
                </a:solidFill>
                <a:latin typeface="Calibri"/>
              </a:rPr>
              <a:t>Young Adults — close second</a:t>
            </a:r>
          </a:p>
        </p:txBody>
      </p:sp>
      <p:sp>
        <p:nvSpPr>
          <p:cNvPr id="24" name="Rectangle 23"/>
          <p:cNvSpPr/>
          <p:nvPr/>
        </p:nvSpPr>
        <p:spPr>
          <a:xfrm>
            <a:off x="6089904" y="6035040"/>
            <a:ext cx="2697480" cy="548640"/>
          </a:xfrm>
          <a:prstGeom prst="rect">
            <a:avLst/>
          </a:prstGeom>
          <a:solidFill>
            <a:srgbClr val="141B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6089904" y="6035040"/>
            <a:ext cx="73152" cy="548640"/>
          </a:xfrm>
          <a:prstGeom prst="rect">
            <a:avLst/>
          </a:prstGeom>
          <a:solidFill>
            <a:srgbClr val="E91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272784" y="6062472"/>
            <a:ext cx="1371600" cy="292608"/>
          </a:xfrm>
          <a:prstGeom prst="rect">
            <a:avLst/>
          </a:prstGeom>
          <a:noFill/>
        </p:spPr>
        <p:txBody>
          <a:bodyPr wrap="square" lIns="0" tIns="0" rIns="0" bIns="0" anchor="t">
            <a:spAutoFit/>
          </a:bodyPr>
          <a:lstStyle/>
          <a:p>
            <a:pPr algn="l"/>
            <a:r>
              <a:rPr sz="1600" b="1">
                <a:solidFill>
                  <a:srgbClr val="E91E63"/>
                </a:solidFill>
                <a:latin typeface="Georgia"/>
              </a:rPr>
              <a:t>4,000+</a:t>
            </a:r>
          </a:p>
        </p:txBody>
      </p:sp>
      <p:sp>
        <p:nvSpPr>
          <p:cNvPr id="27" name="TextBox 26"/>
          <p:cNvSpPr txBox="1"/>
          <p:nvPr/>
        </p:nvSpPr>
        <p:spPr>
          <a:xfrm>
            <a:off x="7415783" y="6062472"/>
            <a:ext cx="1280160" cy="502920"/>
          </a:xfrm>
          <a:prstGeom prst="rect">
            <a:avLst/>
          </a:prstGeom>
          <a:noFill/>
        </p:spPr>
        <p:txBody>
          <a:bodyPr wrap="square" lIns="0" tIns="0" rIns="0" bIns="0" anchor="ctr">
            <a:spAutoFit/>
          </a:bodyPr>
          <a:lstStyle/>
          <a:p>
            <a:pPr algn="l"/>
            <a:r>
              <a:rPr sz="900" b="0">
                <a:solidFill>
                  <a:srgbClr val="B8BED9"/>
                </a:solidFill>
                <a:latin typeface="Calibri"/>
              </a:rPr>
              <a:t>Early-morning viewers</a:t>
            </a:r>
          </a:p>
        </p:txBody>
      </p:sp>
      <p:sp>
        <p:nvSpPr>
          <p:cNvPr id="28" name="Rectangle 27"/>
          <p:cNvSpPr/>
          <p:nvPr/>
        </p:nvSpPr>
        <p:spPr>
          <a:xfrm>
            <a:off x="8906256" y="6035040"/>
            <a:ext cx="2697480" cy="548640"/>
          </a:xfrm>
          <a:prstGeom prst="rect">
            <a:avLst/>
          </a:prstGeom>
          <a:solidFill>
            <a:srgbClr val="141B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8906256" y="6035040"/>
            <a:ext cx="73152" cy="548640"/>
          </a:xfrm>
          <a:prstGeom prst="rect">
            <a:avLst/>
          </a:prstGeom>
          <a:solidFill>
            <a:srgbClr val="F0A5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9089136" y="6062472"/>
            <a:ext cx="1371600" cy="292608"/>
          </a:xfrm>
          <a:prstGeom prst="rect">
            <a:avLst/>
          </a:prstGeom>
          <a:noFill/>
        </p:spPr>
        <p:txBody>
          <a:bodyPr wrap="square" lIns="0" tIns="0" rIns="0" bIns="0" anchor="t">
            <a:spAutoFit/>
          </a:bodyPr>
          <a:lstStyle/>
          <a:p>
            <a:pPr algn="l"/>
            <a:r>
              <a:rPr sz="1600" b="1">
                <a:solidFill>
                  <a:srgbClr val="F0A500"/>
                </a:solidFill>
                <a:latin typeface="Georgia"/>
              </a:rPr>
              <a:t>700</a:t>
            </a:r>
          </a:p>
        </p:txBody>
      </p:sp>
      <p:sp>
        <p:nvSpPr>
          <p:cNvPr id="31" name="TextBox 30"/>
          <p:cNvSpPr txBox="1"/>
          <p:nvPr/>
        </p:nvSpPr>
        <p:spPr>
          <a:xfrm>
            <a:off x="10232136" y="6062472"/>
            <a:ext cx="1280160" cy="502920"/>
          </a:xfrm>
          <a:prstGeom prst="rect">
            <a:avLst/>
          </a:prstGeom>
          <a:noFill/>
        </p:spPr>
        <p:txBody>
          <a:bodyPr wrap="square" lIns="0" tIns="0" rIns="0" bIns="0" anchor="ctr">
            <a:spAutoFit/>
          </a:bodyPr>
          <a:lstStyle/>
          <a:p>
            <a:pPr algn="l"/>
            <a:r>
              <a:rPr sz="900" b="0">
                <a:solidFill>
                  <a:srgbClr val="B8BED9"/>
                </a:solidFill>
                <a:latin typeface="Calibri"/>
              </a:rPr>
              <a:t>Afternoon — weakest slot ⚠</a:t>
            </a:r>
          </a:p>
        </p:txBody>
      </p:sp>
      <p:sp>
        <p:nvSpPr>
          <p:cNvPr id="32" name="TextBox 31"/>
          <p:cNvSpPr txBox="1"/>
          <p:nvPr/>
        </p:nvSpPr>
        <p:spPr>
          <a:xfrm>
            <a:off x="457200" y="6656832"/>
            <a:ext cx="7315200" cy="182880"/>
          </a:xfrm>
          <a:prstGeom prst="rect">
            <a:avLst/>
          </a:prstGeom>
          <a:noFill/>
        </p:spPr>
        <p:txBody>
          <a:bodyPr wrap="square" lIns="0" tIns="0" rIns="0" bIns="0" anchor="t">
            <a:spAutoFit/>
          </a:bodyPr>
          <a:lstStyle/>
          <a:p>
            <a:pPr algn="l"/>
            <a:r>
              <a:rPr sz="900" b="0">
                <a:solidFill>
                  <a:srgbClr val="B8BED9"/>
                </a:solidFill>
                <a:latin typeface="Calibri"/>
              </a:rPr>
              <a:t>Ennove Analytics  ·  Innocent Mphahlele</a:t>
            </a: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A0E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73152"/>
          </a:xfrm>
          <a:prstGeom prst="rect">
            <a:avLst/>
          </a:prstGeom>
          <a:solidFill>
            <a:srgbClr val="E91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274320"/>
            <a:ext cx="7315200" cy="274320"/>
          </a:xfrm>
          <a:prstGeom prst="rect">
            <a:avLst/>
          </a:prstGeom>
          <a:noFill/>
        </p:spPr>
        <p:txBody>
          <a:bodyPr wrap="square" lIns="0" tIns="0" rIns="0" bIns="0" anchor="t">
            <a:spAutoFit/>
          </a:bodyPr>
          <a:lstStyle/>
          <a:p>
            <a:pPr algn="l"/>
            <a:r>
              <a:rPr sz="1000" b="1">
                <a:solidFill>
                  <a:srgbClr val="F0A500"/>
                </a:solidFill>
                <a:latin typeface="Calibri"/>
              </a:rPr>
              <a:t>BRIGHT TV  ·  VIEWERSHIP PROJECT</a:t>
            </a:r>
          </a:p>
        </p:txBody>
      </p:sp>
      <p:sp>
        <p:nvSpPr>
          <p:cNvPr id="5" name="TextBox 4"/>
          <p:cNvSpPr txBox="1"/>
          <p:nvPr/>
        </p:nvSpPr>
        <p:spPr>
          <a:xfrm>
            <a:off x="10332720" y="274320"/>
            <a:ext cx="1371600" cy="274320"/>
          </a:xfrm>
          <a:prstGeom prst="rect">
            <a:avLst/>
          </a:prstGeom>
          <a:noFill/>
        </p:spPr>
        <p:txBody>
          <a:bodyPr wrap="square" lIns="0" tIns="0" rIns="0" bIns="0" anchor="t">
            <a:spAutoFit/>
          </a:bodyPr>
          <a:lstStyle/>
          <a:p>
            <a:pPr algn="r"/>
            <a:r>
              <a:rPr sz="1000" b="1">
                <a:solidFill>
                  <a:srgbClr val="B8BED9"/>
                </a:solidFill>
                <a:latin typeface="Calibri"/>
              </a:rPr>
              <a:t>08C / 11</a:t>
            </a:r>
          </a:p>
        </p:txBody>
      </p:sp>
      <p:sp>
        <p:nvSpPr>
          <p:cNvPr id="6" name="TextBox 5"/>
          <p:cNvSpPr txBox="1"/>
          <p:nvPr/>
        </p:nvSpPr>
        <p:spPr>
          <a:xfrm>
            <a:off x="457200" y="640080"/>
            <a:ext cx="11247120" cy="640080"/>
          </a:xfrm>
          <a:prstGeom prst="rect">
            <a:avLst/>
          </a:prstGeom>
          <a:noFill/>
        </p:spPr>
        <p:txBody>
          <a:bodyPr wrap="square" lIns="0" tIns="0" rIns="0" bIns="0" anchor="t">
            <a:spAutoFit/>
          </a:bodyPr>
          <a:lstStyle/>
          <a:p>
            <a:pPr algn="l"/>
            <a:r>
              <a:rPr sz="3400" b="1">
                <a:solidFill>
                  <a:srgbClr val="FFFFFF"/>
                </a:solidFill>
                <a:latin typeface="Georgia"/>
              </a:rPr>
              <a:t>Viewership Dashboard — Page 3</a:t>
            </a:r>
          </a:p>
        </p:txBody>
      </p:sp>
      <p:sp>
        <p:nvSpPr>
          <p:cNvPr id="7" name="TextBox 6"/>
          <p:cNvSpPr txBox="1"/>
          <p:nvPr/>
        </p:nvSpPr>
        <p:spPr>
          <a:xfrm>
            <a:off x="457200" y="1234440"/>
            <a:ext cx="11247120" cy="320040"/>
          </a:xfrm>
          <a:prstGeom prst="rect">
            <a:avLst/>
          </a:prstGeom>
          <a:noFill/>
        </p:spPr>
        <p:txBody>
          <a:bodyPr wrap="square" lIns="0" tIns="0" rIns="0" bIns="0" anchor="t">
            <a:spAutoFit/>
          </a:bodyPr>
          <a:lstStyle/>
          <a:p>
            <a:pPr algn="l"/>
            <a:r>
              <a:rPr sz="1400" b="0">
                <a:solidFill>
                  <a:srgbClr val="B8BED9"/>
                </a:solidFill>
                <a:latin typeface="Calibri"/>
              </a:rPr>
              <a:t>Race composition &amp; provincial reach</a:t>
            </a:r>
          </a:p>
        </p:txBody>
      </p:sp>
      <p:sp>
        <p:nvSpPr>
          <p:cNvPr id="8" name="Rectangle 7"/>
          <p:cNvSpPr/>
          <p:nvPr/>
        </p:nvSpPr>
        <p:spPr>
          <a:xfrm>
            <a:off x="457200" y="1783080"/>
            <a:ext cx="5623560" cy="4160520"/>
          </a:xfrm>
          <a:prstGeom prst="rect">
            <a:avLst/>
          </a:prstGeom>
          <a:solidFill>
            <a:srgbClr val="1A21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85800" y="1920240"/>
            <a:ext cx="5166360" cy="274320"/>
          </a:xfrm>
          <a:prstGeom prst="rect">
            <a:avLst/>
          </a:prstGeom>
          <a:noFill/>
        </p:spPr>
        <p:txBody>
          <a:bodyPr wrap="square" lIns="0" tIns="0" rIns="0" bIns="0" anchor="t">
            <a:spAutoFit/>
          </a:bodyPr>
          <a:lstStyle/>
          <a:p>
            <a:pPr algn="l"/>
            <a:r>
              <a:rPr sz="1100" b="1">
                <a:solidFill>
                  <a:srgbClr val="F0A500"/>
                </a:solidFill>
                <a:latin typeface="Calibri"/>
              </a:rPr>
              <a:t>RACE — % SHARE</a:t>
            </a:r>
          </a:p>
        </p:txBody>
      </p:sp>
      <p:sp>
        <p:nvSpPr>
          <p:cNvPr id="10" name="TextBox 9"/>
          <p:cNvSpPr txBox="1"/>
          <p:nvPr/>
        </p:nvSpPr>
        <p:spPr>
          <a:xfrm>
            <a:off x="685800" y="2212848"/>
            <a:ext cx="5166360" cy="365760"/>
          </a:xfrm>
          <a:prstGeom prst="rect">
            <a:avLst/>
          </a:prstGeom>
          <a:noFill/>
        </p:spPr>
        <p:txBody>
          <a:bodyPr wrap="square" lIns="0" tIns="0" rIns="0" bIns="0" anchor="t">
            <a:spAutoFit/>
          </a:bodyPr>
          <a:lstStyle/>
          <a:p>
            <a:pPr algn="l"/>
            <a:r>
              <a:rPr sz="1400" b="1">
                <a:solidFill>
                  <a:srgbClr val="FFFFFF"/>
                </a:solidFill>
                <a:latin typeface="Georgia"/>
              </a:rPr>
              <a:t>Black audience leads at 43%</a:t>
            </a:r>
          </a:p>
        </p:txBody>
      </p:sp>
      <p:pic>
        <p:nvPicPr>
          <p:cNvPr id="11" name="Picture 10" descr="c31.png"/>
          <p:cNvPicPr>
            <a:picLocks noChangeAspect="1"/>
          </p:cNvPicPr>
          <p:nvPr/>
        </p:nvPicPr>
        <p:blipFill>
          <a:blip r:embed="rId2"/>
          <a:stretch>
            <a:fillRect/>
          </a:stretch>
        </p:blipFill>
        <p:spPr>
          <a:xfrm>
            <a:off x="685800" y="2697480"/>
            <a:ext cx="5166360" cy="3108960"/>
          </a:xfrm>
          <a:prstGeom prst="rect">
            <a:avLst/>
          </a:prstGeom>
        </p:spPr>
      </p:pic>
      <p:sp>
        <p:nvSpPr>
          <p:cNvPr id="12" name="Rectangle 11"/>
          <p:cNvSpPr/>
          <p:nvPr/>
        </p:nvSpPr>
        <p:spPr>
          <a:xfrm>
            <a:off x="6263640" y="1783080"/>
            <a:ext cx="5486400" cy="4160520"/>
          </a:xfrm>
          <a:prstGeom prst="rect">
            <a:avLst/>
          </a:prstGeom>
          <a:solidFill>
            <a:srgbClr val="1A21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492240" y="1920240"/>
            <a:ext cx="5029200" cy="274320"/>
          </a:xfrm>
          <a:prstGeom prst="rect">
            <a:avLst/>
          </a:prstGeom>
          <a:noFill/>
        </p:spPr>
        <p:txBody>
          <a:bodyPr wrap="square" lIns="0" tIns="0" rIns="0" bIns="0" anchor="t">
            <a:spAutoFit/>
          </a:bodyPr>
          <a:lstStyle/>
          <a:p>
            <a:pPr algn="l"/>
            <a:r>
              <a:rPr sz="1100" b="1">
                <a:solidFill>
                  <a:srgbClr val="F0A500"/>
                </a:solidFill>
                <a:latin typeface="Calibri"/>
              </a:rPr>
              <a:t>PROVINCIAL VIEWERSHIP</a:t>
            </a:r>
          </a:p>
        </p:txBody>
      </p:sp>
      <p:sp>
        <p:nvSpPr>
          <p:cNvPr id="14" name="TextBox 13"/>
          <p:cNvSpPr txBox="1"/>
          <p:nvPr/>
        </p:nvSpPr>
        <p:spPr>
          <a:xfrm>
            <a:off x="6492240" y="2212848"/>
            <a:ext cx="5029200" cy="365760"/>
          </a:xfrm>
          <a:prstGeom prst="rect">
            <a:avLst/>
          </a:prstGeom>
          <a:noFill/>
        </p:spPr>
        <p:txBody>
          <a:bodyPr wrap="square" lIns="0" tIns="0" rIns="0" bIns="0" anchor="t">
            <a:spAutoFit/>
          </a:bodyPr>
          <a:lstStyle/>
          <a:p>
            <a:pPr algn="l"/>
            <a:r>
              <a:rPr sz="1400" b="1">
                <a:solidFill>
                  <a:srgbClr val="FFFFFF"/>
                </a:solidFill>
                <a:latin typeface="Georgia"/>
              </a:rPr>
              <a:t>Gauteng dwarfs every other province</a:t>
            </a:r>
          </a:p>
        </p:txBody>
      </p:sp>
      <p:pic>
        <p:nvPicPr>
          <p:cNvPr id="15" name="Picture 14" descr="c34.png"/>
          <p:cNvPicPr>
            <a:picLocks noChangeAspect="1"/>
          </p:cNvPicPr>
          <p:nvPr/>
        </p:nvPicPr>
        <p:blipFill>
          <a:blip r:embed="rId3"/>
          <a:stretch>
            <a:fillRect/>
          </a:stretch>
        </p:blipFill>
        <p:spPr>
          <a:xfrm>
            <a:off x="6492240" y="2697480"/>
            <a:ext cx="5029200" cy="3108960"/>
          </a:xfrm>
          <a:prstGeom prst="rect">
            <a:avLst/>
          </a:prstGeom>
        </p:spPr>
      </p:pic>
      <p:sp>
        <p:nvSpPr>
          <p:cNvPr id="16" name="Rectangle 15"/>
          <p:cNvSpPr/>
          <p:nvPr/>
        </p:nvSpPr>
        <p:spPr>
          <a:xfrm>
            <a:off x="457200" y="6035040"/>
            <a:ext cx="2697480" cy="548640"/>
          </a:xfrm>
          <a:prstGeom prst="rect">
            <a:avLst/>
          </a:prstGeom>
          <a:solidFill>
            <a:srgbClr val="141B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457200" y="6035040"/>
            <a:ext cx="73152" cy="548640"/>
          </a:xfrm>
          <a:prstGeom prst="rect">
            <a:avLst/>
          </a:prstGeom>
          <a:solidFill>
            <a:srgbClr val="E91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40080" y="6062472"/>
            <a:ext cx="1463040" cy="292608"/>
          </a:xfrm>
          <a:prstGeom prst="rect">
            <a:avLst/>
          </a:prstGeom>
          <a:noFill/>
        </p:spPr>
        <p:txBody>
          <a:bodyPr wrap="square" lIns="0" tIns="0" rIns="0" bIns="0" anchor="t">
            <a:spAutoFit/>
          </a:bodyPr>
          <a:lstStyle/>
          <a:p>
            <a:pPr algn="l"/>
            <a:r>
              <a:rPr sz="1600" b="1">
                <a:solidFill>
                  <a:srgbClr val="E91E63"/>
                </a:solidFill>
                <a:latin typeface="Georgia"/>
              </a:rPr>
              <a:t>43%</a:t>
            </a:r>
          </a:p>
        </p:txBody>
      </p:sp>
      <p:sp>
        <p:nvSpPr>
          <p:cNvPr id="19" name="TextBox 18"/>
          <p:cNvSpPr txBox="1"/>
          <p:nvPr/>
        </p:nvSpPr>
        <p:spPr>
          <a:xfrm>
            <a:off x="1828800" y="6062472"/>
            <a:ext cx="1234440" cy="502920"/>
          </a:xfrm>
          <a:prstGeom prst="rect">
            <a:avLst/>
          </a:prstGeom>
          <a:noFill/>
        </p:spPr>
        <p:txBody>
          <a:bodyPr wrap="square" lIns="0" tIns="0" rIns="0" bIns="0" anchor="ctr">
            <a:spAutoFit/>
          </a:bodyPr>
          <a:lstStyle/>
          <a:p>
            <a:pPr algn="l"/>
            <a:r>
              <a:rPr sz="900" b="0">
                <a:solidFill>
                  <a:srgbClr val="B8BED9"/>
                </a:solidFill>
                <a:latin typeface="Calibri"/>
              </a:rPr>
              <a:t>Black viewers — top segment</a:t>
            </a:r>
          </a:p>
        </p:txBody>
      </p:sp>
      <p:sp>
        <p:nvSpPr>
          <p:cNvPr id="20" name="Rectangle 19"/>
          <p:cNvSpPr/>
          <p:nvPr/>
        </p:nvSpPr>
        <p:spPr>
          <a:xfrm>
            <a:off x="3273552" y="6035040"/>
            <a:ext cx="2697480" cy="548640"/>
          </a:xfrm>
          <a:prstGeom prst="rect">
            <a:avLst/>
          </a:prstGeom>
          <a:solidFill>
            <a:srgbClr val="141B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3273552" y="6035040"/>
            <a:ext cx="73152" cy="548640"/>
          </a:xfrm>
          <a:prstGeom prst="rect">
            <a:avLst/>
          </a:prstGeom>
          <a:solidFill>
            <a:srgbClr val="F0A5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3456432" y="6062472"/>
            <a:ext cx="1463040" cy="292608"/>
          </a:xfrm>
          <a:prstGeom prst="rect">
            <a:avLst/>
          </a:prstGeom>
          <a:noFill/>
        </p:spPr>
        <p:txBody>
          <a:bodyPr wrap="square" lIns="0" tIns="0" rIns="0" bIns="0" anchor="t">
            <a:spAutoFit/>
          </a:bodyPr>
          <a:lstStyle/>
          <a:p>
            <a:pPr algn="l"/>
            <a:r>
              <a:rPr sz="1600" b="1">
                <a:solidFill>
                  <a:srgbClr val="F0A500"/>
                </a:solidFill>
                <a:latin typeface="Georgia"/>
              </a:rPr>
              <a:t>3,654</a:t>
            </a:r>
          </a:p>
        </p:txBody>
      </p:sp>
      <p:sp>
        <p:nvSpPr>
          <p:cNvPr id="23" name="TextBox 22"/>
          <p:cNvSpPr txBox="1"/>
          <p:nvPr/>
        </p:nvSpPr>
        <p:spPr>
          <a:xfrm>
            <a:off x="4645152" y="6062472"/>
            <a:ext cx="1234440" cy="502920"/>
          </a:xfrm>
          <a:prstGeom prst="rect">
            <a:avLst/>
          </a:prstGeom>
          <a:noFill/>
        </p:spPr>
        <p:txBody>
          <a:bodyPr wrap="square" lIns="0" tIns="0" rIns="0" bIns="0" anchor="ctr">
            <a:spAutoFit/>
          </a:bodyPr>
          <a:lstStyle/>
          <a:p>
            <a:pPr algn="l"/>
            <a:r>
              <a:rPr sz="900" b="0">
                <a:solidFill>
                  <a:srgbClr val="B8BED9"/>
                </a:solidFill>
                <a:latin typeface="Calibri"/>
              </a:rPr>
              <a:t>Gauteng viewers (rank 1)</a:t>
            </a:r>
          </a:p>
        </p:txBody>
      </p:sp>
      <p:sp>
        <p:nvSpPr>
          <p:cNvPr id="24" name="Rectangle 23"/>
          <p:cNvSpPr/>
          <p:nvPr/>
        </p:nvSpPr>
        <p:spPr>
          <a:xfrm>
            <a:off x="6089904" y="6035040"/>
            <a:ext cx="2697480" cy="548640"/>
          </a:xfrm>
          <a:prstGeom prst="rect">
            <a:avLst/>
          </a:prstGeom>
          <a:solidFill>
            <a:srgbClr val="141B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6089904" y="6035040"/>
            <a:ext cx="73152" cy="548640"/>
          </a:xfrm>
          <a:prstGeom prst="rect">
            <a:avLst/>
          </a:prstGeom>
          <a:solidFill>
            <a:srgbClr val="E91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272784" y="6062472"/>
            <a:ext cx="1463040" cy="292608"/>
          </a:xfrm>
          <a:prstGeom prst="rect">
            <a:avLst/>
          </a:prstGeom>
          <a:noFill/>
        </p:spPr>
        <p:txBody>
          <a:bodyPr wrap="square" lIns="0" tIns="0" rIns="0" bIns="0" anchor="t">
            <a:spAutoFit/>
          </a:bodyPr>
          <a:lstStyle/>
          <a:p>
            <a:pPr algn="l"/>
            <a:r>
              <a:rPr sz="1600" b="1">
                <a:solidFill>
                  <a:srgbClr val="E91E63"/>
                </a:solidFill>
                <a:latin typeface="Georgia"/>
              </a:rPr>
              <a:t>1,067</a:t>
            </a:r>
          </a:p>
        </p:txBody>
      </p:sp>
      <p:sp>
        <p:nvSpPr>
          <p:cNvPr id="27" name="TextBox 26"/>
          <p:cNvSpPr txBox="1"/>
          <p:nvPr/>
        </p:nvSpPr>
        <p:spPr>
          <a:xfrm>
            <a:off x="7461504" y="6062472"/>
            <a:ext cx="1234440" cy="502920"/>
          </a:xfrm>
          <a:prstGeom prst="rect">
            <a:avLst/>
          </a:prstGeom>
          <a:noFill/>
        </p:spPr>
        <p:txBody>
          <a:bodyPr wrap="square" lIns="0" tIns="0" rIns="0" bIns="0" anchor="ctr">
            <a:spAutoFit/>
          </a:bodyPr>
          <a:lstStyle/>
          <a:p>
            <a:pPr algn="l"/>
            <a:r>
              <a:rPr sz="900" b="0">
                <a:solidFill>
                  <a:srgbClr val="B8BED9"/>
                </a:solidFill>
                <a:latin typeface="Calibri"/>
              </a:rPr>
              <a:t>Unknown race ⚠ data gap</a:t>
            </a:r>
          </a:p>
        </p:txBody>
      </p:sp>
      <p:sp>
        <p:nvSpPr>
          <p:cNvPr id="28" name="Rectangle 27"/>
          <p:cNvSpPr/>
          <p:nvPr/>
        </p:nvSpPr>
        <p:spPr>
          <a:xfrm>
            <a:off x="8906256" y="6035040"/>
            <a:ext cx="2697480" cy="548640"/>
          </a:xfrm>
          <a:prstGeom prst="rect">
            <a:avLst/>
          </a:prstGeom>
          <a:solidFill>
            <a:srgbClr val="141B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8906256" y="6035040"/>
            <a:ext cx="73152" cy="548640"/>
          </a:xfrm>
          <a:prstGeom prst="rect">
            <a:avLst/>
          </a:prstGeom>
          <a:solidFill>
            <a:srgbClr val="F0A5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9089136" y="6062472"/>
            <a:ext cx="1463040" cy="292608"/>
          </a:xfrm>
          <a:prstGeom prst="rect">
            <a:avLst/>
          </a:prstGeom>
          <a:noFill/>
        </p:spPr>
        <p:txBody>
          <a:bodyPr wrap="square" lIns="0" tIns="0" rIns="0" bIns="0" anchor="t">
            <a:spAutoFit/>
          </a:bodyPr>
          <a:lstStyle/>
          <a:p>
            <a:pPr algn="l"/>
            <a:r>
              <a:rPr sz="1600" b="1">
                <a:solidFill>
                  <a:srgbClr val="F0A500"/>
                </a:solidFill>
                <a:latin typeface="Georgia"/>
              </a:rPr>
              <a:t>230</a:t>
            </a:r>
          </a:p>
        </p:txBody>
      </p:sp>
      <p:sp>
        <p:nvSpPr>
          <p:cNvPr id="31" name="TextBox 30"/>
          <p:cNvSpPr txBox="1"/>
          <p:nvPr/>
        </p:nvSpPr>
        <p:spPr>
          <a:xfrm>
            <a:off x="10277856" y="6062472"/>
            <a:ext cx="1234440" cy="502920"/>
          </a:xfrm>
          <a:prstGeom prst="rect">
            <a:avLst/>
          </a:prstGeom>
          <a:noFill/>
        </p:spPr>
        <p:txBody>
          <a:bodyPr wrap="square" lIns="0" tIns="0" rIns="0" bIns="0" anchor="ctr">
            <a:spAutoFit/>
          </a:bodyPr>
          <a:lstStyle/>
          <a:p>
            <a:pPr algn="l"/>
            <a:r>
              <a:rPr sz="900" b="0">
                <a:solidFill>
                  <a:srgbClr val="B8BED9"/>
                </a:solidFill>
                <a:latin typeface="Calibri"/>
              </a:rPr>
              <a:t>Northern Cape — lowest reach</a:t>
            </a:r>
          </a:p>
        </p:txBody>
      </p:sp>
      <p:sp>
        <p:nvSpPr>
          <p:cNvPr id="32" name="TextBox 31"/>
          <p:cNvSpPr txBox="1"/>
          <p:nvPr/>
        </p:nvSpPr>
        <p:spPr>
          <a:xfrm>
            <a:off x="457200" y="6656832"/>
            <a:ext cx="7315200" cy="182880"/>
          </a:xfrm>
          <a:prstGeom prst="rect">
            <a:avLst/>
          </a:prstGeom>
          <a:noFill/>
        </p:spPr>
        <p:txBody>
          <a:bodyPr wrap="square" lIns="0" tIns="0" rIns="0" bIns="0" anchor="t">
            <a:spAutoFit/>
          </a:bodyPr>
          <a:lstStyle/>
          <a:p>
            <a:pPr algn="l"/>
            <a:r>
              <a:rPr sz="900" b="0">
                <a:solidFill>
                  <a:srgbClr val="B8BED9"/>
                </a:solidFill>
                <a:latin typeface="Calibri"/>
              </a:rPr>
              <a:t>Ennove Analytics  ·  Innocent Mphahlele</a:t>
            </a: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A0E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73152"/>
          </a:xfrm>
          <a:prstGeom prst="rect">
            <a:avLst/>
          </a:prstGeom>
          <a:solidFill>
            <a:srgbClr val="E91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274320"/>
            <a:ext cx="7315200" cy="274320"/>
          </a:xfrm>
          <a:prstGeom prst="rect">
            <a:avLst/>
          </a:prstGeom>
          <a:noFill/>
        </p:spPr>
        <p:txBody>
          <a:bodyPr wrap="square" lIns="0" tIns="0" rIns="0" bIns="0" anchor="t">
            <a:spAutoFit/>
          </a:bodyPr>
          <a:lstStyle/>
          <a:p>
            <a:pPr algn="l"/>
            <a:r>
              <a:rPr sz="1000" b="1">
                <a:solidFill>
                  <a:srgbClr val="F0A500"/>
                </a:solidFill>
                <a:latin typeface="Calibri"/>
              </a:rPr>
              <a:t>BRIGHT TV  ·  VIEWERSHIP PROJECT</a:t>
            </a:r>
          </a:p>
        </p:txBody>
      </p:sp>
      <p:sp>
        <p:nvSpPr>
          <p:cNvPr id="5" name="TextBox 4"/>
          <p:cNvSpPr txBox="1"/>
          <p:nvPr/>
        </p:nvSpPr>
        <p:spPr>
          <a:xfrm>
            <a:off x="10332720" y="274320"/>
            <a:ext cx="1371600" cy="274320"/>
          </a:xfrm>
          <a:prstGeom prst="rect">
            <a:avLst/>
          </a:prstGeom>
          <a:noFill/>
        </p:spPr>
        <p:txBody>
          <a:bodyPr wrap="square" lIns="0" tIns="0" rIns="0" bIns="0" anchor="t">
            <a:spAutoFit/>
          </a:bodyPr>
          <a:lstStyle/>
          <a:p>
            <a:pPr algn="r"/>
            <a:r>
              <a:rPr sz="1000" b="1">
                <a:solidFill>
                  <a:srgbClr val="B8BED9"/>
                </a:solidFill>
                <a:latin typeface="Calibri"/>
              </a:rPr>
              <a:t>08D / 11</a:t>
            </a:r>
          </a:p>
        </p:txBody>
      </p:sp>
      <p:sp>
        <p:nvSpPr>
          <p:cNvPr id="6" name="TextBox 5"/>
          <p:cNvSpPr txBox="1"/>
          <p:nvPr/>
        </p:nvSpPr>
        <p:spPr>
          <a:xfrm>
            <a:off x="457200" y="640080"/>
            <a:ext cx="11247120" cy="640080"/>
          </a:xfrm>
          <a:prstGeom prst="rect">
            <a:avLst/>
          </a:prstGeom>
          <a:noFill/>
        </p:spPr>
        <p:txBody>
          <a:bodyPr wrap="square" lIns="0" tIns="0" rIns="0" bIns="0" anchor="t">
            <a:spAutoFit/>
          </a:bodyPr>
          <a:lstStyle/>
          <a:p>
            <a:pPr algn="l"/>
            <a:r>
              <a:rPr sz="3400" b="1">
                <a:solidFill>
                  <a:srgbClr val="FFFFFF"/>
                </a:solidFill>
                <a:latin typeface="Georgia"/>
              </a:rPr>
              <a:t>Viewership Dashboard — Page 4</a:t>
            </a:r>
          </a:p>
        </p:txBody>
      </p:sp>
      <p:sp>
        <p:nvSpPr>
          <p:cNvPr id="7" name="TextBox 6"/>
          <p:cNvSpPr txBox="1"/>
          <p:nvPr/>
        </p:nvSpPr>
        <p:spPr>
          <a:xfrm>
            <a:off x="457200" y="1234440"/>
            <a:ext cx="11247120" cy="320040"/>
          </a:xfrm>
          <a:prstGeom prst="rect">
            <a:avLst/>
          </a:prstGeom>
          <a:noFill/>
        </p:spPr>
        <p:txBody>
          <a:bodyPr wrap="square" lIns="0" tIns="0" rIns="0" bIns="0" anchor="t">
            <a:spAutoFit/>
          </a:bodyPr>
          <a:lstStyle/>
          <a:p>
            <a:pPr algn="l"/>
            <a:r>
              <a:rPr sz="1400" b="0">
                <a:solidFill>
                  <a:srgbClr val="B8BED9"/>
                </a:solidFill>
                <a:latin typeface="Calibri"/>
              </a:rPr>
              <a:t>Monthly momentum &amp; top-performing channels</a:t>
            </a:r>
          </a:p>
        </p:txBody>
      </p:sp>
      <p:sp>
        <p:nvSpPr>
          <p:cNvPr id="8" name="Rectangle 7"/>
          <p:cNvSpPr/>
          <p:nvPr/>
        </p:nvSpPr>
        <p:spPr>
          <a:xfrm>
            <a:off x="457200" y="1783080"/>
            <a:ext cx="5623560" cy="4160520"/>
          </a:xfrm>
          <a:prstGeom prst="rect">
            <a:avLst/>
          </a:prstGeom>
          <a:solidFill>
            <a:srgbClr val="1A21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85800" y="1920240"/>
            <a:ext cx="5166360" cy="274320"/>
          </a:xfrm>
          <a:prstGeom prst="rect">
            <a:avLst/>
          </a:prstGeom>
          <a:noFill/>
        </p:spPr>
        <p:txBody>
          <a:bodyPr wrap="square" lIns="0" tIns="0" rIns="0" bIns="0" anchor="t">
            <a:spAutoFit/>
          </a:bodyPr>
          <a:lstStyle/>
          <a:p>
            <a:pPr algn="l"/>
            <a:r>
              <a:rPr sz="1100" b="1">
                <a:solidFill>
                  <a:srgbClr val="F0A500"/>
                </a:solidFill>
                <a:latin typeface="Calibri"/>
              </a:rPr>
              <a:t>VIEWERS BY MONTH</a:t>
            </a:r>
          </a:p>
        </p:txBody>
      </p:sp>
      <p:sp>
        <p:nvSpPr>
          <p:cNvPr id="10" name="TextBox 9"/>
          <p:cNvSpPr txBox="1"/>
          <p:nvPr/>
        </p:nvSpPr>
        <p:spPr>
          <a:xfrm>
            <a:off x="685800" y="2212848"/>
            <a:ext cx="5166360" cy="365760"/>
          </a:xfrm>
          <a:prstGeom prst="rect">
            <a:avLst/>
          </a:prstGeom>
          <a:noFill/>
        </p:spPr>
        <p:txBody>
          <a:bodyPr wrap="square" lIns="0" tIns="0" rIns="0" bIns="0" anchor="t">
            <a:spAutoFit/>
          </a:bodyPr>
          <a:lstStyle/>
          <a:p>
            <a:pPr algn="l"/>
            <a:r>
              <a:rPr sz="1400" b="1">
                <a:solidFill>
                  <a:srgbClr val="FFFFFF"/>
                </a:solidFill>
                <a:latin typeface="Georgia"/>
              </a:rPr>
              <a:t>March surge — 4,821 viewers</a:t>
            </a:r>
          </a:p>
        </p:txBody>
      </p:sp>
      <p:pic>
        <p:nvPicPr>
          <p:cNvPr id="11" name="Picture 10" descr="c32.png"/>
          <p:cNvPicPr>
            <a:picLocks noChangeAspect="1"/>
          </p:cNvPicPr>
          <p:nvPr/>
        </p:nvPicPr>
        <p:blipFill>
          <a:blip r:embed="rId2"/>
          <a:stretch>
            <a:fillRect/>
          </a:stretch>
        </p:blipFill>
        <p:spPr>
          <a:xfrm>
            <a:off x="685800" y="2697480"/>
            <a:ext cx="5166360" cy="3108960"/>
          </a:xfrm>
          <a:prstGeom prst="rect">
            <a:avLst/>
          </a:prstGeom>
        </p:spPr>
      </p:pic>
      <p:sp>
        <p:nvSpPr>
          <p:cNvPr id="12" name="Rectangle 11"/>
          <p:cNvSpPr/>
          <p:nvPr/>
        </p:nvSpPr>
        <p:spPr>
          <a:xfrm>
            <a:off x="6263640" y="1783080"/>
            <a:ext cx="5486400" cy="4160520"/>
          </a:xfrm>
          <a:prstGeom prst="rect">
            <a:avLst/>
          </a:prstGeom>
          <a:solidFill>
            <a:srgbClr val="1A21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492240" y="1920240"/>
            <a:ext cx="5029200" cy="274320"/>
          </a:xfrm>
          <a:prstGeom prst="rect">
            <a:avLst/>
          </a:prstGeom>
          <a:noFill/>
        </p:spPr>
        <p:txBody>
          <a:bodyPr wrap="square" lIns="0" tIns="0" rIns="0" bIns="0" anchor="t">
            <a:spAutoFit/>
          </a:bodyPr>
          <a:lstStyle/>
          <a:p>
            <a:pPr algn="l"/>
            <a:r>
              <a:rPr sz="1100" b="1">
                <a:solidFill>
                  <a:srgbClr val="F0A500"/>
                </a:solidFill>
                <a:latin typeface="Calibri"/>
              </a:rPr>
              <a:t>TOP 10 CHANNELS</a:t>
            </a:r>
          </a:p>
        </p:txBody>
      </p:sp>
      <p:sp>
        <p:nvSpPr>
          <p:cNvPr id="14" name="TextBox 13"/>
          <p:cNvSpPr txBox="1"/>
          <p:nvPr/>
        </p:nvSpPr>
        <p:spPr>
          <a:xfrm>
            <a:off x="6492240" y="2212848"/>
            <a:ext cx="5029200" cy="365760"/>
          </a:xfrm>
          <a:prstGeom prst="rect">
            <a:avLst/>
          </a:prstGeom>
          <a:noFill/>
        </p:spPr>
        <p:txBody>
          <a:bodyPr wrap="square" lIns="0" tIns="0" rIns="0" bIns="0" anchor="t">
            <a:spAutoFit/>
          </a:bodyPr>
          <a:lstStyle/>
          <a:p>
            <a:pPr algn="l"/>
            <a:r>
              <a:rPr sz="1400" b="1">
                <a:solidFill>
                  <a:srgbClr val="FFFFFF"/>
                </a:solidFill>
                <a:latin typeface="Georgia"/>
              </a:rPr>
              <a:t>Sport carries the platform</a:t>
            </a:r>
          </a:p>
        </p:txBody>
      </p:sp>
      <p:pic>
        <p:nvPicPr>
          <p:cNvPr id="15" name="Picture 14" descr="c36.png"/>
          <p:cNvPicPr>
            <a:picLocks noChangeAspect="1"/>
          </p:cNvPicPr>
          <p:nvPr/>
        </p:nvPicPr>
        <p:blipFill>
          <a:blip r:embed="rId3"/>
          <a:stretch>
            <a:fillRect/>
          </a:stretch>
        </p:blipFill>
        <p:spPr>
          <a:xfrm>
            <a:off x="6492240" y="2697480"/>
            <a:ext cx="5029200" cy="3108960"/>
          </a:xfrm>
          <a:prstGeom prst="rect">
            <a:avLst/>
          </a:prstGeom>
        </p:spPr>
      </p:pic>
      <p:sp>
        <p:nvSpPr>
          <p:cNvPr id="16" name="Rectangle 15"/>
          <p:cNvSpPr/>
          <p:nvPr/>
        </p:nvSpPr>
        <p:spPr>
          <a:xfrm>
            <a:off x="457200" y="6035040"/>
            <a:ext cx="2697480" cy="548640"/>
          </a:xfrm>
          <a:prstGeom prst="rect">
            <a:avLst/>
          </a:prstGeom>
          <a:solidFill>
            <a:srgbClr val="141B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457200" y="6035040"/>
            <a:ext cx="73152" cy="548640"/>
          </a:xfrm>
          <a:prstGeom prst="rect">
            <a:avLst/>
          </a:prstGeom>
          <a:solidFill>
            <a:srgbClr val="E91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40080" y="6062472"/>
            <a:ext cx="1463040" cy="292608"/>
          </a:xfrm>
          <a:prstGeom prst="rect">
            <a:avLst/>
          </a:prstGeom>
          <a:noFill/>
        </p:spPr>
        <p:txBody>
          <a:bodyPr wrap="square" lIns="0" tIns="0" rIns="0" bIns="0" anchor="t">
            <a:spAutoFit/>
          </a:bodyPr>
          <a:lstStyle/>
          <a:p>
            <a:pPr algn="l"/>
            <a:r>
              <a:rPr sz="1600" b="1">
                <a:solidFill>
                  <a:srgbClr val="E91E63"/>
                </a:solidFill>
                <a:latin typeface="Georgia"/>
              </a:rPr>
              <a:t>+62%</a:t>
            </a:r>
          </a:p>
        </p:txBody>
      </p:sp>
      <p:sp>
        <p:nvSpPr>
          <p:cNvPr id="19" name="TextBox 18"/>
          <p:cNvSpPr txBox="1"/>
          <p:nvPr/>
        </p:nvSpPr>
        <p:spPr>
          <a:xfrm>
            <a:off x="1828800" y="6062472"/>
            <a:ext cx="1234440" cy="502920"/>
          </a:xfrm>
          <a:prstGeom prst="rect">
            <a:avLst/>
          </a:prstGeom>
          <a:noFill/>
        </p:spPr>
        <p:txBody>
          <a:bodyPr wrap="square" lIns="0" tIns="0" rIns="0" bIns="0" anchor="ctr">
            <a:spAutoFit/>
          </a:bodyPr>
          <a:lstStyle/>
          <a:p>
            <a:pPr algn="l"/>
            <a:r>
              <a:rPr sz="900" b="0">
                <a:solidFill>
                  <a:srgbClr val="B8BED9"/>
                </a:solidFill>
                <a:latin typeface="Calibri"/>
              </a:rPr>
              <a:t>Jan→Mar viewer growth</a:t>
            </a:r>
          </a:p>
        </p:txBody>
      </p:sp>
      <p:sp>
        <p:nvSpPr>
          <p:cNvPr id="20" name="Rectangle 19"/>
          <p:cNvSpPr/>
          <p:nvPr/>
        </p:nvSpPr>
        <p:spPr>
          <a:xfrm>
            <a:off x="3273552" y="6035040"/>
            <a:ext cx="2697480" cy="548640"/>
          </a:xfrm>
          <a:prstGeom prst="rect">
            <a:avLst/>
          </a:prstGeom>
          <a:solidFill>
            <a:srgbClr val="141B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3273552" y="6035040"/>
            <a:ext cx="73152" cy="548640"/>
          </a:xfrm>
          <a:prstGeom prst="rect">
            <a:avLst/>
          </a:prstGeom>
          <a:solidFill>
            <a:srgbClr val="F0A5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3456432" y="6062472"/>
            <a:ext cx="1463040" cy="292608"/>
          </a:xfrm>
          <a:prstGeom prst="rect">
            <a:avLst/>
          </a:prstGeom>
          <a:noFill/>
        </p:spPr>
        <p:txBody>
          <a:bodyPr wrap="square" lIns="0" tIns="0" rIns="0" bIns="0" anchor="t">
            <a:spAutoFit/>
          </a:bodyPr>
          <a:lstStyle/>
          <a:p>
            <a:pPr algn="l"/>
            <a:r>
              <a:rPr sz="1600" b="1">
                <a:solidFill>
                  <a:srgbClr val="F0A500"/>
                </a:solidFill>
                <a:latin typeface="Georgia"/>
              </a:rPr>
              <a:t>1,650</a:t>
            </a:r>
          </a:p>
        </p:txBody>
      </p:sp>
      <p:sp>
        <p:nvSpPr>
          <p:cNvPr id="23" name="TextBox 22"/>
          <p:cNvSpPr txBox="1"/>
          <p:nvPr/>
        </p:nvSpPr>
        <p:spPr>
          <a:xfrm>
            <a:off x="4645152" y="6062472"/>
            <a:ext cx="1234440" cy="502920"/>
          </a:xfrm>
          <a:prstGeom prst="rect">
            <a:avLst/>
          </a:prstGeom>
          <a:noFill/>
        </p:spPr>
        <p:txBody>
          <a:bodyPr wrap="square" lIns="0" tIns="0" rIns="0" bIns="0" anchor="ctr">
            <a:spAutoFit/>
          </a:bodyPr>
          <a:lstStyle/>
          <a:p>
            <a:pPr algn="l"/>
            <a:r>
              <a:rPr sz="900" b="0">
                <a:solidFill>
                  <a:srgbClr val="B8BED9"/>
                </a:solidFill>
                <a:latin typeface="Calibri"/>
              </a:rPr>
              <a:t>SuperSport Live — #1 channel</a:t>
            </a:r>
          </a:p>
        </p:txBody>
      </p:sp>
      <p:sp>
        <p:nvSpPr>
          <p:cNvPr id="24" name="Rectangle 23"/>
          <p:cNvSpPr/>
          <p:nvPr/>
        </p:nvSpPr>
        <p:spPr>
          <a:xfrm>
            <a:off x="6089904" y="6035040"/>
            <a:ext cx="2697480" cy="548640"/>
          </a:xfrm>
          <a:prstGeom prst="rect">
            <a:avLst/>
          </a:prstGeom>
          <a:solidFill>
            <a:srgbClr val="141B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6089904" y="6035040"/>
            <a:ext cx="73152" cy="548640"/>
          </a:xfrm>
          <a:prstGeom prst="rect">
            <a:avLst/>
          </a:prstGeom>
          <a:solidFill>
            <a:srgbClr val="E91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272784" y="6062472"/>
            <a:ext cx="1463040" cy="292608"/>
          </a:xfrm>
          <a:prstGeom prst="rect">
            <a:avLst/>
          </a:prstGeom>
          <a:noFill/>
        </p:spPr>
        <p:txBody>
          <a:bodyPr wrap="square" lIns="0" tIns="0" rIns="0" bIns="0" anchor="t">
            <a:spAutoFit/>
          </a:bodyPr>
          <a:lstStyle/>
          <a:p>
            <a:pPr algn="l"/>
            <a:r>
              <a:rPr sz="1600" b="1">
                <a:solidFill>
                  <a:srgbClr val="E91E63"/>
                </a:solidFill>
                <a:latin typeface="Georgia"/>
              </a:rPr>
              <a:t>1,450</a:t>
            </a:r>
          </a:p>
        </p:txBody>
      </p:sp>
      <p:sp>
        <p:nvSpPr>
          <p:cNvPr id="27" name="TextBox 26"/>
          <p:cNvSpPr txBox="1"/>
          <p:nvPr/>
        </p:nvSpPr>
        <p:spPr>
          <a:xfrm>
            <a:off x="7461504" y="6062472"/>
            <a:ext cx="1234440" cy="502920"/>
          </a:xfrm>
          <a:prstGeom prst="rect">
            <a:avLst/>
          </a:prstGeom>
          <a:noFill/>
        </p:spPr>
        <p:txBody>
          <a:bodyPr wrap="square" lIns="0" tIns="0" rIns="0" bIns="0" anchor="ctr">
            <a:spAutoFit/>
          </a:bodyPr>
          <a:lstStyle/>
          <a:p>
            <a:pPr algn="l"/>
            <a:r>
              <a:rPr sz="900" b="0">
                <a:solidFill>
                  <a:srgbClr val="B8BED9"/>
                </a:solidFill>
                <a:latin typeface="Calibri"/>
              </a:rPr>
              <a:t>ICC Cricket World Cup — #2</a:t>
            </a:r>
          </a:p>
        </p:txBody>
      </p:sp>
      <p:sp>
        <p:nvSpPr>
          <p:cNvPr id="28" name="Rectangle 27"/>
          <p:cNvSpPr/>
          <p:nvPr/>
        </p:nvSpPr>
        <p:spPr>
          <a:xfrm>
            <a:off x="8906256" y="6035040"/>
            <a:ext cx="2697480" cy="548640"/>
          </a:xfrm>
          <a:prstGeom prst="rect">
            <a:avLst/>
          </a:prstGeom>
          <a:solidFill>
            <a:srgbClr val="141B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8906256" y="6035040"/>
            <a:ext cx="73152" cy="548640"/>
          </a:xfrm>
          <a:prstGeom prst="rect">
            <a:avLst/>
          </a:prstGeom>
          <a:solidFill>
            <a:srgbClr val="F0A5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9089136" y="6062472"/>
            <a:ext cx="1463040" cy="292608"/>
          </a:xfrm>
          <a:prstGeom prst="rect">
            <a:avLst/>
          </a:prstGeom>
          <a:noFill/>
        </p:spPr>
        <p:txBody>
          <a:bodyPr wrap="square" lIns="0" tIns="0" rIns="0" bIns="0" anchor="t">
            <a:spAutoFit/>
          </a:bodyPr>
          <a:lstStyle/>
          <a:p>
            <a:pPr algn="l"/>
            <a:r>
              <a:rPr sz="1600" b="1">
                <a:solidFill>
                  <a:srgbClr val="F0A500"/>
                </a:solidFill>
                <a:latin typeface="Georgia"/>
              </a:rPr>
              <a:t>370</a:t>
            </a:r>
          </a:p>
        </p:txBody>
      </p:sp>
      <p:sp>
        <p:nvSpPr>
          <p:cNvPr id="31" name="TextBox 30"/>
          <p:cNvSpPr txBox="1"/>
          <p:nvPr/>
        </p:nvSpPr>
        <p:spPr>
          <a:xfrm>
            <a:off x="10277856" y="6062472"/>
            <a:ext cx="1234440" cy="502920"/>
          </a:xfrm>
          <a:prstGeom prst="rect">
            <a:avLst/>
          </a:prstGeom>
          <a:noFill/>
        </p:spPr>
        <p:txBody>
          <a:bodyPr wrap="square" lIns="0" tIns="0" rIns="0" bIns="0" anchor="ctr">
            <a:spAutoFit/>
          </a:bodyPr>
          <a:lstStyle/>
          <a:p>
            <a:pPr algn="l"/>
            <a:r>
              <a:rPr sz="900" b="0">
                <a:solidFill>
                  <a:srgbClr val="B8BED9"/>
                </a:solidFill>
                <a:latin typeface="Calibri"/>
              </a:rPr>
              <a:t>E! Entertainment — bottom of top 10</a:t>
            </a:r>
          </a:p>
        </p:txBody>
      </p:sp>
      <p:sp>
        <p:nvSpPr>
          <p:cNvPr id="32" name="TextBox 31"/>
          <p:cNvSpPr txBox="1"/>
          <p:nvPr/>
        </p:nvSpPr>
        <p:spPr>
          <a:xfrm>
            <a:off x="457200" y="6656832"/>
            <a:ext cx="7315200" cy="182880"/>
          </a:xfrm>
          <a:prstGeom prst="rect">
            <a:avLst/>
          </a:prstGeom>
          <a:noFill/>
        </p:spPr>
        <p:txBody>
          <a:bodyPr wrap="square" lIns="0" tIns="0" rIns="0" bIns="0" anchor="t">
            <a:spAutoFit/>
          </a:bodyPr>
          <a:lstStyle/>
          <a:p>
            <a:pPr algn="l"/>
            <a:r>
              <a:rPr sz="900" b="0">
                <a:solidFill>
                  <a:srgbClr val="B8BED9"/>
                </a:solidFill>
                <a:latin typeface="Calibri"/>
              </a:rPr>
              <a:t>Ennove Analytics  ·  Innocent Mphahlele</a:t>
            </a: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9">
    <p:bg>
      <p:bgPr>
        <a:solidFill>
          <a:srgbClr val="0A0E27"/>
        </a:solidFill>
        <a:effectLst/>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E91E63"/>
          </a:solidFill>
          <a:ln w="12700">
            <a:solidFill>
              <a:srgbClr val="E91E63"/>
            </a:solidFill>
            <a:prstDash val="solid"/>
          </a:ln>
        </p:spPr>
      </p:sp>
      <p:sp>
        <p:nvSpPr>
          <p:cNvPr id="3" name="Text 1"/>
          <p:cNvSpPr/>
          <p:nvPr/>
        </p:nvSpPr>
        <p:spPr>
          <a:xfrm>
            <a:off x="457200" y="256032"/>
            <a:ext cx="7315200" cy="274320"/>
          </a:xfrm>
          <a:prstGeom prst="rect">
            <a:avLst/>
          </a:prstGeom>
          <a:noFill/>
          <a:ln/>
        </p:spPr>
        <p:txBody>
          <a:bodyPr wrap="square" rtlCol="0" anchor="ctr"/>
          <a:lstStyle/>
          <a:p>
            <a:pPr marL="0" indent="0">
              <a:buNone/>
            </a:pPr>
            <a:r>
              <a:rPr lang="en-US" sz="900" b="1" kern="0" spc="400" dirty="0">
                <a:solidFill>
                  <a:srgbClr val="8089B5"/>
                </a:solidFill>
                <a:latin typeface="Calibri" pitchFamily="34" charset="0"/>
                <a:ea typeface="Calibri" pitchFamily="34" charset="-122"/>
                <a:cs typeface="Calibri" pitchFamily="34" charset="-120"/>
              </a:rPr>
              <a:t>BRIGHT TV  ·  VIEWERSHIP PROJECT</a:t>
            </a:r>
            <a:endParaRPr lang="en-US" sz="900" dirty="0"/>
          </a:p>
        </p:txBody>
      </p:sp>
      <p:sp>
        <p:nvSpPr>
          <p:cNvPr id="4" name="Text 2"/>
          <p:cNvSpPr/>
          <p:nvPr/>
        </p:nvSpPr>
        <p:spPr>
          <a:xfrm>
            <a:off x="10515600" y="256032"/>
            <a:ext cx="1280160" cy="274320"/>
          </a:xfrm>
          <a:prstGeom prst="rect">
            <a:avLst/>
          </a:prstGeom>
          <a:noFill/>
          <a:ln/>
        </p:spPr>
        <p:txBody>
          <a:bodyPr wrap="square" rtlCol="0" anchor="ctr"/>
          <a:lstStyle/>
          <a:p>
            <a:pPr marL="0" indent="0" algn="r">
              <a:buNone/>
            </a:pPr>
            <a:r>
              <a:rPr lang="en-US" sz="900" kern="0" spc="200" dirty="0">
                <a:solidFill>
                  <a:srgbClr val="8089B5"/>
                </a:solidFill>
                <a:latin typeface="Calibri" pitchFamily="34" charset="0"/>
                <a:ea typeface="Calibri" pitchFamily="34" charset="-122"/>
                <a:cs typeface="Calibri" pitchFamily="34" charset="-120"/>
              </a:rPr>
              <a:t>09 / 09</a:t>
            </a:r>
            <a:endParaRPr lang="en-US" sz="900" dirty="0"/>
          </a:p>
        </p:txBody>
      </p:sp>
      <p:sp>
        <p:nvSpPr>
          <p:cNvPr id="5" name="Text 3"/>
          <p:cNvSpPr/>
          <p:nvPr/>
        </p:nvSpPr>
        <p:spPr>
          <a:xfrm>
            <a:off x="457200" y="6537960"/>
            <a:ext cx="7315200" cy="228600"/>
          </a:xfrm>
          <a:prstGeom prst="rect">
            <a:avLst/>
          </a:prstGeom>
          <a:noFill/>
          <a:ln/>
        </p:spPr>
        <p:txBody>
          <a:bodyPr wrap="square" rtlCol="0" anchor="ctr"/>
          <a:lstStyle/>
          <a:p>
            <a:pPr marL="0" indent="0">
              <a:buNone/>
            </a:pPr>
            <a:r>
              <a:rPr lang="en-US" sz="800" dirty="0">
                <a:solidFill>
                  <a:srgbClr val="8089B5"/>
                </a:solidFill>
                <a:latin typeface="Calibri" pitchFamily="34" charset="0"/>
                <a:ea typeface="Calibri" pitchFamily="34" charset="-122"/>
                <a:cs typeface="Calibri" pitchFamily="34" charset="-120"/>
              </a:rPr>
              <a:t>Ennove Analytics  ·  Innocent Mphahlele</a:t>
            </a:r>
            <a:endParaRPr lang="en-US" sz="800" dirty="0"/>
          </a:p>
        </p:txBody>
      </p:sp>
      <p:sp>
        <p:nvSpPr>
          <p:cNvPr id="6" name="Text 4"/>
          <p:cNvSpPr/>
          <p:nvPr/>
        </p:nvSpPr>
        <p:spPr>
          <a:xfrm>
            <a:off x="457200" y="594360"/>
            <a:ext cx="11247120" cy="640080"/>
          </a:xfrm>
          <a:prstGeom prst="rect">
            <a:avLst/>
          </a:prstGeom>
          <a:noFill/>
          <a:ln/>
        </p:spPr>
        <p:txBody>
          <a:bodyPr wrap="square" rtlCol="0" anchor="ctr"/>
          <a:lstStyle/>
          <a:p>
            <a:pPr marL="0" indent="0">
              <a:buNone/>
            </a:pPr>
            <a:r>
              <a:rPr lang="en-US" sz="3200" b="1" dirty="0">
                <a:solidFill>
                  <a:srgbClr val="FFFFFF"/>
                </a:solidFill>
                <a:latin typeface="Georgia" pitchFamily="34" charset="0"/>
                <a:ea typeface="Georgia" pitchFamily="34" charset="-122"/>
                <a:cs typeface="Georgia" pitchFamily="34" charset="-120"/>
              </a:rPr>
              <a:t>Recommendations &amp; Next Steps</a:t>
            </a:r>
            <a:endParaRPr lang="en-US" sz="3200" dirty="0"/>
          </a:p>
        </p:txBody>
      </p:sp>
      <p:sp>
        <p:nvSpPr>
          <p:cNvPr id="7" name="Text 5"/>
          <p:cNvSpPr/>
          <p:nvPr/>
        </p:nvSpPr>
        <p:spPr>
          <a:xfrm>
            <a:off x="457200" y="1188720"/>
            <a:ext cx="11247120" cy="320040"/>
          </a:xfrm>
          <a:prstGeom prst="rect">
            <a:avLst/>
          </a:prstGeom>
          <a:noFill/>
          <a:ln/>
        </p:spPr>
        <p:txBody>
          <a:bodyPr wrap="square" rtlCol="0" anchor="ctr"/>
          <a:lstStyle/>
          <a:p>
            <a:pPr marL="0" indent="0">
              <a:buNone/>
            </a:pPr>
            <a:r>
              <a:rPr lang="en-US" sz="1300" i="1" dirty="0">
                <a:solidFill>
                  <a:srgbClr val="8089B5"/>
                </a:solidFill>
                <a:latin typeface="Calibri" pitchFamily="34" charset="0"/>
                <a:ea typeface="Calibri" pitchFamily="34" charset="-122"/>
                <a:cs typeface="Calibri" pitchFamily="34" charset="-120"/>
              </a:rPr>
              <a:t>Six initiatives to grow Bright TV's subscriber base</a:t>
            </a:r>
            <a:endParaRPr lang="en-US" sz="1300" dirty="0"/>
          </a:p>
        </p:txBody>
      </p:sp>
      <p:sp>
        <p:nvSpPr>
          <p:cNvPr id="8" name="Shape 6"/>
          <p:cNvSpPr/>
          <p:nvPr/>
        </p:nvSpPr>
        <p:spPr>
          <a:xfrm>
            <a:off x="457200" y="1627632"/>
            <a:ext cx="109728" cy="109728"/>
          </a:xfrm>
          <a:prstGeom prst="ellipse">
            <a:avLst/>
          </a:prstGeom>
          <a:solidFill>
            <a:srgbClr val="E91E63"/>
          </a:solidFill>
          <a:ln w="12700">
            <a:solidFill>
              <a:srgbClr val="E91E63"/>
            </a:solidFill>
            <a:prstDash val="solid"/>
          </a:ln>
        </p:spPr>
      </p:sp>
      <p:sp>
        <p:nvSpPr>
          <p:cNvPr id="9" name="Shape 7"/>
          <p:cNvSpPr/>
          <p:nvPr/>
        </p:nvSpPr>
        <p:spPr>
          <a:xfrm>
            <a:off x="640080" y="1673352"/>
            <a:ext cx="548640" cy="18288"/>
          </a:xfrm>
          <a:prstGeom prst="rect">
            <a:avLst/>
          </a:prstGeom>
          <a:solidFill>
            <a:srgbClr val="E91E63"/>
          </a:solidFill>
          <a:ln w="12700">
            <a:solidFill>
              <a:srgbClr val="E91E63"/>
            </a:solidFill>
            <a:prstDash val="solid"/>
          </a:ln>
        </p:spPr>
      </p:sp>
      <p:sp>
        <p:nvSpPr>
          <p:cNvPr id="10" name="Shape 8"/>
          <p:cNvSpPr/>
          <p:nvPr/>
        </p:nvSpPr>
        <p:spPr>
          <a:xfrm>
            <a:off x="457200" y="2011680"/>
            <a:ext cx="3703320" cy="1691640"/>
          </a:xfrm>
          <a:prstGeom prst="roundRect">
            <a:avLst>
              <a:gd name="adj" fmla="val 4324"/>
            </a:avLst>
          </a:prstGeom>
          <a:solidFill>
            <a:srgbClr val="111738"/>
          </a:solidFill>
          <a:ln w="12700">
            <a:solidFill>
              <a:srgbClr val="2A3160"/>
            </a:solidFill>
            <a:prstDash val="solid"/>
          </a:ln>
        </p:spPr>
      </p:sp>
      <p:sp>
        <p:nvSpPr>
          <p:cNvPr id="11" name="Shape 9"/>
          <p:cNvSpPr/>
          <p:nvPr/>
        </p:nvSpPr>
        <p:spPr>
          <a:xfrm>
            <a:off x="640080" y="2194560"/>
            <a:ext cx="502920" cy="502920"/>
          </a:xfrm>
          <a:prstGeom prst="ellipse">
            <a:avLst/>
          </a:prstGeom>
          <a:solidFill>
            <a:srgbClr val="E91E63"/>
          </a:solidFill>
          <a:ln w="12700">
            <a:solidFill>
              <a:srgbClr val="E91E63"/>
            </a:solidFill>
            <a:prstDash val="solid"/>
          </a:ln>
        </p:spPr>
      </p:sp>
      <p:sp>
        <p:nvSpPr>
          <p:cNvPr id="12" name="Text 10"/>
          <p:cNvSpPr/>
          <p:nvPr/>
        </p:nvSpPr>
        <p:spPr>
          <a:xfrm>
            <a:off x="640080" y="2194560"/>
            <a:ext cx="502920" cy="502920"/>
          </a:xfrm>
          <a:prstGeom prst="rect">
            <a:avLst/>
          </a:prstGeom>
          <a:noFill/>
          <a:ln/>
        </p:spPr>
        <p:txBody>
          <a:bodyPr wrap="square" rtlCol="0" anchor="ctr"/>
          <a:lstStyle/>
          <a:p>
            <a:pPr marL="0" indent="0" algn="ctr">
              <a:buNone/>
            </a:pPr>
            <a:r>
              <a:rPr lang="en-US" sz="1800" b="1" dirty="0">
                <a:solidFill>
                  <a:srgbClr val="FFFFFF"/>
                </a:solidFill>
                <a:latin typeface="Georgia" pitchFamily="34" charset="0"/>
                <a:ea typeface="Georgia" pitchFamily="34" charset="-122"/>
                <a:cs typeface="Georgia" pitchFamily="34" charset="-120"/>
              </a:rPr>
              <a:t>1</a:t>
            </a:r>
            <a:endParaRPr lang="en-US" sz="1800" dirty="0"/>
          </a:p>
        </p:txBody>
      </p:sp>
      <p:sp>
        <p:nvSpPr>
          <p:cNvPr id="13" name="Text 11"/>
          <p:cNvSpPr/>
          <p:nvPr/>
        </p:nvSpPr>
        <p:spPr>
          <a:xfrm>
            <a:off x="1234440" y="2194560"/>
            <a:ext cx="2834640" cy="502920"/>
          </a:xfrm>
          <a:prstGeom prst="rect">
            <a:avLst/>
          </a:prstGeom>
          <a:noFill/>
          <a:ln/>
        </p:spPr>
        <p:txBody>
          <a:bodyPr wrap="square" rtlCol="0" anchor="ctr"/>
          <a:lstStyle/>
          <a:p>
            <a:pPr marL="0" indent="0">
              <a:buNone/>
            </a:pPr>
            <a:r>
              <a:rPr lang="en-US" sz="1400" b="1" dirty="0">
                <a:solidFill>
                  <a:srgbClr val="FFFFFF"/>
                </a:solidFill>
                <a:latin typeface="Georgia" pitchFamily="34" charset="0"/>
                <a:ea typeface="Georgia" pitchFamily="34" charset="-122"/>
                <a:cs typeface="Georgia" pitchFamily="34" charset="-120"/>
              </a:rPr>
              <a:t>Automate KPI tracking</a:t>
            </a:r>
            <a:endParaRPr lang="en-US" sz="1400" dirty="0"/>
          </a:p>
        </p:txBody>
      </p:sp>
      <p:sp>
        <p:nvSpPr>
          <p:cNvPr id="14" name="Text 12"/>
          <p:cNvSpPr/>
          <p:nvPr/>
        </p:nvSpPr>
        <p:spPr>
          <a:xfrm>
            <a:off x="640080" y="2788920"/>
            <a:ext cx="3383280" cy="868680"/>
          </a:xfrm>
          <a:prstGeom prst="rect">
            <a:avLst/>
          </a:prstGeom>
          <a:noFill/>
          <a:ln/>
        </p:spPr>
        <p:txBody>
          <a:bodyPr wrap="square" rtlCol="0" anchor="ctr"/>
          <a:lstStyle/>
          <a:p>
            <a:pPr marL="0" indent="0">
              <a:buNone/>
            </a:pPr>
            <a:r>
              <a:rPr lang="en-US" sz="1100" dirty="0">
                <a:solidFill>
                  <a:srgbClr val="8089B5"/>
                </a:solidFill>
                <a:latin typeface="Calibri" pitchFamily="34" charset="0"/>
                <a:ea typeface="Calibri" pitchFamily="34" charset="-122"/>
                <a:cs typeface="Calibri" pitchFamily="34" charset="-120"/>
              </a:rPr>
              <a:t>Continuously monitor viewer performance and behaviour in a live dashboard.</a:t>
            </a:r>
            <a:endParaRPr lang="en-US" sz="1100" dirty="0"/>
          </a:p>
        </p:txBody>
      </p:sp>
      <p:sp>
        <p:nvSpPr>
          <p:cNvPr id="15" name="Shape 13"/>
          <p:cNvSpPr/>
          <p:nvPr/>
        </p:nvSpPr>
        <p:spPr>
          <a:xfrm>
            <a:off x="4315968" y="2011680"/>
            <a:ext cx="3703320" cy="1691640"/>
          </a:xfrm>
          <a:prstGeom prst="roundRect">
            <a:avLst>
              <a:gd name="adj" fmla="val 4324"/>
            </a:avLst>
          </a:prstGeom>
          <a:solidFill>
            <a:srgbClr val="111738"/>
          </a:solidFill>
          <a:ln w="12700">
            <a:solidFill>
              <a:srgbClr val="2A3160"/>
            </a:solidFill>
            <a:prstDash val="solid"/>
          </a:ln>
        </p:spPr>
      </p:sp>
      <p:sp>
        <p:nvSpPr>
          <p:cNvPr id="16" name="Shape 14"/>
          <p:cNvSpPr/>
          <p:nvPr/>
        </p:nvSpPr>
        <p:spPr>
          <a:xfrm>
            <a:off x="4498848" y="2194560"/>
            <a:ext cx="502920" cy="502920"/>
          </a:xfrm>
          <a:prstGeom prst="ellipse">
            <a:avLst/>
          </a:prstGeom>
          <a:solidFill>
            <a:srgbClr val="E91E63"/>
          </a:solidFill>
          <a:ln w="12700">
            <a:solidFill>
              <a:srgbClr val="E91E63"/>
            </a:solidFill>
            <a:prstDash val="solid"/>
          </a:ln>
        </p:spPr>
      </p:sp>
      <p:sp>
        <p:nvSpPr>
          <p:cNvPr id="17" name="Text 15"/>
          <p:cNvSpPr/>
          <p:nvPr/>
        </p:nvSpPr>
        <p:spPr>
          <a:xfrm>
            <a:off x="4498848" y="2194560"/>
            <a:ext cx="502920" cy="502920"/>
          </a:xfrm>
          <a:prstGeom prst="rect">
            <a:avLst/>
          </a:prstGeom>
          <a:noFill/>
          <a:ln/>
        </p:spPr>
        <p:txBody>
          <a:bodyPr wrap="square" rtlCol="0" anchor="ctr"/>
          <a:lstStyle/>
          <a:p>
            <a:pPr marL="0" indent="0" algn="ctr">
              <a:buNone/>
            </a:pPr>
            <a:r>
              <a:rPr lang="en-US" sz="1800" b="1" dirty="0">
                <a:solidFill>
                  <a:srgbClr val="FFFFFF"/>
                </a:solidFill>
                <a:latin typeface="Georgia" pitchFamily="34" charset="0"/>
                <a:ea typeface="Georgia" pitchFamily="34" charset="-122"/>
                <a:cs typeface="Georgia" pitchFamily="34" charset="-120"/>
              </a:rPr>
              <a:t>2</a:t>
            </a:r>
            <a:endParaRPr lang="en-US" sz="1800" dirty="0"/>
          </a:p>
        </p:txBody>
      </p:sp>
      <p:sp>
        <p:nvSpPr>
          <p:cNvPr id="18" name="Text 16"/>
          <p:cNvSpPr/>
          <p:nvPr/>
        </p:nvSpPr>
        <p:spPr>
          <a:xfrm>
            <a:off x="5093208" y="2194560"/>
            <a:ext cx="2834640" cy="502920"/>
          </a:xfrm>
          <a:prstGeom prst="rect">
            <a:avLst/>
          </a:prstGeom>
          <a:noFill/>
          <a:ln/>
        </p:spPr>
        <p:txBody>
          <a:bodyPr wrap="square" rtlCol="0" anchor="ctr"/>
          <a:lstStyle/>
          <a:p>
            <a:pPr marL="0" indent="0">
              <a:buNone/>
            </a:pPr>
            <a:r>
              <a:rPr lang="en-US" sz="1400" b="1" dirty="0">
                <a:solidFill>
                  <a:srgbClr val="FFFFFF"/>
                </a:solidFill>
                <a:latin typeface="Georgia" pitchFamily="34" charset="0"/>
                <a:ea typeface="Georgia" pitchFamily="34" charset="-122"/>
                <a:cs typeface="Georgia" pitchFamily="34" charset="-120"/>
              </a:rPr>
              <a:t>Clean profile data</a:t>
            </a:r>
            <a:endParaRPr lang="en-US" sz="1400" dirty="0"/>
          </a:p>
        </p:txBody>
      </p:sp>
      <p:sp>
        <p:nvSpPr>
          <p:cNvPr id="19" name="Text 17"/>
          <p:cNvSpPr/>
          <p:nvPr/>
        </p:nvSpPr>
        <p:spPr>
          <a:xfrm>
            <a:off x="4498848" y="2788920"/>
            <a:ext cx="3383280" cy="868680"/>
          </a:xfrm>
          <a:prstGeom prst="rect">
            <a:avLst/>
          </a:prstGeom>
          <a:noFill/>
          <a:ln/>
        </p:spPr>
        <p:txBody>
          <a:bodyPr wrap="square" rtlCol="0" anchor="ctr"/>
          <a:lstStyle/>
          <a:p>
            <a:pPr marL="0" indent="0">
              <a:buNone/>
            </a:pPr>
            <a:r>
              <a:rPr lang="en-US" sz="1100" dirty="0">
                <a:solidFill>
                  <a:srgbClr val="8089B5"/>
                </a:solidFill>
                <a:latin typeface="Calibri" pitchFamily="34" charset="0"/>
                <a:ea typeface="Calibri" pitchFamily="34" charset="-122"/>
                <a:cs typeface="Calibri" pitchFamily="34" charset="-120"/>
              </a:rPr>
              <a:t>Send follow-up prompts to viewers with incomplete profiles to remove 'Unknown' segments.</a:t>
            </a:r>
            <a:endParaRPr lang="en-US" sz="1100" dirty="0"/>
          </a:p>
        </p:txBody>
      </p:sp>
      <p:sp>
        <p:nvSpPr>
          <p:cNvPr id="20" name="Shape 18"/>
          <p:cNvSpPr/>
          <p:nvPr/>
        </p:nvSpPr>
        <p:spPr>
          <a:xfrm>
            <a:off x="8174736" y="2011680"/>
            <a:ext cx="3703320" cy="1691640"/>
          </a:xfrm>
          <a:prstGeom prst="roundRect">
            <a:avLst>
              <a:gd name="adj" fmla="val 4324"/>
            </a:avLst>
          </a:prstGeom>
          <a:solidFill>
            <a:srgbClr val="111738"/>
          </a:solidFill>
          <a:ln w="12700">
            <a:solidFill>
              <a:srgbClr val="2A3160"/>
            </a:solidFill>
            <a:prstDash val="solid"/>
          </a:ln>
        </p:spPr>
      </p:sp>
      <p:sp>
        <p:nvSpPr>
          <p:cNvPr id="21" name="Shape 19"/>
          <p:cNvSpPr/>
          <p:nvPr/>
        </p:nvSpPr>
        <p:spPr>
          <a:xfrm>
            <a:off x="8357616" y="2194560"/>
            <a:ext cx="502920" cy="502920"/>
          </a:xfrm>
          <a:prstGeom prst="ellipse">
            <a:avLst/>
          </a:prstGeom>
          <a:solidFill>
            <a:srgbClr val="E91E63"/>
          </a:solidFill>
          <a:ln w="12700">
            <a:solidFill>
              <a:srgbClr val="E91E63"/>
            </a:solidFill>
            <a:prstDash val="solid"/>
          </a:ln>
        </p:spPr>
      </p:sp>
      <p:sp>
        <p:nvSpPr>
          <p:cNvPr id="22" name="Text 20"/>
          <p:cNvSpPr/>
          <p:nvPr/>
        </p:nvSpPr>
        <p:spPr>
          <a:xfrm>
            <a:off x="8357616" y="2194560"/>
            <a:ext cx="502920" cy="502920"/>
          </a:xfrm>
          <a:prstGeom prst="rect">
            <a:avLst/>
          </a:prstGeom>
          <a:noFill/>
          <a:ln/>
        </p:spPr>
        <p:txBody>
          <a:bodyPr wrap="square" rtlCol="0" anchor="ctr"/>
          <a:lstStyle/>
          <a:p>
            <a:pPr marL="0" indent="0" algn="ctr">
              <a:buNone/>
            </a:pPr>
            <a:r>
              <a:rPr lang="en-US" sz="1800" b="1" dirty="0">
                <a:solidFill>
                  <a:srgbClr val="FFFFFF"/>
                </a:solidFill>
                <a:latin typeface="Georgia" pitchFamily="34" charset="0"/>
                <a:ea typeface="Georgia" pitchFamily="34" charset="-122"/>
                <a:cs typeface="Georgia" pitchFamily="34" charset="-120"/>
              </a:rPr>
              <a:t>3</a:t>
            </a:r>
            <a:endParaRPr lang="en-US" sz="1800" dirty="0"/>
          </a:p>
        </p:txBody>
      </p:sp>
      <p:sp>
        <p:nvSpPr>
          <p:cNvPr id="23" name="Text 21"/>
          <p:cNvSpPr/>
          <p:nvPr/>
        </p:nvSpPr>
        <p:spPr>
          <a:xfrm>
            <a:off x="8951976" y="2194560"/>
            <a:ext cx="2834640" cy="502920"/>
          </a:xfrm>
          <a:prstGeom prst="rect">
            <a:avLst/>
          </a:prstGeom>
          <a:noFill/>
          <a:ln/>
        </p:spPr>
        <p:txBody>
          <a:bodyPr wrap="square" rtlCol="0" anchor="ctr"/>
          <a:lstStyle/>
          <a:p>
            <a:pPr marL="0" indent="0">
              <a:buNone/>
            </a:pPr>
            <a:r>
              <a:rPr lang="en-US" sz="1400" b="1" dirty="0">
                <a:solidFill>
                  <a:srgbClr val="FFFFFF"/>
                </a:solidFill>
                <a:latin typeface="Georgia" pitchFamily="34" charset="0"/>
                <a:ea typeface="Georgia" pitchFamily="34" charset="-122"/>
                <a:cs typeface="Georgia" pitchFamily="34" charset="-120"/>
              </a:rPr>
              <a:t>Investigate weak platforms</a:t>
            </a:r>
            <a:endParaRPr lang="en-US" sz="1400" dirty="0"/>
          </a:p>
        </p:txBody>
      </p:sp>
      <p:sp>
        <p:nvSpPr>
          <p:cNvPr id="24" name="Text 22"/>
          <p:cNvSpPr/>
          <p:nvPr/>
        </p:nvSpPr>
        <p:spPr>
          <a:xfrm>
            <a:off x="8357616" y="2788920"/>
            <a:ext cx="3383280" cy="868680"/>
          </a:xfrm>
          <a:prstGeom prst="rect">
            <a:avLst/>
          </a:prstGeom>
          <a:noFill/>
          <a:ln/>
        </p:spPr>
        <p:txBody>
          <a:bodyPr wrap="square" rtlCol="0" anchor="ctr"/>
          <a:lstStyle/>
          <a:p>
            <a:pPr marL="0" indent="0">
              <a:buNone/>
            </a:pPr>
            <a:r>
              <a:rPr lang="en-US" sz="1100" dirty="0">
                <a:solidFill>
                  <a:srgbClr val="8089B5"/>
                </a:solidFill>
                <a:latin typeface="Calibri" pitchFamily="34" charset="0"/>
                <a:ea typeface="Calibri" pitchFamily="34" charset="-122"/>
                <a:cs typeface="Calibri" pitchFamily="34" charset="-120"/>
              </a:rPr>
              <a:t>Add in-app feedback forms on under-performing channels to learn why.</a:t>
            </a:r>
            <a:endParaRPr lang="en-US" sz="1100" dirty="0"/>
          </a:p>
        </p:txBody>
      </p:sp>
      <p:sp>
        <p:nvSpPr>
          <p:cNvPr id="25" name="Shape 23"/>
          <p:cNvSpPr/>
          <p:nvPr/>
        </p:nvSpPr>
        <p:spPr>
          <a:xfrm>
            <a:off x="457200" y="3840480"/>
            <a:ext cx="3703320" cy="1691640"/>
          </a:xfrm>
          <a:prstGeom prst="roundRect">
            <a:avLst>
              <a:gd name="adj" fmla="val 4324"/>
            </a:avLst>
          </a:prstGeom>
          <a:solidFill>
            <a:srgbClr val="111738"/>
          </a:solidFill>
          <a:ln w="12700">
            <a:solidFill>
              <a:srgbClr val="2A3160"/>
            </a:solidFill>
            <a:prstDash val="solid"/>
          </a:ln>
        </p:spPr>
      </p:sp>
      <p:sp>
        <p:nvSpPr>
          <p:cNvPr id="26" name="Shape 24"/>
          <p:cNvSpPr/>
          <p:nvPr/>
        </p:nvSpPr>
        <p:spPr>
          <a:xfrm>
            <a:off x="640080" y="4023360"/>
            <a:ext cx="502920" cy="502920"/>
          </a:xfrm>
          <a:prstGeom prst="ellipse">
            <a:avLst/>
          </a:prstGeom>
          <a:solidFill>
            <a:srgbClr val="E91E63"/>
          </a:solidFill>
          <a:ln w="12700">
            <a:solidFill>
              <a:srgbClr val="E91E63"/>
            </a:solidFill>
            <a:prstDash val="solid"/>
          </a:ln>
        </p:spPr>
      </p:sp>
      <p:sp>
        <p:nvSpPr>
          <p:cNvPr id="27" name="Text 25"/>
          <p:cNvSpPr/>
          <p:nvPr/>
        </p:nvSpPr>
        <p:spPr>
          <a:xfrm>
            <a:off x="640080" y="4023360"/>
            <a:ext cx="502920" cy="502920"/>
          </a:xfrm>
          <a:prstGeom prst="rect">
            <a:avLst/>
          </a:prstGeom>
          <a:noFill/>
          <a:ln/>
        </p:spPr>
        <p:txBody>
          <a:bodyPr wrap="square" rtlCol="0" anchor="ctr"/>
          <a:lstStyle/>
          <a:p>
            <a:pPr marL="0" indent="0" algn="ctr">
              <a:buNone/>
            </a:pPr>
            <a:r>
              <a:rPr lang="en-US" sz="1800" b="1" dirty="0">
                <a:solidFill>
                  <a:srgbClr val="FFFFFF"/>
                </a:solidFill>
                <a:latin typeface="Georgia" pitchFamily="34" charset="0"/>
                <a:ea typeface="Georgia" pitchFamily="34" charset="-122"/>
                <a:cs typeface="Georgia" pitchFamily="34" charset="-120"/>
              </a:rPr>
              <a:t>4</a:t>
            </a:r>
            <a:endParaRPr lang="en-US" sz="1800" dirty="0"/>
          </a:p>
        </p:txBody>
      </p:sp>
      <p:sp>
        <p:nvSpPr>
          <p:cNvPr id="28" name="Text 26"/>
          <p:cNvSpPr/>
          <p:nvPr/>
        </p:nvSpPr>
        <p:spPr>
          <a:xfrm>
            <a:off x="1234440" y="4023360"/>
            <a:ext cx="2834640" cy="502920"/>
          </a:xfrm>
          <a:prstGeom prst="rect">
            <a:avLst/>
          </a:prstGeom>
          <a:noFill/>
          <a:ln/>
        </p:spPr>
        <p:txBody>
          <a:bodyPr wrap="square" rtlCol="0" anchor="ctr"/>
          <a:lstStyle/>
          <a:p>
            <a:pPr marL="0" indent="0">
              <a:buNone/>
            </a:pPr>
            <a:r>
              <a:rPr lang="en-US" sz="1400" b="1" dirty="0">
                <a:solidFill>
                  <a:srgbClr val="FFFFFF"/>
                </a:solidFill>
                <a:latin typeface="Georgia" pitchFamily="34" charset="0"/>
                <a:ea typeface="Georgia" pitchFamily="34" charset="-122"/>
                <a:cs typeface="Georgia" pitchFamily="34" charset="-120"/>
              </a:rPr>
              <a:t>Launch WhatsApp service</a:t>
            </a:r>
            <a:endParaRPr lang="en-US" sz="1400" dirty="0"/>
          </a:p>
        </p:txBody>
      </p:sp>
      <p:sp>
        <p:nvSpPr>
          <p:cNvPr id="29" name="Text 27"/>
          <p:cNvSpPr/>
          <p:nvPr/>
        </p:nvSpPr>
        <p:spPr>
          <a:xfrm>
            <a:off x="640080" y="4617720"/>
            <a:ext cx="3383280" cy="868680"/>
          </a:xfrm>
          <a:prstGeom prst="rect">
            <a:avLst/>
          </a:prstGeom>
          <a:noFill/>
          <a:ln/>
        </p:spPr>
        <p:txBody>
          <a:bodyPr wrap="square" rtlCol="0" anchor="ctr"/>
          <a:lstStyle/>
          <a:p>
            <a:pPr marL="0" indent="0">
              <a:buNone/>
            </a:pPr>
            <a:r>
              <a:rPr lang="en-US" sz="1100" dirty="0">
                <a:solidFill>
                  <a:srgbClr val="8089B5"/>
                </a:solidFill>
                <a:latin typeface="Calibri" pitchFamily="34" charset="0"/>
                <a:ea typeface="Calibri" pitchFamily="34" charset="-122"/>
                <a:cs typeface="Calibri" pitchFamily="34" charset="-120"/>
              </a:rPr>
              <a:t>Customer rating channel for service quality and content satisfaction.</a:t>
            </a:r>
            <a:endParaRPr lang="en-US" sz="1100" dirty="0"/>
          </a:p>
        </p:txBody>
      </p:sp>
      <p:sp>
        <p:nvSpPr>
          <p:cNvPr id="30" name="Shape 28"/>
          <p:cNvSpPr/>
          <p:nvPr/>
        </p:nvSpPr>
        <p:spPr>
          <a:xfrm>
            <a:off x="4315968" y="3840480"/>
            <a:ext cx="3703320" cy="1691640"/>
          </a:xfrm>
          <a:prstGeom prst="roundRect">
            <a:avLst>
              <a:gd name="adj" fmla="val 4324"/>
            </a:avLst>
          </a:prstGeom>
          <a:solidFill>
            <a:srgbClr val="111738"/>
          </a:solidFill>
          <a:ln w="12700">
            <a:solidFill>
              <a:srgbClr val="2A3160"/>
            </a:solidFill>
            <a:prstDash val="solid"/>
          </a:ln>
        </p:spPr>
      </p:sp>
      <p:sp>
        <p:nvSpPr>
          <p:cNvPr id="31" name="Shape 29"/>
          <p:cNvSpPr/>
          <p:nvPr/>
        </p:nvSpPr>
        <p:spPr>
          <a:xfrm>
            <a:off x="4498848" y="4023360"/>
            <a:ext cx="502920" cy="502920"/>
          </a:xfrm>
          <a:prstGeom prst="ellipse">
            <a:avLst/>
          </a:prstGeom>
          <a:solidFill>
            <a:srgbClr val="E91E63"/>
          </a:solidFill>
          <a:ln w="12700">
            <a:solidFill>
              <a:srgbClr val="E91E63"/>
            </a:solidFill>
            <a:prstDash val="solid"/>
          </a:ln>
        </p:spPr>
      </p:sp>
      <p:sp>
        <p:nvSpPr>
          <p:cNvPr id="32" name="Text 30"/>
          <p:cNvSpPr/>
          <p:nvPr/>
        </p:nvSpPr>
        <p:spPr>
          <a:xfrm>
            <a:off x="4498848" y="4023360"/>
            <a:ext cx="502920" cy="502920"/>
          </a:xfrm>
          <a:prstGeom prst="rect">
            <a:avLst/>
          </a:prstGeom>
          <a:noFill/>
          <a:ln/>
        </p:spPr>
        <p:txBody>
          <a:bodyPr wrap="square" rtlCol="0" anchor="ctr"/>
          <a:lstStyle/>
          <a:p>
            <a:pPr marL="0" indent="0" algn="ctr">
              <a:buNone/>
            </a:pPr>
            <a:r>
              <a:rPr lang="en-US" sz="1800" b="1" dirty="0">
                <a:solidFill>
                  <a:srgbClr val="FFFFFF"/>
                </a:solidFill>
                <a:latin typeface="Georgia" pitchFamily="34" charset="0"/>
                <a:ea typeface="Georgia" pitchFamily="34" charset="-122"/>
                <a:cs typeface="Georgia" pitchFamily="34" charset="-120"/>
              </a:rPr>
              <a:t>5</a:t>
            </a:r>
            <a:endParaRPr lang="en-US" sz="1800" dirty="0"/>
          </a:p>
        </p:txBody>
      </p:sp>
      <p:sp>
        <p:nvSpPr>
          <p:cNvPr id="33" name="Text 31"/>
          <p:cNvSpPr/>
          <p:nvPr/>
        </p:nvSpPr>
        <p:spPr>
          <a:xfrm>
            <a:off x="5093208" y="4023360"/>
            <a:ext cx="2834640" cy="502920"/>
          </a:xfrm>
          <a:prstGeom prst="rect">
            <a:avLst/>
          </a:prstGeom>
          <a:noFill/>
          <a:ln/>
        </p:spPr>
        <p:txBody>
          <a:bodyPr wrap="square" rtlCol="0" anchor="ctr"/>
          <a:lstStyle/>
          <a:p>
            <a:pPr marL="0" indent="0">
              <a:buNone/>
            </a:pPr>
            <a:r>
              <a:rPr lang="en-US" sz="1400" b="1" dirty="0">
                <a:solidFill>
                  <a:srgbClr val="FFFFFF"/>
                </a:solidFill>
                <a:latin typeface="Georgia" pitchFamily="34" charset="0"/>
                <a:ea typeface="Georgia" pitchFamily="34" charset="-122"/>
                <a:cs typeface="Georgia" pitchFamily="34" charset="-120"/>
              </a:rPr>
              <a:t>Targeted offers</a:t>
            </a:r>
            <a:endParaRPr lang="en-US" sz="1400" dirty="0"/>
          </a:p>
        </p:txBody>
      </p:sp>
      <p:sp>
        <p:nvSpPr>
          <p:cNvPr id="34" name="Text 32"/>
          <p:cNvSpPr/>
          <p:nvPr/>
        </p:nvSpPr>
        <p:spPr>
          <a:xfrm>
            <a:off x="4498848" y="4617720"/>
            <a:ext cx="3383280" cy="868680"/>
          </a:xfrm>
          <a:prstGeom prst="rect">
            <a:avLst/>
          </a:prstGeom>
          <a:noFill/>
          <a:ln/>
        </p:spPr>
        <p:txBody>
          <a:bodyPr wrap="square" rtlCol="0" anchor="ctr"/>
          <a:lstStyle/>
          <a:p>
            <a:pPr marL="0" indent="0">
              <a:buNone/>
            </a:pPr>
            <a:r>
              <a:rPr lang="en-US" sz="1100" dirty="0">
                <a:solidFill>
                  <a:srgbClr val="8089B5"/>
                </a:solidFill>
                <a:latin typeface="Calibri" pitchFamily="34" charset="0"/>
                <a:ea typeface="Calibri" pitchFamily="34" charset="-122"/>
                <a:cs typeface="Calibri" pitchFamily="34" charset="-120"/>
              </a:rPr>
              <a:t>Discounts or free preview windows for low-engagement subscribers.</a:t>
            </a:r>
            <a:endParaRPr lang="en-US" sz="1100" dirty="0"/>
          </a:p>
        </p:txBody>
      </p:sp>
      <p:sp>
        <p:nvSpPr>
          <p:cNvPr id="35" name="Shape 33"/>
          <p:cNvSpPr/>
          <p:nvPr/>
        </p:nvSpPr>
        <p:spPr>
          <a:xfrm>
            <a:off x="8174736" y="3840480"/>
            <a:ext cx="3703320" cy="1691640"/>
          </a:xfrm>
          <a:prstGeom prst="roundRect">
            <a:avLst>
              <a:gd name="adj" fmla="val 4324"/>
            </a:avLst>
          </a:prstGeom>
          <a:solidFill>
            <a:srgbClr val="111738"/>
          </a:solidFill>
          <a:ln w="12700">
            <a:solidFill>
              <a:srgbClr val="2A3160"/>
            </a:solidFill>
            <a:prstDash val="solid"/>
          </a:ln>
        </p:spPr>
      </p:sp>
      <p:sp>
        <p:nvSpPr>
          <p:cNvPr id="36" name="Shape 34"/>
          <p:cNvSpPr/>
          <p:nvPr/>
        </p:nvSpPr>
        <p:spPr>
          <a:xfrm>
            <a:off x="8357616" y="4023360"/>
            <a:ext cx="502920" cy="502920"/>
          </a:xfrm>
          <a:prstGeom prst="ellipse">
            <a:avLst/>
          </a:prstGeom>
          <a:solidFill>
            <a:srgbClr val="E91E63"/>
          </a:solidFill>
          <a:ln w="12700">
            <a:solidFill>
              <a:srgbClr val="E91E63"/>
            </a:solidFill>
            <a:prstDash val="solid"/>
          </a:ln>
        </p:spPr>
      </p:sp>
      <p:sp>
        <p:nvSpPr>
          <p:cNvPr id="37" name="Text 35"/>
          <p:cNvSpPr/>
          <p:nvPr/>
        </p:nvSpPr>
        <p:spPr>
          <a:xfrm>
            <a:off x="8357616" y="4023360"/>
            <a:ext cx="502920" cy="502920"/>
          </a:xfrm>
          <a:prstGeom prst="rect">
            <a:avLst/>
          </a:prstGeom>
          <a:noFill/>
          <a:ln/>
        </p:spPr>
        <p:txBody>
          <a:bodyPr wrap="square" rtlCol="0" anchor="ctr"/>
          <a:lstStyle/>
          <a:p>
            <a:pPr marL="0" indent="0" algn="ctr">
              <a:buNone/>
            </a:pPr>
            <a:r>
              <a:rPr lang="en-US" sz="1800" b="1" dirty="0">
                <a:solidFill>
                  <a:srgbClr val="FFFFFF"/>
                </a:solidFill>
                <a:latin typeface="Georgia" pitchFamily="34" charset="0"/>
                <a:ea typeface="Georgia" pitchFamily="34" charset="-122"/>
                <a:cs typeface="Georgia" pitchFamily="34" charset="-120"/>
              </a:rPr>
              <a:t>6</a:t>
            </a:r>
            <a:endParaRPr lang="en-US" sz="1800" dirty="0"/>
          </a:p>
        </p:txBody>
      </p:sp>
      <p:sp>
        <p:nvSpPr>
          <p:cNvPr id="38" name="Text 36"/>
          <p:cNvSpPr/>
          <p:nvPr/>
        </p:nvSpPr>
        <p:spPr>
          <a:xfrm>
            <a:off x="8951976" y="4023360"/>
            <a:ext cx="2834640" cy="502920"/>
          </a:xfrm>
          <a:prstGeom prst="rect">
            <a:avLst/>
          </a:prstGeom>
          <a:noFill/>
          <a:ln/>
        </p:spPr>
        <p:txBody>
          <a:bodyPr wrap="square" rtlCol="0" anchor="ctr"/>
          <a:lstStyle/>
          <a:p>
            <a:pPr marL="0" indent="0">
              <a:buNone/>
            </a:pPr>
            <a:r>
              <a:rPr lang="en-US" sz="1400" b="1" dirty="0">
                <a:solidFill>
                  <a:srgbClr val="FFFFFF"/>
                </a:solidFill>
                <a:latin typeface="Georgia" pitchFamily="34" charset="0"/>
                <a:ea typeface="Georgia" pitchFamily="34" charset="-122"/>
                <a:cs typeface="Georgia" pitchFamily="34" charset="-120"/>
              </a:rPr>
              <a:t>Schedule for off-peak</a:t>
            </a:r>
            <a:endParaRPr lang="en-US" sz="1400" dirty="0"/>
          </a:p>
        </p:txBody>
      </p:sp>
      <p:sp>
        <p:nvSpPr>
          <p:cNvPr id="39" name="Text 37"/>
          <p:cNvSpPr/>
          <p:nvPr/>
        </p:nvSpPr>
        <p:spPr>
          <a:xfrm>
            <a:off x="8357616" y="4617720"/>
            <a:ext cx="3383280" cy="868680"/>
          </a:xfrm>
          <a:prstGeom prst="rect">
            <a:avLst/>
          </a:prstGeom>
          <a:noFill/>
          <a:ln/>
        </p:spPr>
        <p:txBody>
          <a:bodyPr wrap="square" rtlCol="0" anchor="ctr"/>
          <a:lstStyle/>
          <a:p>
            <a:pPr marL="0" indent="0">
              <a:buNone/>
            </a:pPr>
            <a:r>
              <a:rPr lang="en-US" sz="1100" dirty="0">
                <a:solidFill>
                  <a:srgbClr val="8089B5"/>
                </a:solidFill>
                <a:latin typeface="Calibri" pitchFamily="34" charset="0"/>
                <a:ea typeface="Calibri" pitchFamily="34" charset="-122"/>
                <a:cs typeface="Calibri" pitchFamily="34" charset="-120"/>
              </a:rPr>
              <a:t>Programme stronger content into afternoons — the weakest viewing slot.</a:t>
            </a:r>
            <a:endParaRPr lang="en-US" sz="1100" dirty="0"/>
          </a:p>
        </p:txBody>
      </p:sp>
      <p:sp>
        <p:nvSpPr>
          <p:cNvPr id="40" name="Shape 38"/>
          <p:cNvSpPr/>
          <p:nvPr/>
        </p:nvSpPr>
        <p:spPr>
          <a:xfrm>
            <a:off x="457200" y="5806440"/>
            <a:ext cx="11247120" cy="640080"/>
          </a:xfrm>
          <a:prstGeom prst="roundRect">
            <a:avLst>
              <a:gd name="adj" fmla="val 8571"/>
            </a:avLst>
          </a:prstGeom>
          <a:solidFill>
            <a:srgbClr val="111738"/>
          </a:solidFill>
          <a:ln w="25400">
            <a:solidFill>
              <a:srgbClr val="E91E63"/>
            </a:solidFill>
            <a:prstDash val="solid"/>
          </a:ln>
        </p:spPr>
      </p:sp>
      <p:sp>
        <p:nvSpPr>
          <p:cNvPr id="41" name="Text 39"/>
          <p:cNvSpPr/>
          <p:nvPr/>
        </p:nvSpPr>
        <p:spPr>
          <a:xfrm>
            <a:off x="640080" y="5852160"/>
            <a:ext cx="7315200" cy="548640"/>
          </a:xfrm>
          <a:prstGeom prst="rect">
            <a:avLst/>
          </a:prstGeom>
          <a:noFill/>
          <a:ln/>
        </p:spPr>
        <p:txBody>
          <a:bodyPr wrap="square" rtlCol="0" anchor="ctr"/>
          <a:lstStyle/>
          <a:p>
            <a:pPr marL="0" indent="0">
              <a:buNone/>
            </a:pPr>
            <a:r>
              <a:rPr lang="en-US" sz="1800" b="1" i="1" dirty="0">
                <a:solidFill>
                  <a:srgbClr val="F0A500"/>
                </a:solidFill>
                <a:latin typeface="Georgia" pitchFamily="34" charset="0"/>
                <a:ea typeface="Georgia" pitchFamily="34" charset="-122"/>
                <a:cs typeface="Georgia" pitchFamily="34" charset="-120"/>
              </a:rPr>
              <a:t>Thank you  ·  Questions welcome</a:t>
            </a:r>
            <a:endParaRPr lang="en-US" sz="1800" dirty="0"/>
          </a:p>
        </p:txBody>
      </p:sp>
      <p:sp>
        <p:nvSpPr>
          <p:cNvPr id="42" name="Text 40"/>
          <p:cNvSpPr/>
          <p:nvPr/>
        </p:nvSpPr>
        <p:spPr>
          <a:xfrm>
            <a:off x="7315200" y="5852160"/>
            <a:ext cx="4297680" cy="548640"/>
          </a:xfrm>
          <a:prstGeom prst="rect">
            <a:avLst/>
          </a:prstGeom>
          <a:noFill/>
          <a:ln/>
        </p:spPr>
        <p:txBody>
          <a:bodyPr wrap="square" rtlCol="0" anchor="ctr"/>
          <a:lstStyle/>
          <a:p>
            <a:pPr marL="0" indent="0" algn="r">
              <a:buNone/>
            </a:pPr>
            <a:r>
              <a:rPr lang="en-US" sz="1200" dirty="0">
                <a:solidFill>
                  <a:srgbClr val="C8CDE8"/>
                </a:solidFill>
                <a:latin typeface="Calibri" pitchFamily="34" charset="0"/>
                <a:ea typeface="Calibri" pitchFamily="34" charset="-122"/>
                <a:cs typeface="Calibri" pitchFamily="34" charset="-120"/>
              </a:rPr>
              <a:t>Innocent Mphahlele  ·  Ennove Analytics</a:t>
            </a:r>
            <a:endParaRPr lang="en-US" sz="1200" dirty="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982</Words>
  <Application>Microsoft Office PowerPoint</Application>
  <PresentationFormat>Custom</PresentationFormat>
  <Paragraphs>229</Paragraphs>
  <Slides>12</Slides>
  <Notes>9</Notes>
  <HiddenSlides>0</HiddenSlides>
  <MMClips>0</MMClips>
  <ScaleCrop>false</ScaleCrop>
  <HeadingPairs>
    <vt:vector size="4" baseType="variant">
      <vt:variant>
        <vt:lpstr>Theme</vt:lpstr>
      </vt:variant>
      <vt:variant>
        <vt:i4>1</vt:i4>
      </vt:variant>
      <vt:variant>
        <vt:lpstr>Slide Titles</vt:lpstr>
      </vt:variant>
      <vt:variant>
        <vt:i4>12</vt:i4>
      </vt:variant>
    </vt:vector>
  </HeadingPairs>
  <TitlesOfParts>
    <vt:vector size="13"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Bright TV Viewership Project</dc:title>
  <dc:subject>PptxGenJS Presentation</dc:subject>
  <dc:creator>Innocent Mphahlele</dc:creator>
  <cp:lastModifiedBy>dkinno</cp:lastModifiedBy>
  <cp:revision>1</cp:revision>
  <dcterms:created xsi:type="dcterms:W3CDTF">2026-04-19T19:35:27Z</dcterms:created>
  <dcterms:modified xsi:type="dcterms:W3CDTF">2026-04-19T17:05:39Z</dcterms:modified>
</cp:coreProperties>
</file>