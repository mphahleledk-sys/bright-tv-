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8" r:id="rId7"/>
    <p:sldId id="276" r:id="rId8"/>
    <p:sldId id="272" r:id="rId9"/>
    <p:sldId id="271" r:id="rId10"/>
    <p:sldId id="273" r:id="rId11"/>
    <p:sldId id="277" r:id="rId12"/>
    <p:sldId id="278" r:id="rId13"/>
    <p:sldId id="279" r:id="rId14"/>
    <p:sldId id="274" r:id="rId15"/>
  </p:sldIdLst>
  <p:sldSz cx="18288000" cy="10287000"/>
  <p:notesSz cx="6858000" cy="9144000"/>
  <p:embeddedFontLst>
    <p:embeddedFont>
      <p:font typeface="TT Firs Neue Bold" charset="0"/>
      <p:regular r:id="rId17"/>
    </p:embeddedFont>
    <p:embeddedFont>
      <p:font typeface="Poppins Italics" charset="0"/>
      <p:regular r:id="rId18"/>
    </p:embeddedFont>
    <p:embeddedFont>
      <p:font typeface="TT Firs Neue" charset="0"/>
      <p:regular r:id="rId19"/>
    </p:embeddedFont>
    <p:embeddedFont>
      <p:font typeface="Calibri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9" d="100"/>
          <a:sy n="49" d="100"/>
        </p:scale>
        <p:origin x="-56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BBCBE-288D-413F-B143-96A9F9255AB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6D809-C336-4EF3-A2B3-98E25B576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9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6D809-C336-4EF3-A2B3-98E25B5768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3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svg"/><Relationship Id="rId18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8.svg"/><Relationship Id="rId2" Type="http://schemas.openxmlformats.org/officeDocument/2006/relationships/image" Target="../media/image9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microsoft.com/office/2007/relationships/hdphoto" Target="../media/hdphoto1.wdp"/><Relationship Id="rId9" Type="http://schemas.openxmlformats.org/officeDocument/2006/relationships/image" Target="../media/image22.sv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6.svg"/><Relationship Id="rId7" Type="http://schemas.openxmlformats.org/officeDocument/2006/relationships/image" Target="../media/image10.sv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0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1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20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18" Type="http://schemas.openxmlformats.org/officeDocument/2006/relationships/image" Target="../media/image23.png"/><Relationship Id="rId3" Type="http://schemas.openxmlformats.org/officeDocument/2006/relationships/image" Target="../media/image14.pn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21.png"/><Relationship Id="rId10" Type="http://schemas.openxmlformats.org/officeDocument/2006/relationships/image" Target="../media/image24.svg"/><Relationship Id="rId19" Type="http://schemas.openxmlformats.org/officeDocument/2006/relationships/image" Target="../media/image24.pn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27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28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32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34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37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24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50752" y="8516541"/>
            <a:ext cx="476894" cy="476894"/>
          </a:xfrm>
          <a:custGeom>
            <a:avLst/>
            <a:gdLst/>
            <a:ahLst/>
            <a:cxnLst/>
            <a:rect l="l" t="t" r="r" b="b"/>
            <a:pathLst>
              <a:path w="476894" h="476894">
                <a:moveTo>
                  <a:pt x="0" y="0"/>
                </a:moveTo>
                <a:lnTo>
                  <a:pt x="476894" y="0"/>
                </a:lnTo>
                <a:lnTo>
                  <a:pt x="476894" y="476894"/>
                </a:lnTo>
                <a:lnTo>
                  <a:pt x="0" y="47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74175" y="2973769"/>
            <a:ext cx="14339651" cy="3668893"/>
            <a:chOff x="0" y="0"/>
            <a:chExt cx="3776698" cy="9662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6698" cy="966293"/>
            </a:xfrm>
            <a:custGeom>
              <a:avLst/>
              <a:gdLst/>
              <a:ahLst/>
              <a:cxnLst/>
              <a:rect l="l" t="t" r="r" b="b"/>
              <a:pathLst>
                <a:path w="3776698" h="966293">
                  <a:moveTo>
                    <a:pt x="27535" y="0"/>
                  </a:moveTo>
                  <a:lnTo>
                    <a:pt x="3749163" y="0"/>
                  </a:lnTo>
                  <a:cubicBezTo>
                    <a:pt x="3756466" y="0"/>
                    <a:pt x="3763470" y="2901"/>
                    <a:pt x="3768634" y="8065"/>
                  </a:cubicBezTo>
                  <a:cubicBezTo>
                    <a:pt x="3773797" y="13228"/>
                    <a:pt x="3776698" y="20232"/>
                    <a:pt x="3776698" y="27535"/>
                  </a:cubicBezTo>
                  <a:lnTo>
                    <a:pt x="3776698" y="938758"/>
                  </a:lnTo>
                  <a:cubicBezTo>
                    <a:pt x="3776698" y="946061"/>
                    <a:pt x="3773797" y="953064"/>
                    <a:pt x="3768634" y="958228"/>
                  </a:cubicBezTo>
                  <a:cubicBezTo>
                    <a:pt x="3763470" y="963392"/>
                    <a:pt x="3756466" y="966293"/>
                    <a:pt x="3749163" y="966293"/>
                  </a:cubicBezTo>
                  <a:lnTo>
                    <a:pt x="27535" y="966293"/>
                  </a:lnTo>
                  <a:cubicBezTo>
                    <a:pt x="20232" y="966293"/>
                    <a:pt x="13228" y="963392"/>
                    <a:pt x="8065" y="958228"/>
                  </a:cubicBezTo>
                  <a:cubicBezTo>
                    <a:pt x="2901" y="953064"/>
                    <a:pt x="0" y="946061"/>
                    <a:pt x="0" y="938758"/>
                  </a:cubicBezTo>
                  <a:lnTo>
                    <a:pt x="0" y="27535"/>
                  </a:lnTo>
                  <a:cubicBezTo>
                    <a:pt x="0" y="20232"/>
                    <a:pt x="2901" y="13228"/>
                    <a:pt x="8065" y="8065"/>
                  </a:cubicBezTo>
                  <a:cubicBezTo>
                    <a:pt x="13228" y="2901"/>
                    <a:pt x="20232" y="0"/>
                    <a:pt x="27535" y="0"/>
                  </a:cubicBezTo>
                  <a:close/>
                </a:path>
              </a:pathLst>
            </a:custGeom>
            <a:solidFill>
              <a:srgbClr val="0B103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76698" cy="1013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827646" y="5608951"/>
            <a:ext cx="3445933" cy="0"/>
          </a:xfrm>
          <a:prstGeom prst="line">
            <a:avLst/>
          </a:prstGeom>
          <a:ln w="38100" cap="flat">
            <a:solidFill>
              <a:srgbClr val="853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5644508" y="1128060"/>
            <a:ext cx="669318" cy="159419"/>
          </a:xfrm>
          <a:custGeom>
            <a:avLst/>
            <a:gdLst/>
            <a:ahLst/>
            <a:cxnLst/>
            <a:rect l="l" t="t" r="r" b="b"/>
            <a:pathLst>
              <a:path w="669318" h="159419">
                <a:moveTo>
                  <a:pt x="0" y="0"/>
                </a:moveTo>
                <a:lnTo>
                  <a:pt x="669317" y="0"/>
                </a:lnTo>
                <a:lnTo>
                  <a:pt x="669317" y="159420"/>
                </a:lnTo>
                <a:lnTo>
                  <a:pt x="0" y="159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82997" y="6921781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3"/>
                </a:lnTo>
                <a:lnTo>
                  <a:pt x="0" y="887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96504" y="2360628"/>
            <a:ext cx="1769627" cy="1780202"/>
          </a:xfrm>
          <a:custGeom>
            <a:avLst/>
            <a:gdLst/>
            <a:ahLst/>
            <a:cxnLst/>
            <a:rect l="l" t="t" r="r" b="b"/>
            <a:pathLst>
              <a:path w="1769627" h="1780202">
                <a:moveTo>
                  <a:pt x="0" y="0"/>
                </a:moveTo>
                <a:lnTo>
                  <a:pt x="1769626" y="0"/>
                </a:lnTo>
                <a:lnTo>
                  <a:pt x="1769626" y="1780203"/>
                </a:lnTo>
                <a:lnTo>
                  <a:pt x="0" y="1780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518472" y="309879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01912" y="8993435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3"/>
                </a:lnTo>
                <a:lnTo>
                  <a:pt x="0" y="504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393813" y="1725551"/>
            <a:ext cx="3216199" cy="955045"/>
          </a:xfrm>
          <a:custGeom>
            <a:avLst/>
            <a:gdLst/>
            <a:ahLst/>
            <a:cxnLst/>
            <a:rect l="l" t="t" r="r" b="b"/>
            <a:pathLst>
              <a:path w="3216199" h="955045">
                <a:moveTo>
                  <a:pt x="0" y="0"/>
                </a:moveTo>
                <a:lnTo>
                  <a:pt x="3216199" y="0"/>
                </a:lnTo>
                <a:lnTo>
                  <a:pt x="3216199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2694650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387011" y="6642662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39517" y="981075"/>
            <a:ext cx="4361213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 smtClean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Ennove Analytics.co </a:t>
            </a:r>
            <a:endParaRPr lang="en-US" sz="2400" b="1" dirty="0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861607" y="8516541"/>
            <a:ext cx="2195335" cy="3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72022" y="8480532"/>
            <a:ext cx="317322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 smtClean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Innocent </a:t>
            </a:r>
            <a:r>
              <a:rPr lang="en-US" sz="2000" b="1" dirty="0" err="1" smtClean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Mphahlele</a:t>
            </a:r>
            <a:endParaRPr lang="en-US" sz="2000" b="1" dirty="0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829432" y="4255131"/>
            <a:ext cx="12951885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 dirty="0" smtClean="0">
                <a:solidFill>
                  <a:srgbClr val="C4F331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Bright TV Viewership</a:t>
            </a:r>
            <a:r>
              <a:rPr lang="en-US" sz="6800" spc="-374" dirty="0">
                <a:solidFill>
                  <a:srgbClr val="C4F331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</a:t>
            </a:r>
            <a:r>
              <a:rPr lang="en-US" sz="6800" spc="-374" dirty="0" smtClean="0">
                <a:solidFill>
                  <a:srgbClr val="C4F331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Project</a:t>
            </a:r>
            <a:endParaRPr lang="en-US" sz="6800" spc="-374" dirty="0">
              <a:solidFill>
                <a:srgbClr val="C4F331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29432" y="3618997"/>
            <a:ext cx="436121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Entertainment Presentation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87799" y="8550952"/>
            <a:ext cx="560548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dirty="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Exploring Entertainment, </a:t>
            </a:r>
            <a:r>
              <a:rPr lang="en-US" sz="2000" i="1" dirty="0" smtClean="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Insights </a:t>
            </a:r>
            <a:r>
              <a:rPr lang="en-US" sz="2000" i="1" dirty="0" smtClean="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Experience</a:t>
            </a:r>
            <a:endParaRPr lang="en-US" sz="2000" i="1" dirty="0">
              <a:solidFill>
                <a:srgbClr val="FFFFFF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318307" y="8109322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3"/>
                </a:lnTo>
                <a:lnTo>
                  <a:pt x="0" y="504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39517" y="2748834"/>
            <a:ext cx="5107778" cy="77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4000" spc="-374" dirty="0" smtClean="0">
                <a:solidFill>
                  <a:srgbClr val="C4F331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Content</a:t>
            </a:r>
            <a:endParaRPr lang="en-US" sz="4000" spc="-374" dirty="0">
              <a:solidFill>
                <a:srgbClr val="C4F331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83587" y="3937001"/>
            <a:ext cx="5237767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1 Introduction </a:t>
            </a:r>
          </a:p>
          <a:p>
            <a:r>
              <a:rPr lang="en-US" sz="2800" dirty="0">
                <a:solidFill>
                  <a:schemeClr val="bg1"/>
                </a:solidFill>
              </a:rPr>
              <a:t>2.Objectives </a:t>
            </a:r>
          </a:p>
          <a:p>
            <a:r>
              <a:rPr lang="en-US" sz="2800" dirty="0">
                <a:solidFill>
                  <a:schemeClr val="bg1"/>
                </a:solidFill>
              </a:rPr>
              <a:t>3. Project  Planning &amp; Architecture</a:t>
            </a:r>
          </a:p>
          <a:p>
            <a:r>
              <a:rPr lang="en-US" sz="2800" dirty="0">
                <a:solidFill>
                  <a:schemeClr val="bg1"/>
                </a:solidFill>
              </a:rPr>
              <a:t>4. Key Insights &amp;.Outlining of calculations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5.Data </a:t>
            </a:r>
            <a:r>
              <a:rPr lang="en-US" sz="2800" dirty="0" smtClean="0">
                <a:solidFill>
                  <a:schemeClr val="bg1"/>
                </a:solidFill>
              </a:rPr>
              <a:t>Processing  </a:t>
            </a:r>
            <a:r>
              <a:rPr lang="en-US" sz="2800" dirty="0">
                <a:solidFill>
                  <a:schemeClr val="bg1"/>
                </a:solidFill>
              </a:rPr>
              <a:t>in </a:t>
            </a:r>
            <a:r>
              <a:rPr lang="en-US" sz="2800" dirty="0" err="1">
                <a:solidFill>
                  <a:schemeClr val="bg1"/>
                </a:solidFill>
              </a:rPr>
              <a:t>Databricks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6.Data Analysis  in excel</a:t>
            </a:r>
          </a:p>
          <a:p>
            <a:r>
              <a:rPr lang="en-US" sz="2800" dirty="0">
                <a:solidFill>
                  <a:schemeClr val="bg1"/>
                </a:solidFill>
              </a:rPr>
              <a:t>7.Presentation to CEO</a:t>
            </a:r>
          </a:p>
          <a:p>
            <a:r>
              <a:rPr lang="en-US" sz="2800" dirty="0">
                <a:solidFill>
                  <a:schemeClr val="bg1"/>
                </a:solidFill>
              </a:rPr>
              <a:t>8.Recommendations  &amp; next steps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0289" y="1565372"/>
            <a:ext cx="4361213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 smtClean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Ennove Analytics.co</a:t>
            </a:r>
            <a:endParaRPr lang="en-US" sz="2400" b="1" dirty="0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7021354" y="19009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53314" y="8821196"/>
            <a:ext cx="1855713" cy="665703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2" y="0"/>
                </a:lnTo>
                <a:lnTo>
                  <a:pt x="1855712" y="955046"/>
                </a:lnTo>
                <a:lnTo>
                  <a:pt x="0" y="9550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l="-7331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0685" y="2403010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4" y="0"/>
                </a:lnTo>
                <a:lnTo>
                  <a:pt x="1510214" y="897891"/>
                </a:lnTo>
                <a:lnTo>
                  <a:pt x="0" y="8978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047294" y="1844772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02051" y="774528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9"/>
          <p:cNvSpPr/>
          <p:nvPr/>
        </p:nvSpPr>
        <p:spPr>
          <a:xfrm>
            <a:off x="14896504" y="2360628"/>
            <a:ext cx="1769627" cy="1780202"/>
          </a:xfrm>
          <a:custGeom>
            <a:avLst/>
            <a:gdLst/>
            <a:ahLst/>
            <a:cxnLst/>
            <a:rect l="l" t="t" r="r" b="b"/>
            <a:pathLst>
              <a:path w="1769627" h="1780202">
                <a:moveTo>
                  <a:pt x="0" y="0"/>
                </a:moveTo>
                <a:lnTo>
                  <a:pt x="1769626" y="0"/>
                </a:lnTo>
                <a:lnTo>
                  <a:pt x="1769626" y="1780203"/>
                </a:lnTo>
                <a:lnTo>
                  <a:pt x="0" y="17802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pic>
        <p:nvPicPr>
          <p:cNvPr id="1027" name="Picture 3" descr="C:\Users\dkinno\Desktop\bright learn resourses\BRIGHT TV\yy.jpg"/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4507377"/>
            <a:ext cx="3086696" cy="279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543764" y="3216443"/>
            <a:ext cx="6412555" cy="2352318"/>
            <a:chOff x="0" y="0"/>
            <a:chExt cx="1688903" cy="6195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4" cy="619541"/>
            </a:xfrm>
            <a:custGeom>
              <a:avLst/>
              <a:gdLst/>
              <a:ahLst/>
              <a:cxnLst/>
              <a:rect l="l" t="t" r="r" b="b"/>
              <a:pathLst>
                <a:path w="1688904" h="619541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557968"/>
                  </a:lnTo>
                  <a:cubicBezTo>
                    <a:pt x="1688904" y="574298"/>
                    <a:pt x="1682416" y="589959"/>
                    <a:pt x="1670869" y="601506"/>
                  </a:cubicBezTo>
                  <a:cubicBezTo>
                    <a:pt x="1659322" y="613054"/>
                    <a:pt x="1643661" y="619541"/>
                    <a:pt x="1627331" y="619541"/>
                  </a:cubicBezTo>
                  <a:lnTo>
                    <a:pt x="61573" y="619541"/>
                  </a:lnTo>
                  <a:cubicBezTo>
                    <a:pt x="27567" y="619541"/>
                    <a:pt x="0" y="591974"/>
                    <a:pt x="0" y="557968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0B103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8903" cy="66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75096" y="3216443"/>
            <a:ext cx="6412555" cy="2352318"/>
            <a:chOff x="0" y="0"/>
            <a:chExt cx="1688903" cy="6195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8904" cy="619541"/>
            </a:xfrm>
            <a:custGeom>
              <a:avLst/>
              <a:gdLst/>
              <a:ahLst/>
              <a:cxnLst/>
              <a:rect l="l" t="t" r="r" b="b"/>
              <a:pathLst>
                <a:path w="1688904" h="619541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557968"/>
                  </a:lnTo>
                  <a:cubicBezTo>
                    <a:pt x="1688904" y="574298"/>
                    <a:pt x="1682416" y="589959"/>
                    <a:pt x="1670869" y="601506"/>
                  </a:cubicBezTo>
                  <a:cubicBezTo>
                    <a:pt x="1659322" y="613054"/>
                    <a:pt x="1643661" y="619541"/>
                    <a:pt x="1627331" y="619541"/>
                  </a:cubicBezTo>
                  <a:lnTo>
                    <a:pt x="61573" y="619541"/>
                  </a:lnTo>
                  <a:cubicBezTo>
                    <a:pt x="27567" y="619541"/>
                    <a:pt x="0" y="591974"/>
                    <a:pt x="0" y="557968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0B103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88903" cy="66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81053" y="5829300"/>
            <a:ext cx="8696547" cy="2895600"/>
            <a:chOff x="0" y="0"/>
            <a:chExt cx="1688903" cy="6195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8904" cy="619541"/>
            </a:xfrm>
            <a:custGeom>
              <a:avLst/>
              <a:gdLst/>
              <a:ahLst/>
              <a:cxnLst/>
              <a:rect l="l" t="t" r="r" b="b"/>
              <a:pathLst>
                <a:path w="1688904" h="619541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557968"/>
                  </a:lnTo>
                  <a:cubicBezTo>
                    <a:pt x="1688904" y="574298"/>
                    <a:pt x="1682416" y="589959"/>
                    <a:pt x="1670869" y="601506"/>
                  </a:cubicBezTo>
                  <a:cubicBezTo>
                    <a:pt x="1659322" y="613054"/>
                    <a:pt x="1643661" y="619541"/>
                    <a:pt x="1627331" y="619541"/>
                  </a:cubicBezTo>
                  <a:lnTo>
                    <a:pt x="61573" y="619541"/>
                  </a:lnTo>
                  <a:cubicBezTo>
                    <a:pt x="27567" y="619541"/>
                    <a:pt x="0" y="591974"/>
                    <a:pt x="0" y="557968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0B103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88903" cy="66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98893" y="3368390"/>
            <a:ext cx="446172" cy="44617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6396" y="87561"/>
                  </a:lnTo>
                  <a:lnTo>
                    <a:pt x="553838" y="27679"/>
                  </a:lnTo>
                  <a:lnTo>
                    <a:pt x="578287" y="131093"/>
                  </a:lnTo>
                  <a:lnTo>
                    <a:pt x="681363" y="106978"/>
                  </a:lnTo>
                  <a:lnTo>
                    <a:pt x="666963" y="212279"/>
                  </a:lnTo>
                  <a:lnTo>
                    <a:pt x="771752" y="227186"/>
                  </a:lnTo>
                  <a:lnTo>
                    <a:pt x="720448" y="320152"/>
                  </a:lnTo>
                  <a:lnTo>
                    <a:pt x="812800" y="372069"/>
                  </a:lnTo>
                  <a:lnTo>
                    <a:pt x="731520" y="440145"/>
                  </a:lnTo>
                  <a:lnTo>
                    <a:pt x="798961" y="522061"/>
                  </a:lnTo>
                  <a:lnTo>
                    <a:pt x="698682" y="556053"/>
                  </a:lnTo>
                  <a:lnTo>
                    <a:pt x="732104" y="656904"/>
                  </a:lnTo>
                  <a:lnTo>
                    <a:pt x="626370" y="652219"/>
                  </a:lnTo>
                  <a:lnTo>
                    <a:pt x="621259" y="758384"/>
                  </a:lnTo>
                  <a:lnTo>
                    <a:pt x="524350" y="715658"/>
                  </a:lnTo>
                  <a:lnTo>
                    <a:pt x="481396" y="812800"/>
                  </a:lnTo>
                  <a:lnTo>
                    <a:pt x="406400" y="737801"/>
                  </a:lnTo>
                  <a:lnTo>
                    <a:pt x="331404" y="812800"/>
                  </a:lnTo>
                  <a:lnTo>
                    <a:pt x="288450" y="715658"/>
                  </a:lnTo>
                  <a:lnTo>
                    <a:pt x="191541" y="758384"/>
                  </a:lnTo>
                  <a:lnTo>
                    <a:pt x="186430" y="652219"/>
                  </a:lnTo>
                  <a:lnTo>
                    <a:pt x="80696" y="656904"/>
                  </a:lnTo>
                  <a:lnTo>
                    <a:pt x="114118" y="556053"/>
                  </a:lnTo>
                  <a:lnTo>
                    <a:pt x="13839" y="522061"/>
                  </a:lnTo>
                  <a:lnTo>
                    <a:pt x="81280" y="440145"/>
                  </a:lnTo>
                  <a:lnTo>
                    <a:pt x="0" y="372069"/>
                  </a:lnTo>
                  <a:lnTo>
                    <a:pt x="92352" y="320152"/>
                  </a:lnTo>
                  <a:lnTo>
                    <a:pt x="41047" y="227186"/>
                  </a:lnTo>
                  <a:lnTo>
                    <a:pt x="145837" y="212279"/>
                  </a:lnTo>
                  <a:lnTo>
                    <a:pt x="131437" y="106978"/>
                  </a:lnTo>
                  <a:lnTo>
                    <a:pt x="234513" y="131093"/>
                  </a:lnTo>
                  <a:lnTo>
                    <a:pt x="258962" y="27679"/>
                  </a:lnTo>
                  <a:lnTo>
                    <a:pt x="346404" y="875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53C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1320" y="5829300"/>
            <a:ext cx="446172" cy="44617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6396" y="87561"/>
                  </a:lnTo>
                  <a:lnTo>
                    <a:pt x="553838" y="27679"/>
                  </a:lnTo>
                  <a:lnTo>
                    <a:pt x="578287" y="131093"/>
                  </a:lnTo>
                  <a:lnTo>
                    <a:pt x="681363" y="106978"/>
                  </a:lnTo>
                  <a:lnTo>
                    <a:pt x="666963" y="212279"/>
                  </a:lnTo>
                  <a:lnTo>
                    <a:pt x="771752" y="227186"/>
                  </a:lnTo>
                  <a:lnTo>
                    <a:pt x="720448" y="320152"/>
                  </a:lnTo>
                  <a:lnTo>
                    <a:pt x="812800" y="372069"/>
                  </a:lnTo>
                  <a:lnTo>
                    <a:pt x="731520" y="440145"/>
                  </a:lnTo>
                  <a:lnTo>
                    <a:pt x="798961" y="522061"/>
                  </a:lnTo>
                  <a:lnTo>
                    <a:pt x="698682" y="556053"/>
                  </a:lnTo>
                  <a:lnTo>
                    <a:pt x="732104" y="656904"/>
                  </a:lnTo>
                  <a:lnTo>
                    <a:pt x="626370" y="652219"/>
                  </a:lnTo>
                  <a:lnTo>
                    <a:pt x="621259" y="758384"/>
                  </a:lnTo>
                  <a:lnTo>
                    <a:pt x="524350" y="715658"/>
                  </a:lnTo>
                  <a:lnTo>
                    <a:pt x="481396" y="812800"/>
                  </a:lnTo>
                  <a:lnTo>
                    <a:pt x="406400" y="737801"/>
                  </a:lnTo>
                  <a:lnTo>
                    <a:pt x="331404" y="812800"/>
                  </a:lnTo>
                  <a:lnTo>
                    <a:pt x="288450" y="715658"/>
                  </a:lnTo>
                  <a:lnTo>
                    <a:pt x="191541" y="758384"/>
                  </a:lnTo>
                  <a:lnTo>
                    <a:pt x="186430" y="652219"/>
                  </a:lnTo>
                  <a:lnTo>
                    <a:pt x="80696" y="656904"/>
                  </a:lnTo>
                  <a:lnTo>
                    <a:pt x="114118" y="556053"/>
                  </a:lnTo>
                  <a:lnTo>
                    <a:pt x="13839" y="522061"/>
                  </a:lnTo>
                  <a:lnTo>
                    <a:pt x="81280" y="440145"/>
                  </a:lnTo>
                  <a:lnTo>
                    <a:pt x="0" y="372069"/>
                  </a:lnTo>
                  <a:lnTo>
                    <a:pt x="92352" y="320152"/>
                  </a:lnTo>
                  <a:lnTo>
                    <a:pt x="41047" y="227186"/>
                  </a:lnTo>
                  <a:lnTo>
                    <a:pt x="145837" y="212279"/>
                  </a:lnTo>
                  <a:lnTo>
                    <a:pt x="131437" y="106978"/>
                  </a:lnTo>
                  <a:lnTo>
                    <a:pt x="234513" y="131093"/>
                  </a:lnTo>
                  <a:lnTo>
                    <a:pt x="258962" y="27679"/>
                  </a:lnTo>
                  <a:lnTo>
                    <a:pt x="346404" y="875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53C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51317" y="3345225"/>
            <a:ext cx="446172" cy="44617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6396" y="87561"/>
                  </a:lnTo>
                  <a:lnTo>
                    <a:pt x="553838" y="27679"/>
                  </a:lnTo>
                  <a:lnTo>
                    <a:pt x="578287" y="131093"/>
                  </a:lnTo>
                  <a:lnTo>
                    <a:pt x="681363" y="106978"/>
                  </a:lnTo>
                  <a:lnTo>
                    <a:pt x="666963" y="212279"/>
                  </a:lnTo>
                  <a:lnTo>
                    <a:pt x="771752" y="227186"/>
                  </a:lnTo>
                  <a:lnTo>
                    <a:pt x="720448" y="320152"/>
                  </a:lnTo>
                  <a:lnTo>
                    <a:pt x="812800" y="372069"/>
                  </a:lnTo>
                  <a:lnTo>
                    <a:pt x="731520" y="440145"/>
                  </a:lnTo>
                  <a:lnTo>
                    <a:pt x="798961" y="522061"/>
                  </a:lnTo>
                  <a:lnTo>
                    <a:pt x="698682" y="556053"/>
                  </a:lnTo>
                  <a:lnTo>
                    <a:pt x="732104" y="656904"/>
                  </a:lnTo>
                  <a:lnTo>
                    <a:pt x="626370" y="652219"/>
                  </a:lnTo>
                  <a:lnTo>
                    <a:pt x="621259" y="758384"/>
                  </a:lnTo>
                  <a:lnTo>
                    <a:pt x="524350" y="715658"/>
                  </a:lnTo>
                  <a:lnTo>
                    <a:pt x="481396" y="812800"/>
                  </a:lnTo>
                  <a:lnTo>
                    <a:pt x="406400" y="737801"/>
                  </a:lnTo>
                  <a:lnTo>
                    <a:pt x="331404" y="812800"/>
                  </a:lnTo>
                  <a:lnTo>
                    <a:pt x="288450" y="715658"/>
                  </a:lnTo>
                  <a:lnTo>
                    <a:pt x="191541" y="758384"/>
                  </a:lnTo>
                  <a:lnTo>
                    <a:pt x="186430" y="652219"/>
                  </a:lnTo>
                  <a:lnTo>
                    <a:pt x="80696" y="656904"/>
                  </a:lnTo>
                  <a:lnTo>
                    <a:pt x="114118" y="556053"/>
                  </a:lnTo>
                  <a:lnTo>
                    <a:pt x="13839" y="522061"/>
                  </a:lnTo>
                  <a:lnTo>
                    <a:pt x="81280" y="440145"/>
                  </a:lnTo>
                  <a:lnTo>
                    <a:pt x="0" y="372069"/>
                  </a:lnTo>
                  <a:lnTo>
                    <a:pt x="92352" y="320152"/>
                  </a:lnTo>
                  <a:lnTo>
                    <a:pt x="41047" y="227186"/>
                  </a:lnTo>
                  <a:lnTo>
                    <a:pt x="145837" y="212279"/>
                  </a:lnTo>
                  <a:lnTo>
                    <a:pt x="131437" y="106978"/>
                  </a:lnTo>
                  <a:lnTo>
                    <a:pt x="234513" y="131093"/>
                  </a:lnTo>
                  <a:lnTo>
                    <a:pt x="258962" y="27679"/>
                  </a:lnTo>
                  <a:lnTo>
                    <a:pt x="346404" y="875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53C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517824" y="1543570"/>
            <a:ext cx="8470554" cy="77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US" sz="4000" spc="-374" dirty="0" smtClean="0">
                <a:solidFill>
                  <a:srgbClr val="C4F331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Introduction</a:t>
            </a:r>
            <a:endParaRPr lang="en-US" sz="4000" spc="-374" dirty="0">
              <a:solidFill>
                <a:srgbClr val="C4F331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291465" y="3697559"/>
            <a:ext cx="5160969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dirty="0" smtClean="0">
                <a:solidFill>
                  <a:schemeClr val="bg1"/>
                </a:solidFill>
              </a:rPr>
              <a:t>Bright TV </a:t>
            </a:r>
            <a:r>
              <a:rPr lang="en-US" dirty="0">
                <a:solidFill>
                  <a:schemeClr val="bg1"/>
                </a:solidFill>
              </a:rPr>
              <a:t>‘s CEO has an objective to grow the company’s subscription base for this financial year. He has approached 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analyst to </a:t>
            </a:r>
            <a:r>
              <a:rPr lang="en-US" dirty="0">
                <a:solidFill>
                  <a:schemeClr val="bg1"/>
                </a:solidFill>
              </a:rPr>
              <a:t>provide insights that would assist CVM (Customer Value Management) team in meeting this year’s objective</a:t>
            </a:r>
            <a:endParaRPr lang="en-US" dirty="0">
              <a:solidFill>
                <a:schemeClr val="bg1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964406" y="6198786"/>
            <a:ext cx="8313194" cy="2390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Provide insights on user and usage trends of </a:t>
            </a:r>
            <a:r>
              <a:rPr lang="en-US" dirty="0">
                <a:solidFill>
                  <a:schemeClr val="bg1"/>
                </a:solidFill>
              </a:rPr>
              <a:t>Bright TV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What type of factors influence consumption? </a:t>
            </a:r>
          </a:p>
          <a:p>
            <a:r>
              <a:rPr lang="en-US" dirty="0">
                <a:solidFill>
                  <a:schemeClr val="bg1"/>
                </a:solidFill>
              </a:rPr>
              <a:t>What content would you </a:t>
            </a:r>
            <a:r>
              <a:rPr lang="en-US" sz="2000" dirty="0">
                <a:solidFill>
                  <a:schemeClr val="bg1"/>
                </a:solidFill>
              </a:rPr>
              <a:t>recommend</a:t>
            </a:r>
            <a:r>
              <a:rPr lang="en-US" dirty="0">
                <a:solidFill>
                  <a:schemeClr val="bg1"/>
                </a:solidFill>
              </a:rPr>
              <a:t> to increase consumption on the days with low consumption? </a:t>
            </a:r>
          </a:p>
          <a:p>
            <a:r>
              <a:rPr lang="en-US" dirty="0">
                <a:solidFill>
                  <a:schemeClr val="bg1"/>
                </a:solidFill>
              </a:rPr>
              <a:t>What type of initiatives would you recommend to further grow </a:t>
            </a:r>
            <a:r>
              <a:rPr lang="en-US" dirty="0">
                <a:solidFill>
                  <a:schemeClr val="bg1"/>
                </a:solidFill>
              </a:rPr>
              <a:t>Bright TV </a:t>
            </a:r>
            <a:r>
              <a:rPr lang="en-US" dirty="0">
                <a:solidFill>
                  <a:schemeClr val="bg1"/>
                </a:solidFill>
              </a:rPr>
              <a:t>‘s User base. </a:t>
            </a:r>
          </a:p>
          <a:p>
            <a:pPr algn="l">
              <a:lnSpc>
                <a:spcPts val="2800"/>
              </a:lnSpc>
            </a:pPr>
            <a:endParaRPr lang="en-US" dirty="0">
              <a:solidFill>
                <a:schemeClr val="bg1"/>
              </a:solidFill>
              <a:sym typeface="TT Firs Neu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469445" y="3999747"/>
            <a:ext cx="440693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</a:rPr>
              <a:t>Aim of Project is to provide detailed analysis on how subscriptions can be increase viewing its insight</a:t>
            </a:r>
            <a:endParaRPr lang="en-US" sz="2000" dirty="0">
              <a:solidFill>
                <a:schemeClr val="bg1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291465" y="3355380"/>
            <a:ext cx="4062450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CEO request</a:t>
            </a:r>
            <a:endParaRPr lang="en-US" sz="24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296329" y="5852244"/>
            <a:ext cx="4062450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Insights to provide</a:t>
            </a:r>
            <a:endParaRPr lang="en-US" sz="24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469445" y="3340022"/>
            <a:ext cx="4062450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Aim</a:t>
            </a:r>
            <a:endParaRPr lang="en-US" sz="24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260579" y="2102743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379277" y="645680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260579" y="9430390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3"/>
                </a:lnTo>
                <a:lnTo>
                  <a:pt x="0" y="504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4480650" y="7440417"/>
            <a:ext cx="3216199" cy="955045"/>
          </a:xfrm>
          <a:custGeom>
            <a:avLst/>
            <a:gdLst/>
            <a:ahLst/>
            <a:cxnLst/>
            <a:rect l="l" t="t" r="r" b="b"/>
            <a:pathLst>
              <a:path w="3216199" h="955045">
                <a:moveTo>
                  <a:pt x="0" y="0"/>
                </a:moveTo>
                <a:lnTo>
                  <a:pt x="3216199" y="0"/>
                </a:lnTo>
                <a:lnTo>
                  <a:pt x="3216199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5927538" y="2956611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48684" y="8003658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638806"/>
            <a:ext cx="7543799" cy="1719182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2144825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2045442"/>
            <a:ext cx="5260271" cy="789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Planning &amp; Architect 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1600" y="3546277"/>
            <a:ext cx="7543799" cy="4801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Project Statement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Viewers have been declining CEO wants to understand why the 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analysis </a:t>
            </a:r>
            <a:r>
              <a:rPr lang="en-US" sz="2400" dirty="0">
                <a:solidFill>
                  <a:schemeClr val="bg1"/>
                </a:solidFill>
              </a:rPr>
              <a:t>on why the is a decline on revenue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Objective 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Following tools were utilized 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-MIRO </a:t>
            </a:r>
            <a:r>
              <a:rPr lang="en-US" sz="2400" dirty="0">
                <a:solidFill>
                  <a:schemeClr val="bg1"/>
                </a:solidFill>
              </a:rPr>
              <a:t>for brainstorming </a:t>
            </a:r>
          </a:p>
          <a:p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 err="1">
                <a:solidFill>
                  <a:schemeClr val="bg1"/>
                </a:solidFill>
              </a:rPr>
              <a:t>Canva</a:t>
            </a:r>
            <a:r>
              <a:rPr lang="en-US" sz="2400" dirty="0">
                <a:solidFill>
                  <a:schemeClr val="bg1"/>
                </a:solidFill>
              </a:rPr>
              <a:t> for project </a:t>
            </a:r>
            <a:r>
              <a:rPr lang="en-US" sz="2400" dirty="0" smtClean="0">
                <a:solidFill>
                  <a:schemeClr val="bg1"/>
                </a:solidFill>
              </a:rPr>
              <a:t>planning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-Microsoft Excel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 err="1">
                <a:solidFill>
                  <a:schemeClr val="bg1"/>
                </a:solidFill>
              </a:rPr>
              <a:t>Databricks</a:t>
            </a:r>
            <a:r>
              <a:rPr lang="en-US" sz="2400" dirty="0">
                <a:solidFill>
                  <a:schemeClr val="bg1"/>
                </a:solidFill>
              </a:rPr>
              <a:t> for Data manipulation &amp; Processing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 err="1">
                <a:solidFill>
                  <a:schemeClr val="bg1"/>
                </a:solidFill>
              </a:rPr>
              <a:t>Powerpoint</a:t>
            </a:r>
            <a:r>
              <a:rPr lang="en-US" sz="2400" dirty="0">
                <a:solidFill>
                  <a:schemeClr val="bg1"/>
                </a:solidFill>
              </a:rPr>
              <a:t> presentation for detailed findings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20313" y="7048500"/>
            <a:ext cx="8028611" cy="2883324"/>
            <a:chOff x="0" y="0"/>
            <a:chExt cx="1835097" cy="4527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5400000">
            <a:off x="9312207" y="786194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045283" y="9270188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963615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44790" y="8511916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53920" y="448945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2050" name="Picture 2" descr="C:\Users\dkinno\Desktop\bright learn resourses\BRIGHT TV\data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351" y="7256218"/>
            <a:ext cx="2276475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dkinno\Desktop\bright learn resourses\BRIGHT TV\canva.jp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2034" y="7259726"/>
            <a:ext cx="2315973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dkinno\Desktop\bright learn resourses\BRIGHT TV\mir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916" y="7267991"/>
            <a:ext cx="232779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dkinno\Desktop\bright learn resourses\BRIGHT TV\micrp.jp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092" y="8695274"/>
            <a:ext cx="2252663" cy="123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7543799" cy="1358024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874455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2045442"/>
            <a:ext cx="526027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Planning-</a:t>
            </a:r>
            <a:r>
              <a:rPr lang="en-US" sz="3600" b="1" dirty="0" err="1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Miro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045283" y="9270188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575310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51275" y="8792665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3074" name="Picture 2" descr="C:\Users\dkinno\Desktop\bright learn resourses\BRIGHT TV\Bright TV gantt chart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125" y="2805199"/>
            <a:ext cx="12126121" cy="610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04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Planning-</a:t>
            </a:r>
            <a:r>
              <a:rPr lang="en-US" sz="3600" b="1" dirty="0" err="1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Canva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045283" y="9270188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51275" y="8792665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4098" name="Picture 2" descr="C:\Users\dkinno\Desktop\bright learn resourses\BRIGHT TV\final viewership process map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346" y="2503408"/>
            <a:ext cx="12493054" cy="652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50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insights &amp; exploration 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51275" y="8792665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9218" name="Picture 2" descr="C:\Users\dkinno\Desktop\bright learn resourses\BRIGHT TV\bright tv first sample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153" y="5765245"/>
            <a:ext cx="5181600" cy="201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026" y="3048728"/>
            <a:ext cx="187642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 descr="C:\Users\dkinno\Desktop\bright learn resourses\BRIGHT TV\data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278" y="3690078"/>
            <a:ext cx="2276475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Elbow Connector 2"/>
          <p:cNvCxnSpPr>
            <a:stCxn id="9219" idx="3"/>
            <a:endCxn id="16" idx="1"/>
          </p:cNvCxnSpPr>
          <p:nvPr/>
        </p:nvCxnSpPr>
        <p:spPr>
          <a:xfrm>
            <a:off x="3463451" y="3688491"/>
            <a:ext cx="969827" cy="63976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705" y="4665611"/>
            <a:ext cx="1876425" cy="134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Elbow Connector 8"/>
          <p:cNvCxnSpPr>
            <a:stCxn id="16" idx="3"/>
            <a:endCxn id="9220" idx="1"/>
          </p:cNvCxnSpPr>
          <p:nvPr/>
        </p:nvCxnSpPr>
        <p:spPr>
          <a:xfrm>
            <a:off x="6709753" y="4328253"/>
            <a:ext cx="729952" cy="10112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1" name="Picture 5" descr="C:\Users\dkinno\Desktop\bright learn resourses\BRIGHT TV\sql.jp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63" y="6039573"/>
            <a:ext cx="6896537" cy="371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C:\Users\dkinno\Desktop\bright learn resourses\BRIGHT TV\kkk.jp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844" y="8078290"/>
            <a:ext cx="20574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 descr="C:\Users\dkinno\Desktop\bright learn resourses\BRIGHT TV\jjjj.jpg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6157" y="6702714"/>
            <a:ext cx="20383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49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Analysis  -Excel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554528" y="5198068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8195" name="Picture 3" descr="C:\Users\dkinno\Desktop\bright learn resourses\BRIGHT TV\1 last.jpg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79705" y="2473467"/>
            <a:ext cx="14165095" cy="750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20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Analysis  -Excel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544800" y="5143500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7174" name="Picture 6" descr="C:\Users\dkinno\Desktop\bright learn resourses\BRIGHT TV\bom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8" y="2484572"/>
            <a:ext cx="14037261" cy="735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00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Analysis  -Excel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51275" y="8792665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98132" y="2752586"/>
            <a:ext cx="5427035" cy="337650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20283" y="6097410"/>
            <a:ext cx="5400010" cy="308962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82200" y="4000500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Black  race highest among the viewers  @ 43% followed by coloured community @ 16%   as well as </a:t>
            </a:r>
            <a:r>
              <a:rPr lang="en-US" dirty="0" err="1" smtClean="0"/>
              <a:t>indians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-Males  are high   at 8761, followed by woman ,and some unknown races 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7829" y="6041572"/>
            <a:ext cx="5471337" cy="314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5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Analysis  -Excel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434545" y="5200829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9982200" y="4000500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Viewers </a:t>
            </a:r>
            <a:r>
              <a:rPr lang="en-US" dirty="0"/>
              <a:t> </a:t>
            </a:r>
            <a:r>
              <a:rPr lang="en-US" dirty="0" smtClean="0"/>
              <a:t>increase  or high in March </a:t>
            </a:r>
          </a:p>
          <a:p>
            <a:endParaRPr lang="en-US" dirty="0"/>
          </a:p>
          <a:p>
            <a:r>
              <a:rPr lang="en-US" dirty="0" smtClean="0"/>
              <a:t>-viewership by time slots  rise around  7-10 AM and start dropping 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1795" y="3025695"/>
            <a:ext cx="5775421" cy="314993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1462" y="6178241"/>
            <a:ext cx="5816088" cy="33957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05400" y="6667500"/>
            <a:ext cx="1828800" cy="2125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86600" y="3695700"/>
            <a:ext cx="1190260" cy="22860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5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Analysis  -Excel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493212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493212" y="4610100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8273617" y="3400335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Gauteng  has the highest viewership  followed  by WC and then KZN </a:t>
            </a:r>
          </a:p>
          <a:p>
            <a:r>
              <a:rPr lang="en-US" dirty="0" smtClean="0"/>
              <a:t>- 37% Gauteng , 18% WC and KZN 10%</a:t>
            </a:r>
          </a:p>
          <a:p>
            <a:endParaRPr lang="en-US" dirty="0"/>
          </a:p>
          <a:p>
            <a:r>
              <a:rPr lang="en-US" dirty="0" smtClean="0"/>
              <a:t>- Most viewed  channels  is </a:t>
            </a:r>
            <a:r>
              <a:rPr lang="en-US" dirty="0" err="1"/>
              <a:t>S</a:t>
            </a:r>
            <a:r>
              <a:rPr lang="en-US" dirty="0" err="1" smtClean="0"/>
              <a:t>upersport</a:t>
            </a:r>
            <a:r>
              <a:rPr lang="en-US" dirty="0" smtClean="0"/>
              <a:t> live events  followed by ICC cricket 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70133" y="2708883"/>
            <a:ext cx="5621267" cy="335092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4465" y="6313429"/>
            <a:ext cx="5635858" cy="313784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1929" y="6281017"/>
            <a:ext cx="5582258" cy="330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8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83058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6508411" cy="4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Analysis  -Excel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493212" y="5051009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/>
          <p:cNvSpPr txBox="1"/>
          <p:nvPr/>
        </p:nvSpPr>
        <p:spPr>
          <a:xfrm>
            <a:off x="7999362" y="5374338"/>
            <a:ext cx="411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-Age group bracket leading in terms of viewing is  adults followed by young adults </a:t>
            </a:r>
            <a:endParaRPr lang="en-US" dirty="0"/>
          </a:p>
          <a:p>
            <a:r>
              <a:rPr lang="en-US" dirty="0" smtClean="0"/>
              <a:t>- Time viewing  mostly happens early morning and night 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1599" y="2968699"/>
            <a:ext cx="5318422" cy="328280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71599" y="6413083"/>
            <a:ext cx="5384946" cy="31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7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71599" y="1394562"/>
            <a:ext cx="11582401" cy="1078905"/>
            <a:chOff x="0" y="0"/>
            <a:chExt cx="1835097" cy="4527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097" cy="452789"/>
            </a:xfrm>
            <a:custGeom>
              <a:avLst/>
              <a:gdLst/>
              <a:ahLst/>
              <a:cxnLst/>
              <a:rect l="l" t="t" r="r" b="b"/>
              <a:pathLst>
                <a:path w="1835097" h="452789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0B1034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970240" y="1648582"/>
            <a:ext cx="707144" cy="707144"/>
          </a:xfrm>
          <a:custGeom>
            <a:avLst/>
            <a:gdLst/>
            <a:ahLst/>
            <a:cxnLst/>
            <a:rect l="l" t="t" r="r" b="b"/>
            <a:pathLst>
              <a:path w="707144" h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16589" y="1851864"/>
            <a:ext cx="948021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3600" b="1" dirty="0" smtClean="0">
                <a:solidFill>
                  <a:srgbClr val="C4F33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Recommendation &amp; Next steps to take</a:t>
            </a:r>
            <a:endParaRPr lang="en-US" sz="3600" b="1" dirty="0">
              <a:solidFill>
                <a:srgbClr val="C4F331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43058" y="7728466"/>
            <a:ext cx="521855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2000" dirty="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5544800" y="9330863"/>
            <a:ext cx="2475603" cy="504123"/>
          </a:xfrm>
          <a:custGeom>
            <a:avLst/>
            <a:gdLst/>
            <a:ahLst/>
            <a:cxnLst/>
            <a:rect l="l" t="t" r="r" b="b"/>
            <a:pathLst>
              <a:path w="2475603" h="504123">
                <a:moveTo>
                  <a:pt x="0" y="0"/>
                </a:moveTo>
                <a:lnTo>
                  <a:pt x="2475603" y="0"/>
                </a:lnTo>
                <a:lnTo>
                  <a:pt x="2475603" y="504122"/>
                </a:lnTo>
                <a:lnTo>
                  <a:pt x="0" y="50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17246" y="1394562"/>
            <a:ext cx="2131679" cy="887554"/>
          </a:xfrm>
          <a:custGeom>
            <a:avLst/>
            <a:gdLst/>
            <a:ahLst/>
            <a:cxnLst/>
            <a:rect l="l" t="t" r="r" b="b"/>
            <a:pathLst>
              <a:path w="2131679" h="887554">
                <a:moveTo>
                  <a:pt x="0" y="0"/>
                </a:moveTo>
                <a:lnTo>
                  <a:pt x="2131680" y="0"/>
                </a:lnTo>
                <a:lnTo>
                  <a:pt x="2131680" y="887554"/>
                </a:lnTo>
                <a:lnTo>
                  <a:pt x="0" y="887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51275" y="8792665"/>
            <a:ext cx="1855713" cy="955045"/>
          </a:xfrm>
          <a:custGeom>
            <a:avLst/>
            <a:gdLst/>
            <a:ahLst/>
            <a:cxnLst/>
            <a:rect l="l" t="t" r="r" b="b"/>
            <a:pathLst>
              <a:path w="1855713" h="955045">
                <a:moveTo>
                  <a:pt x="0" y="0"/>
                </a:moveTo>
                <a:lnTo>
                  <a:pt x="1855713" y="0"/>
                </a:lnTo>
                <a:lnTo>
                  <a:pt x="1855713" y="955045"/>
                </a:lnTo>
                <a:lnTo>
                  <a:pt x="0" y="9550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73313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70133" y="315846"/>
            <a:ext cx="1510213" cy="897890"/>
          </a:xfrm>
          <a:custGeom>
            <a:avLst/>
            <a:gdLst/>
            <a:ahLst/>
            <a:cxnLst/>
            <a:rect l="l" t="t" r="r" b="b"/>
            <a:pathLst>
              <a:path w="1510213" h="897890">
                <a:moveTo>
                  <a:pt x="0" y="0"/>
                </a:moveTo>
                <a:lnTo>
                  <a:pt x="1510213" y="0"/>
                </a:lnTo>
                <a:lnTo>
                  <a:pt x="1510213" y="897890"/>
                </a:lnTo>
                <a:lnTo>
                  <a:pt x="0" y="897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843" y="2473467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8"/>
                </a:lnTo>
                <a:lnTo>
                  <a:pt x="0" y="5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718622" y="7936395"/>
            <a:ext cx="558238" cy="558238"/>
          </a:xfrm>
          <a:custGeom>
            <a:avLst/>
            <a:gdLst/>
            <a:ahLst/>
            <a:cxnLst/>
            <a:rect l="l" t="t" r="r" b="b"/>
            <a:pathLst>
              <a:path w="558238" h="558238">
                <a:moveTo>
                  <a:pt x="0" y="0"/>
                </a:moveTo>
                <a:lnTo>
                  <a:pt x="558238" y="0"/>
                </a:lnTo>
                <a:lnTo>
                  <a:pt x="558238" y="558237"/>
                </a:lnTo>
                <a:lnTo>
                  <a:pt x="0" y="5582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 1"/>
          <p:cNvSpPr/>
          <p:nvPr/>
        </p:nvSpPr>
        <p:spPr>
          <a:xfrm>
            <a:off x="1371599" y="2597437"/>
            <a:ext cx="12637852" cy="53553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CONSIDER  automating viewers  perfomance  , behaviour  and continously track KPI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-Conduct due-</a:t>
            </a:r>
            <a:r>
              <a:rPr lang="en-US" dirty="0" err="1" smtClean="0"/>
              <a:t>delilgence</a:t>
            </a:r>
            <a:r>
              <a:rPr lang="en-US" dirty="0" smtClean="0"/>
              <a:t> on audience profile  registrations </a:t>
            </a:r>
          </a:p>
          <a:p>
            <a:endParaRPr lang="en-US" dirty="0" smtClean="0"/>
          </a:p>
          <a:p>
            <a:r>
              <a:rPr lang="en-US" dirty="0" smtClean="0"/>
              <a:t>-Send follow up emails on customers/viewers who don’t complete their profiles  to eliminate unknown data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-Investigate on low perfoming  platforms why numbers are  low ,by creating  forms for customers what they think can be improved </a:t>
            </a:r>
            <a:endParaRPr lang="en-US" dirty="0"/>
          </a:p>
          <a:p>
            <a:endParaRPr lang="en-US" dirty="0"/>
          </a:p>
          <a:p>
            <a:r>
              <a:rPr lang="en-US" dirty="0"/>
              <a:t>-Create a </a:t>
            </a:r>
            <a:r>
              <a:rPr lang="en-US" dirty="0" smtClean="0"/>
              <a:t>what sup </a:t>
            </a:r>
            <a:r>
              <a:rPr lang="en-US" dirty="0"/>
              <a:t>connect where customers will rate service  </a:t>
            </a:r>
            <a:r>
              <a:rPr lang="en-US" dirty="0" smtClean="0"/>
              <a:t>channel perfomance </a:t>
            </a:r>
          </a:p>
          <a:p>
            <a:endParaRPr lang="en-US" dirty="0"/>
          </a:p>
          <a:p>
            <a:r>
              <a:rPr lang="en-US" dirty="0" smtClean="0"/>
              <a:t>-Create some discounts to customers who  pay less visit to the channels  or offer free  viewing on channels not in their subscriptions  </a:t>
            </a:r>
          </a:p>
          <a:p>
            <a:r>
              <a:rPr lang="en-US" dirty="0" smtClean="0"/>
              <a:t>Packages .</a:t>
            </a:r>
          </a:p>
          <a:p>
            <a:endParaRPr lang="en-US" dirty="0"/>
          </a:p>
          <a:p>
            <a:r>
              <a:rPr lang="en-US" dirty="0" smtClean="0"/>
              <a:t>-Increase repeatation of the highest perfoming channels on the low perfoming days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-Do surveys on high perfoming viewership channels  , what makes customers /audience  pay more attention to them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-Do more marketing on social media </a:t>
            </a:r>
            <a:r>
              <a:rPr lang="en-US" dirty="0"/>
              <a:t>advertisements on </a:t>
            </a:r>
            <a:r>
              <a:rPr lang="en-US" dirty="0" err="1"/>
              <a:t>Tiktok</a:t>
            </a:r>
            <a:r>
              <a:rPr lang="en-US" dirty="0"/>
              <a:t> , Facebook ,on website &amp; Twitter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9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528</Words>
  <Application>Microsoft Office PowerPoint</Application>
  <PresentationFormat>Custom</PresentationFormat>
  <Paragraphs>92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TT Firs Neue Bold</vt:lpstr>
      <vt:lpstr>Poppins Italics</vt:lpstr>
      <vt:lpstr>TT Firs Neue</vt:lpstr>
      <vt:lpstr>Heading Now 71-78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Purple Dynamic Television Entertainment Presentation</dc:title>
  <dc:creator>dkinno</dc:creator>
  <cp:lastModifiedBy>dkinno</cp:lastModifiedBy>
  <cp:revision>26</cp:revision>
  <dcterms:created xsi:type="dcterms:W3CDTF">2006-08-16T00:00:00Z</dcterms:created>
  <dcterms:modified xsi:type="dcterms:W3CDTF">2026-04-19T16:19:19Z</dcterms:modified>
  <dc:identifier>DAHHTMgoNPk</dc:identifier>
</cp:coreProperties>
</file>